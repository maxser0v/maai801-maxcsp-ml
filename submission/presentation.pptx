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81a0d9e0e94d0c" /><Relationship Type="http://schemas.openxmlformats.org/officeDocument/2006/relationships/extended-properties" Target="/docProps/app.xml" Id="Rd142d0560a854c17" /><Relationship Type="http://schemas.openxmlformats.org/officeDocument/2006/relationships/officeDocument" Target="/ppt/presentation.xml" Id="Rd6513f4f6905478c" /></Relationships>
</file>

<file path=ppt/presentation.xml><?xml version="1.0" encoding="utf-8"?>
<p:presentation xmlns:p="http://schemas.openxmlformats.org/presentationml/2006/main">
  <p:sldMasterIdLst>
    <p:sldMasterId xmlns:r="http://schemas.openxmlformats.org/officeDocument/2006/relationships" id="2147483648" r:id="R1fdc30d4f2ba4c26"/>
  </p:sldMasterIdLst>
  <p:notesMasterIdLst>
    <p:notesMasterId xmlns:r="http://schemas.openxmlformats.org/officeDocument/2006/relationships" r:id="Rb0e76ab6b3d24283"/>
  </p:notesMasterIdLst>
  <p:sldIdLst>
    <p:sldId xmlns:r="http://schemas.openxmlformats.org/officeDocument/2006/relationships" id="256" r:id="Rd6619bfccdc64681"/>
    <p:sldId xmlns:r="http://schemas.openxmlformats.org/officeDocument/2006/relationships" id="257" r:id="R6813028b36a34067"/>
    <p:sldId xmlns:r="http://schemas.openxmlformats.org/officeDocument/2006/relationships" id="258" r:id="R645c6e4fd68e4ab6"/>
    <p:sldId xmlns:r="http://schemas.openxmlformats.org/officeDocument/2006/relationships" id="259" r:id="R09d8f5a6b0b247f2"/>
    <p:sldId xmlns:r="http://schemas.openxmlformats.org/officeDocument/2006/relationships" id="260" r:id="R8cd705e0f68248a5"/>
    <p:sldId xmlns:r="http://schemas.openxmlformats.org/officeDocument/2006/relationships" id="261" r:id="R1a13c70c83fa4b32"/>
    <p:sldId xmlns:r="http://schemas.openxmlformats.org/officeDocument/2006/relationships" id="262" r:id="R5f4638ead3a042d3"/>
    <p:sldId xmlns:r="http://schemas.openxmlformats.org/officeDocument/2006/relationships" id="263" r:id="R8f186ed28e374f66"/>
    <p:sldId xmlns:r="http://schemas.openxmlformats.org/officeDocument/2006/relationships" id="264" r:id="R353f490ed1724c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d1945e571b422e" /><Relationship Type="http://schemas.openxmlformats.org/officeDocument/2006/relationships/slideMaster" Target="/ppt/slideMasters/slideMaster1.xml" Id="R1fdc30d4f2ba4c26" /><Relationship Type="http://schemas.openxmlformats.org/officeDocument/2006/relationships/notesMaster" Target="/ppt/notesMasters/notesMaster1.xml" Id="Rb0e76ab6b3d24283" /><Relationship Type="http://schemas.openxmlformats.org/officeDocument/2006/relationships/presProps" Target="/ppt/presProps.xml" Id="R8fb4a04591c54e60" /><Relationship Type="http://schemas.openxmlformats.org/officeDocument/2006/relationships/tableStyles" Target="/ppt/tableStyles.xml" Id="R5d3abd454e4e4f9a" /><Relationship Type="http://schemas.openxmlformats.org/officeDocument/2006/relationships/slide" Target="/ppt/slides/slide1.xml" Id="Rd6619bfccdc64681" /><Relationship Type="http://schemas.openxmlformats.org/officeDocument/2006/relationships/slide" Target="/ppt/slides/slide2.xml" Id="R6813028b36a34067" /><Relationship Type="http://schemas.openxmlformats.org/officeDocument/2006/relationships/slide" Target="/ppt/slides/slide3.xml" Id="R645c6e4fd68e4ab6" /><Relationship Type="http://schemas.openxmlformats.org/officeDocument/2006/relationships/slide" Target="/ppt/slides/slide4.xml" Id="R09d8f5a6b0b247f2" /><Relationship Type="http://schemas.openxmlformats.org/officeDocument/2006/relationships/slide" Target="/ppt/slides/slide5.xml" Id="R8cd705e0f68248a5" /><Relationship Type="http://schemas.openxmlformats.org/officeDocument/2006/relationships/slide" Target="/ppt/slides/slide6.xml" Id="R1a13c70c83fa4b32" /><Relationship Type="http://schemas.openxmlformats.org/officeDocument/2006/relationships/slide" Target="/ppt/slides/slide7.xml" Id="R5f4638ead3a042d3" /><Relationship Type="http://schemas.openxmlformats.org/officeDocument/2006/relationships/slide" Target="/ppt/slides/slide8.xml" Id="R8f186ed28e374f66" /><Relationship Type="http://schemas.openxmlformats.org/officeDocument/2006/relationships/slide" Target="/ppt/slides/slide9.xml" Id="R353f490ed1724c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a3cc6b2b2940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d324833367473b" /><Relationship Type="http://schemas.openxmlformats.org/officeDocument/2006/relationships/notesMaster" Target="/ppt/notesMasters/notesMaster1.xml" Id="R30f91c449e0648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7df3903fc84d67" /><Relationship Type="http://schemas.openxmlformats.org/officeDocument/2006/relationships/notesMaster" Target="/ppt/notesMasters/notesMaster1.xml" Id="R7dbf444365d542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8156a45cf44e07" /><Relationship Type="http://schemas.openxmlformats.org/officeDocument/2006/relationships/notesMaster" Target="/ppt/notesMasters/notesMaster1.xml" Id="R0da428cfa7f448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2e67098371470a" /><Relationship Type="http://schemas.openxmlformats.org/officeDocument/2006/relationships/notesMaster" Target="/ppt/notesMasters/notesMaster1.xml" Id="R4134793ced1044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a37c063b1749b5" /><Relationship Type="http://schemas.openxmlformats.org/officeDocument/2006/relationships/notesMaster" Target="/ppt/notesMasters/notesMaster1.xml" Id="Rbd3880ff0b4540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5e56edd9434e6f" /><Relationship Type="http://schemas.openxmlformats.org/officeDocument/2006/relationships/notesMaster" Target="/ppt/notesMasters/notesMaster1.xml" Id="R5fbd961f0c1943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20e3d99838448f" /><Relationship Type="http://schemas.openxmlformats.org/officeDocument/2006/relationships/notesMaster" Target="/ppt/notesMasters/notesMaster1.xml" Id="R8749bfb294a44f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0a0412a13f4569" /><Relationship Type="http://schemas.openxmlformats.org/officeDocument/2006/relationships/notesMaster" Target="/ppt/notesMasters/notesMaster1.xml" Id="Rf67783c390a64c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876414e35a4688" /><Relationship Type="http://schemas.openxmlformats.org/officeDocument/2006/relationships/notesMaster" Target="/ppt/notesMasters/notesMaster1.xml" Id="R5adcc304952a4e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1 · 0:45</a:t>
            </a:r>
          </a:p>
          <a:p xmlns:a="http://schemas.openxmlformats.org/drawingml/2006/main">
            <a:r>
              <a:t/>
            </a:r>
          </a:p>
          <a:p xmlns:a="http://schemas.openxmlformats.org/drawingml/2006/main">
            <a:r>
              <a:t>Open with the research question. This project replaces only the percentage heuristic’s variable-selection rule with a regression model. The experiment uses synthetic classroom instances and one best-value mutation; it does not implement a complete genetic algorithm.</a:t>
            </a:r>
          </a:p>
          <a:p xmlns:a="http://schemas.openxmlformats.org/drawingml/2006/main">
            <a:r>
              <a:t/>
            </a:r>
          </a:p>
          <a:p xmlns:a="http://schemas.openxmlformats.org/drawingml/2006/main">
            <a:r>
              <a:t>Sources</a:t>
            </a:r>
          </a:p>
          <a:p xmlns:a="http://schemas.openxmlformats.org/drawingml/2006/main">
            <a:r>
              <a:t>• MAAI801 Mini-Project Proposal, Parts 1–3 (supplied course handout).</a:t>
            </a:r>
          </a:p>
          <a:p xmlns:a="http://schemas.openxmlformats.org/drawingml/2006/main">
            <a:r>
              <a:t>• MAAI801_MaxCSP_Student_Package/README.md, scope and key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1 · 1:20</a:t>
            </a:r>
          </a:p>
          <a:p xmlns:a="http://schemas.openxmlformats.org/drawingml/2006/main">
            <a:r>
              <a:t/>
            </a:r>
          </a:p>
          <a:p xmlns:a="http://schemas.openxmlformats.org/drawingml/2006/main">
            <a:r>
              <a:t>Use the assignment’s three-exam example: X1=AI, X2=Databases and X3=Machine Learning; domains are time slots 1–3. In assignment [1,1,2], one constraint is violated and two are satisfied. The 2015 paper used a predefined percentage template within a GA. Here, supervised regression predicts one-step improvement; we are not reproducing the paper’s GA experiments.</a:t>
            </a:r>
          </a:p>
          <a:p xmlns:a="http://schemas.openxmlformats.org/drawingml/2006/main">
            <a:r>
              <a:t/>
            </a:r>
          </a:p>
          <a:p xmlns:a="http://schemas.openxmlformats.org/drawingml/2006/main">
            <a:r>
              <a:t>Sources</a:t>
            </a:r>
          </a:p>
          <a:p xmlns:a="http://schemas.openxmlformats.org/drawingml/2006/main">
            <a:r>
              <a:t>• Ben Othman, H., &amp; Tagina, M. (2015). Guided Genetic Algorithm: A New Template Concept. Procedia Computer Science, 60, 1101–1108. https://doi.org/10.1016/j.procs.2015.08.156</a:t>
            </a:r>
          </a:p>
          <a:p xmlns:a="http://schemas.openxmlformats.org/drawingml/2006/main">
            <a:r>
              <a:t>• MAAI801 Mini-Project Proposal, Sections 1.1–2.1.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1 · 1:10</a:t>
            </a:r>
          </a:p>
          <a:p xmlns:a="http://schemas.openxmlformats.org/drawingml/2006/main">
            <a:r>
              <a:t/>
            </a:r>
          </a:p>
          <a:p xmlns:a="http://schemas.openxmlformats.org/drawingml/2006/main">
            <a:r>
              <a:t>Explain that each of 200 synthetic instances has eight variables and domain size four. Each instance has five states and each state contributes eight candidate rows. Predictors are degree, incident violations, template percentage, current violations, current satisfaction, and number of constraints. The target is violations before minus violations after the same best-value mutation. The EDA shows a zero-heavy target, and mean gain by template band is not monotonic.</a:t>
            </a:r>
          </a:p>
          <a:p xmlns:a="http://schemas.openxmlformats.org/drawingml/2006/main">
            <a:r>
              <a:t/>
            </a:r>
          </a:p>
          <a:p xmlns:a="http://schemas.openxmlformats.org/drawingml/2006/main">
            <a:r>
              <a:t>Sources</a:t>
            </a:r>
          </a:p>
          <a:p xmlns:a="http://schemas.openxmlformats.org/drawingml/2006/main">
            <a:r>
              <a:t>• MAAI801_MaxCSP_Student_Package/README.md, Included materials and Key definitions.</a:t>
            </a:r>
          </a:p>
          <a:p xmlns:a="http://schemas.openxmlformats.org/drawingml/2006/main">
            <a:r>
              <a:t>• MAAI801 Mini-Project Proposal, Sections 2.2 and 3.1–3.2.</a:t>
            </a:r>
          </a:p>
          <a:p xmlns:a="http://schemas.openxmlformats.org/drawingml/2006/main">
            <a:r>
              <a:t>• Training-only summaries: work/eda_notes.md.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2 · 1:15</a:t>
            </a:r>
          </a:p>
          <a:p xmlns:a="http://schemas.openxmlformats.org/drawingml/2006/main">
            <a:r>
              <a:t/>
            </a:r>
          </a:p>
          <a:p xmlns:a="http://schemas.openxmlformats.org/drawingml/2006/main">
            <a:r>
              <a:t>The supplied training partition contains 160 instances. GroupShuffleSplit with a 20% validation share and random_state 42 creates 128 fit groups and 32 validation groups. Grouping by instance_id prevents related states and variables from the same constraint graph from appearing on both sides. The test set contains a separate 40 instances.</a:t>
            </a:r>
          </a:p>
          <a:p xmlns:a="http://schemas.openxmlformats.org/drawingml/2006/main">
            <a:r>
              <a:t/>
            </a:r>
          </a:p>
          <a:p xmlns:a="http://schemas.openxmlformats.org/drawingml/2006/main">
            <a:r>
              <a:t>Sources</a:t>
            </a:r>
          </a:p>
          <a:p xmlns:a="http://schemas.openxmlformats.org/drawingml/2006/main">
            <a:r>
              <a:t>• results/split_manifest.csv, authoritative instance-to-partition mapping.</a:t>
            </a:r>
          </a:p>
          <a:p xmlns:a="http://schemas.openxmlformats.org/drawingml/2006/main">
            <a:r>
              <a:t>• student_starter.ipynb, cell 8 split recipe; MAAI801 Mini-Project Proposal, Section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2 · 1:20</a:t>
            </a:r>
          </a:p>
          <a:p xmlns:a="http://schemas.openxmlformats.org/drawingml/2006/main">
            <a:r>
              <a:t/>
            </a:r>
          </a:p>
          <a:p xmlns:a="http://schemas.openxmlformats.org/drawingml/2006/main">
            <a:r>
              <a:t>Decision Tree grid: max depth 3, 5, 8, or unbounded; minimum leaf size 1, 5, or 10. Random Forest grid: 100 or 200 trees, depth 5 or unbounded, and minimum leaf size 1 or 5. The final family is chosen on validation MAE alone. Here, RF has the slightly lower validation MAE. Both selected settings were refit on all training instances before test evaluation.</a:t>
            </a:r>
          </a:p>
          <a:p xmlns:a="http://schemas.openxmlformats.org/drawingml/2006/main">
            <a:r>
              <a:t/>
            </a:r>
          </a:p>
          <a:p xmlns:a="http://schemas.openxmlformats.org/drawingml/2006/main">
            <a:r>
              <a:t>Sources</a:t>
            </a:r>
          </a:p>
          <a:p xmlns:a="http://schemas.openxmlformats.org/drawingml/2006/main">
            <a:r>
              <a:t>• results/dt_validation.csv and results/rf_validation.csv, full validation grids.</a:t>
            </a:r>
          </a:p>
          <a:p xmlns:a="http://schemas.openxmlformats.org/drawingml/2006/main">
            <a:r>
              <a:t>• results/final_summary.json, locked configurations and selection basis.</a:t>
            </a:r>
          </a:p>
          <a:p xmlns:a="http://schemas.openxmlformats.org/drawingml/2006/main">
            <a:r>
              <a:t>• work/decision_tree_notes.md and work/random_forest_notes.md.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2 · 1:10</a:t>
            </a:r>
          </a:p>
          <a:p xmlns:a="http://schemas.openxmlformats.org/drawingml/2006/main">
            <a:r>
              <a:t/>
            </a:r>
          </a:p>
          <a:p xmlns:a="http://schemas.openxmlformats.org/drawingml/2006/main">
            <a:r>
              <a:t>Read the four values precisely from the chart. Random Forest was selected on validation MAE alone, then refit on all 160 training instances. The test MAE is reported as final evaluation evidence; it did not drive model choice. Lower MAE is not equivalent to better state-level selection.</a:t>
            </a:r>
          </a:p>
          <a:p xmlns:a="http://schemas.openxmlformats.org/drawingml/2006/main">
            <a:r>
              <a:t/>
            </a:r>
          </a:p>
          <a:p xmlns:a="http://schemas.openxmlformats.org/drawingml/2006/main">
            <a:r>
              <a:t>Sources</a:t>
            </a:r>
          </a:p>
          <a:p xmlns:a="http://schemas.openxmlformats.org/drawingml/2006/main">
            <a:r>
              <a:t>• results/final_prediction_metrics.csv and results/final_summary.json.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3 · 1:20</a:t>
            </a:r>
          </a:p>
          <a:p xmlns:a="http://schemas.openxmlformats.org/drawingml/2006/main">
            <a:r>
              <a:t/>
            </a:r>
          </a:p>
          <a:p xmlns:a="http://schemas.openxmlformats.org/drawingml/2006/main">
            <a:r>
              <a:t>For each test state, both methods begin from a fresh copy of the original assignment. The heuristic picks the variable with the highest percentage of incident violated constraints, with the supplied tie rules. The model predicts improvement for all eight variables and picks the largest predicted value. Both choices use the same deterministic best-value mutation. This isolates variable choice for the one-step comparison.</a:t>
            </a:r>
          </a:p>
          <a:p xmlns:a="http://schemas.openxmlformats.org/drawingml/2006/main">
            <a:r>
              <a:t/>
            </a:r>
          </a:p>
          <a:p xmlns:a="http://schemas.openxmlformats.org/drawingml/2006/main">
            <a:r>
              <a:t>Sources</a:t>
            </a:r>
          </a:p>
          <a:p xmlns:a="http://schemas.openxmlformats.org/drawingml/2006/main">
            <a:r>
              <a:t>• supplied/MAAI801_MaxCSP_Student_Package/maxcsp_tools.py, heuristic_select, best_value_mutation, evaluate_heuristic, evaluate_ml_selection.</a:t>
            </a:r>
          </a:p>
          <a:p xmlns:a="http://schemas.openxmlformats.org/drawingml/2006/main">
            <a:r>
              <a:t>• work/compare_selection.py, same-state comparison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3 · 1:45</a:t>
            </a:r>
          </a:p>
          <a:p xmlns:a="http://schemas.openxmlformats.org/drawingml/2006/main">
            <a:r>
              <a:t/>
            </a:r>
          </a:p>
          <a:p xmlns:a="http://schemas.openxmlformats.org/drawingml/2006/main">
            <a:r>
              <a:t>On 200 held-out states, mean gain was 1.690 for Random Forest and 1.565 for the heuristic, a difference of 0.125 violations per state (8.0% relative to the heuristic mean). ML won 23, tied 172, and lost 5; the selectors chose different variables in 40 states. The average difference is modest and the per-state results are mostly ties. State wins are counted on the supplied test states; instance-level outcomes are 18 wins, 20 ties, and 2 losses.</a:t>
            </a:r>
          </a:p>
          <a:p xmlns:a="http://schemas.openxmlformats.org/drawingml/2006/main">
            <a:r>
              <a:t/>
            </a:r>
          </a:p>
          <a:p xmlns:a="http://schemas.openxmlformats.org/drawingml/2006/main">
            <a:r>
              <a:t>Sources</a:t>
            </a:r>
          </a:p>
          <a:p xmlns:a="http://schemas.openxmlformats.org/drawingml/2006/main">
            <a:r>
              <a:t>• results/final_summary.json, aggregate results.</a:t>
            </a:r>
          </a:p>
          <a:p xmlns:a="http://schemas.openxmlformats.org/drawingml/2006/main">
            <a:r>
              <a:t>• results/final_state_comparison.csv, state-level metrics and same-state checks.</a:t>
            </a:r>
          </a:p>
          <a:p xmlns:a="http://schemas.openxmlformats.org/drawingml/2006/main">
            <a:r>
              <a:t>• results/final_instance_comparison.csv, instance-level aggregation.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4 · 1:15</a:t>
            </a:r>
          </a:p>
          <a:p xmlns:a="http://schemas.openxmlformats.org/drawingml/2006/main">
            <a:r>
              <a:t/>
            </a:r>
          </a:p>
          <a:p xmlns:a="http://schemas.openxmlformats.org/drawingml/2006/main">
            <a:r>
              <a:t>Conclude narrowly: this evaluation supports a modest increase in average actual one-step gain for the selected Random Forest on these synthetic held-out states. There were 23 wins, 172 ties, and 5 losses across states. The result does not demonstrate a complete-GA improvement, speedup, transfer to the original paper’s instances, or generalization beyond this setting. Use the listed speaker roles, then invite questions. All presenters should be ready to explain the shared method.</a:t>
            </a:r>
          </a:p>
          <a:p xmlns:a="http://schemas.openxmlformats.org/drawingml/2006/main">
            <a:r>
              <a:t/>
            </a:r>
          </a:p>
          <a:p xmlns:a="http://schemas.openxmlformats.org/drawingml/2006/main">
            <a:r>
              <a:t>Sources</a:t>
            </a:r>
          </a:p>
          <a:p xmlns:a="http://schemas.openxmlformats.org/drawingml/2006/main">
            <a:r>
              <a:t>• results/final_summary.json and results/final_state_comparison.csv.</a:t>
            </a:r>
          </a:p>
          <a:p xmlns:a="http://schemas.openxmlformats.org/drawingml/2006/main">
            <a:r>
              <a:t>• MAAI801 Mini-Project Proposal, Sections 4.1–4.5 and scope statement.</a:t>
            </a:r>
          </a:p>
          <a:p xmlns:a="http://schemas.openxmlformats.org/drawingml/2006/main">
            <a:r>
              <a:t>• Ben Othman &amp; Tagina (2015), DOI: https://doi.org/10.1016/j.procs.2015.08.156.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fa34591a4a48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047c4c76cf4f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29ea229ec34d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b7b6a4dd8744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5da3c308c34f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c59c9692774f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87A55A-75DB-493E-91D9-6FE9B79A47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48E985-11F8-4F66-8FFE-66757A860C3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6DCF82-D194-4FF2-8BBF-D1375159AD9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057B28-FC62-4155-BC34-3A1F27F14C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2B9BFB-163E-4F84-B6E9-301A412EB7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944136-142C-4CD2-B21B-214C2E16FB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3ED5C6-FFE0-4010-BDED-811F9481E2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E32073-E7F0-4233-8646-46685F4375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46215B-6B56-44BA-BE33-75014124D9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E05C22-3D3A-4ED3-A313-2D90FF7F40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406dc0ad034417" /><Relationship Type="http://schemas.openxmlformats.org/officeDocument/2006/relationships/slideLayout" Target="/ppt/slideLayouts/slideLayout1.xml" Id="R2a2e65b9e4324d8d" /><Relationship Type="http://schemas.openxmlformats.org/officeDocument/2006/relationships/slideLayout" Target="/ppt/slideLayouts/slideLayout2.xml" Id="R80284ea69c444618" /><Relationship Type="http://schemas.openxmlformats.org/officeDocument/2006/relationships/slideLayout" Target="/ppt/slideLayouts/slideLayout3.xml" Id="Rfb897c66be54450f" /><Relationship Type="http://schemas.openxmlformats.org/officeDocument/2006/relationships/slideLayout" Target="/ppt/slideLayouts/slideLayout4.xml" Id="Rd8e8c272a7c74a86" /><Relationship Type="http://schemas.openxmlformats.org/officeDocument/2006/relationships/slideLayout" Target="/ppt/slideLayouts/slideLayout5.xml" Id="R0ad903d5c6904bc3" /><Relationship Type="http://schemas.openxmlformats.org/officeDocument/2006/relationships/slideLayout" Target="/ppt/slideLayouts/slideLayout6.xml" Id="Ra3604387b49942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2e65b9e4324d8d"/>
    <p:sldLayoutId xmlns:r="http://schemas.openxmlformats.org/officeDocument/2006/relationships" id="2147483650" r:id="R80284ea69c444618"/>
    <p:sldLayoutId xmlns:r="http://schemas.openxmlformats.org/officeDocument/2006/relationships" id="2147483651" r:id="Rfb897c66be54450f"/>
    <p:sldLayoutId xmlns:r="http://schemas.openxmlformats.org/officeDocument/2006/relationships" id="2147483652" r:id="Rd8e8c272a7c74a86"/>
    <p:sldLayoutId xmlns:r="http://schemas.openxmlformats.org/officeDocument/2006/relationships" id="2147483653" r:id="R0ad903d5c6904bc3"/>
    <p:sldLayoutId xmlns:r="http://schemas.openxmlformats.org/officeDocument/2006/relationships" id="2147483654" r:id="Ra3604387b49942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cce3191ad2453b" /><Relationship Type="http://schemas.openxmlformats.org/officeDocument/2006/relationships/notesSlide" Target="/ppt/notesSlides/notesSlide1.xml" Id="Rb8003e790e9847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56098451c24b05" /><Relationship Type="http://schemas.openxmlformats.org/officeDocument/2006/relationships/notesSlide" Target="/ppt/notesSlides/notesSlide2.xml" Id="Rcc47aa95e88844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d670e898f84ec3" /><Relationship Type="http://schemas.openxmlformats.org/officeDocument/2006/relationships/chart" Target="/ppt/slides/charts/chart1.xml" Id="R96880436752f4e69" /><Relationship Type="http://schemas.openxmlformats.org/officeDocument/2006/relationships/chart" Target="/ppt/slides/charts/chart2.xml" Id="R937b1817d48c4a93" /><Relationship Type="http://schemas.openxmlformats.org/officeDocument/2006/relationships/notesSlide" Target="/ppt/notesSlides/notesSlide3.xml" Id="R7474c83528cc49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d688423b124144" /><Relationship Type="http://schemas.openxmlformats.org/officeDocument/2006/relationships/notesSlide" Target="/ppt/notesSlides/notesSlide4.xml" Id="Rbba9f20234424f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fdd998a7764884" /><Relationship Type="http://schemas.openxmlformats.org/officeDocument/2006/relationships/notesSlide" Target="/ppt/notesSlides/notesSlide5.xml" Id="R51ebd3d31fe142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bc4b556a774d33" /><Relationship Type="http://schemas.openxmlformats.org/officeDocument/2006/relationships/chart" Target="/ppt/slides/charts/chart3.xml" Id="Rd4872934626a4855" /><Relationship Type="http://schemas.openxmlformats.org/officeDocument/2006/relationships/notesSlide" Target="/ppt/notesSlides/notesSlide6.xml" Id="R70308ed4cef445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5837924bf643a8" /><Relationship Type="http://schemas.openxmlformats.org/officeDocument/2006/relationships/notesSlide" Target="/ppt/notesSlides/notesSlide7.xml" Id="R5c6745b9396e4d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3dcb8f84364335" /><Relationship Type="http://schemas.openxmlformats.org/officeDocument/2006/relationships/chart" Target="/ppt/slides/charts/chart4.xml" Id="Reec0719f70674619" /><Relationship Type="http://schemas.openxmlformats.org/officeDocument/2006/relationships/notesSlide" Target="/ppt/notesSlides/notesSlide8.xml" Id="R57ab2d3283a14c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68d2e10c11418c" /><Relationship Type="http://schemas.openxmlformats.org/officeDocument/2006/relationships/notesSlide" Target="/ppt/notesSlides/notesSlide9.xml" Id="R55f9ba7634e042e5"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0D2935"/>
                </a:solidFill>
                <a:latin typeface="Arial"/>
                <a:ea typeface="Arial"/>
                <a:cs typeface="Arial"/>
              </a:rPr>
              <a:t>Improvement on training candidates</a:t>
            </a:r>
          </a:p>
        </c:rich>
      </c:tx>
      <c:overlay val="0"/>
      <c:txPr>
        <a:bodyPr xmlns:a="http://schemas.openxmlformats.org/drawingml/2006/main" anchorCtr="1"/>
        <a:lstStyle xmlns:a="http://schemas.openxmlformats.org/drawingml/2006/main"/>
        <a:p xmlns:a="http://schemas.openxmlformats.org/drawingml/2006/main">
          <a:pPr>
            <a:defRPr sz="1500" b="1">
              <a:solidFill>
                <a:srgbClr val="0D2935"/>
              </a:solidFill>
              <a:latin typeface="Arial"/>
              <a:ea typeface="Arial"/>
              <a:cs typeface="Arial"/>
            </a:defRPr>
          </a:pPr>
        </a:p>
      </c:txPr>
    </c:title>
    <c:plotArea>
      <c:barChart>
        <c:barDir val="col"/>
        <c:grouping val="clustered"/>
        <c:varyColors val="0"/>
        <c:ser>
          <c:idx val="0"/>
          <c:order val="0"/>
          <c:tx>
            <c:v>Rows</c:v>
          </c:tx>
          <c:spPr>
            <a:solidFill xmlns:a="http://schemas.openxmlformats.org/drawingml/2006/main">
              <a:srgbClr val="117C7B"/>
            </a:solidFill>
          </c:spPr>
          <c:invertIfNegative val="0"/>
          <c:cat>
            <c:numLit>
              <c:formatCode>General</c:formatCode>
              <c:ptCount val="6"/>
              <c:pt idx="0">
                <c:v>0</c:v>
              </c:pt>
              <c:pt idx="1">
                <c:v>1</c:v>
              </c:pt>
              <c:pt idx="2">
                <c:v>2</c:v>
              </c:pt>
              <c:pt idx="3">
                <c:v>3</c:v>
              </c:pt>
              <c:pt idx="4">
                <c:v>4</c:v>
              </c:pt>
              <c:pt idx="5">
                <c:v>5</c:v>
              </c:pt>
            </c:numLit>
          </c:cat>
          <c:val>
            <c:numLit>
              <c:formatCode>General</c:formatCode>
              <c:ptCount val="6"/>
              <c:pt idx="0">
                <c:v>3077</c:v>
              </c:pt>
              <c:pt idx="1">
                <c:v>2084</c:v>
              </c:pt>
              <c:pt idx="2">
                <c:v>911</c:v>
              </c:pt>
              <c:pt idx="3">
                <c:v>257</c:v>
              </c:pt>
              <c:pt idx="4">
                <c:v>67</c:v>
              </c:pt>
              <c:pt idx="5">
                <c:v>4</c:v>
              </c:pt>
            </c:numLit>
          </c:val>
        </c:ser>
        <c:dLbls>
          <c:txPr>
            <a:bodyPr xmlns:a="http://schemas.openxmlformats.org/drawingml/2006/main" anchorCtr="1"/>
            <a:lstStyle xmlns:a="http://schemas.openxmlformats.org/drawingml/2006/main"/>
            <a:p xmlns:a="http://schemas.openxmlformats.org/drawingml/2006/main">
              <a:pPr>
                <a:defRPr sz="1050">
                  <a:solidFill>
                    <a:srgbClr val="152536"/>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5C8"/>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1"/>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526273"/>
                    </a:solidFill>
                    <a:latin typeface="Arial"/>
                    <a:ea typeface="Arial"/>
                    <a:cs typeface="Arial"/>
                  </a:rPr>
                  <a:t>Candidate rows</a:t>
                </a:r>
              </a:p>
            </c:rich>
          </c:tx>
          <c:overlay val="0"/>
          <c:txPr>
            <a:bodyPr xmlns:a="http://schemas.openxmlformats.org/drawingml/2006/main" anchorCtr="1"/>
            <a:lstStyle xmlns:a="http://schemas.openxmlformats.org/drawingml/2006/main"/>
            <a:p xmlns:a="http://schemas.openxmlformats.org/drawingml/2006/main">
              <a:pPr>
                <a:defRPr sz="1200">
                  <a:solidFill>
                    <a:srgbClr val="52627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273"/>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0D2935"/>
                </a:solidFill>
                <a:latin typeface="Arial"/>
                <a:ea typeface="Arial"/>
                <a:cs typeface="Arial"/>
              </a:rPr>
              <a:t>Mean observed improvement by template band</a:t>
            </a:r>
          </a:p>
        </c:rich>
      </c:tx>
      <c:overlay val="0"/>
      <c:txPr>
        <a:bodyPr xmlns:a="http://schemas.openxmlformats.org/drawingml/2006/main" anchorCtr="1"/>
        <a:lstStyle xmlns:a="http://schemas.openxmlformats.org/drawingml/2006/main"/>
        <a:p xmlns:a="http://schemas.openxmlformats.org/drawingml/2006/main">
          <a:pPr>
            <a:defRPr sz="1500" b="1">
              <a:solidFill>
                <a:srgbClr val="0D2935"/>
              </a:solidFill>
              <a:latin typeface="Arial"/>
              <a:ea typeface="Arial"/>
              <a:cs typeface="Arial"/>
            </a:defRPr>
          </a:pPr>
        </a:p>
      </c:txPr>
    </c:title>
    <c:plotArea>
      <c:barChart>
        <c:barDir val="col"/>
        <c:grouping val="clustered"/>
        <c:varyColors val="0"/>
        <c:ser>
          <c:idx val="0"/>
          <c:order val="0"/>
          <c:tx>
            <c:v>Mean gain</c:v>
          </c:tx>
          <c:spPr>
            <a:solidFill xmlns:a="http://schemas.openxmlformats.org/drawingml/2006/main">
              <a:srgbClr val="CC6842"/>
            </a:solidFill>
          </c:spPr>
          <c:invertIfNegative val="0"/>
          <c:cat>
            <c:strLit>
              <c:ptCount val="10"/>
              <c:pt idx="0">
                <c:v>0–10</c:v>
              </c:pt>
              <c:pt idx="1">
                <c:v>10–20</c:v>
              </c:pt>
              <c:pt idx="2">
                <c:v>20–30</c:v>
              </c:pt>
              <c:pt idx="3">
                <c:v>30–40</c:v>
              </c:pt>
              <c:pt idx="4">
                <c:v>40–50</c:v>
              </c:pt>
              <c:pt idx="5">
                <c:v>50–60</c:v>
              </c:pt>
              <c:pt idx="6">
                <c:v>60–70</c:v>
              </c:pt>
              <c:pt idx="7">
                <c:v>70–80</c:v>
              </c:pt>
              <c:pt idx="8">
                <c:v>80–90</c:v>
              </c:pt>
              <c:pt idx="9">
                <c:v>90–100</c:v>
              </c:pt>
            </c:strLit>
          </c:cat>
          <c:val>
            <c:numLit>
              <c:formatCode>General</c:formatCode>
              <c:ptCount val="10"/>
              <c:pt idx="0">
                <c:v>0</c:v>
              </c:pt>
              <c:pt idx="1">
                <c:v>0.42963</c:v>
              </c:pt>
              <c:pt idx="2">
                <c:v>0.665574</c:v>
              </c:pt>
              <c:pt idx="3">
                <c:v>0.726688</c:v>
              </c:pt>
              <c:pt idx="4">
                <c:v>0.774005</c:v>
              </c:pt>
              <c:pt idx="5">
                <c:v>1.353571</c:v>
              </c:pt>
              <c:pt idx="6">
                <c:v>0.967462</c:v>
              </c:pt>
              <c:pt idx="7">
                <c:v>1.202505</c:v>
              </c:pt>
              <c:pt idx="8">
                <c:v>1.605769</c:v>
              </c:pt>
              <c:pt idx="9">
                <c:v>1.298507</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5C8"/>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1"/>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26273"/>
                    </a:solidFill>
                    <a:latin typeface="Arial"/>
                    <a:ea typeface="Arial"/>
                    <a:cs typeface="Arial"/>
                  </a:rPr>
                  <a:t>Violations reduced</a:t>
                </a:r>
              </a:p>
            </c:rich>
          </c:tx>
          <c:overlay val="0"/>
          <c:txPr>
            <a:bodyPr xmlns:a="http://schemas.openxmlformats.org/drawingml/2006/main" anchorCtr="1"/>
            <a:lstStyle xmlns:a="http://schemas.openxmlformats.org/drawingml/2006/main"/>
            <a:p xmlns:a="http://schemas.openxmlformats.org/drawingml/2006/main">
              <a:pPr>
                <a:defRPr sz="1125">
                  <a:solidFill>
                    <a:srgbClr val="52627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273"/>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0D2935"/>
                </a:solidFill>
                <a:latin typeface="Arial"/>
                <a:ea typeface="Arial"/>
                <a:cs typeface="Arial"/>
              </a:rPr>
              <a:t>Mean absolute error by model and split</a:t>
            </a:r>
          </a:p>
        </c:rich>
      </c:tx>
      <c:overlay val="0"/>
      <c:txPr>
        <a:bodyPr xmlns:a="http://schemas.openxmlformats.org/drawingml/2006/main" anchorCtr="1"/>
        <a:lstStyle xmlns:a="http://schemas.openxmlformats.org/drawingml/2006/main"/>
        <a:p xmlns:a="http://schemas.openxmlformats.org/drawingml/2006/main">
          <a:pPr>
            <a:defRPr sz="1650" b="1">
              <a:solidFill>
                <a:srgbClr val="0D2935"/>
              </a:solidFill>
              <a:latin typeface="Arial"/>
              <a:ea typeface="Arial"/>
              <a:cs typeface="Arial"/>
            </a:defRPr>
          </a:pPr>
        </a:p>
      </c:txPr>
    </c:title>
    <c:plotArea>
      <c:barChart>
        <c:barDir val="col"/>
        <c:grouping val="clustered"/>
        <c:varyColors val="0"/>
        <c:ser>
          <c:idx val="0"/>
          <c:order val="0"/>
          <c:tx>
            <c:v>Validation</c:v>
          </c:tx>
          <c:spPr>
            <a:solidFill xmlns:a="http://schemas.openxmlformats.org/drawingml/2006/main">
              <a:srgbClr val="CC6842"/>
            </a:solidFill>
          </c:spPr>
          <c:invertIfNegative val="0"/>
          <c:cat>
            <c:strLit>
              <c:ptCount val="2"/>
              <c:pt idx="0">
                <c:v>Decision Tree</c:v>
              </c:pt>
              <c:pt idx="1">
                <c:v>Random Forest</c:v>
              </c:pt>
            </c:strLit>
          </c:cat>
          <c:val>
            <c:numLit>
              <c:formatCode>0.00</c:formatCode>
              <c:ptCount val="2"/>
              <c:pt idx="0">
                <c:v>0.5182701392601263</c:v>
              </c:pt>
              <c:pt idx="1">
                <c:v>0.5147741198888189</c:v>
              </c:pt>
            </c:numLit>
          </c:val>
        </c:ser>
        <c:ser>
          <c:idx val="1"/>
          <c:order val="1"/>
          <c:tx>
            <c:v>Test</c:v>
          </c:tx>
          <c:spPr>
            <a:solidFill xmlns:a="http://schemas.openxmlformats.org/drawingml/2006/main">
              <a:srgbClr val="117C7B"/>
            </a:solidFill>
          </c:spPr>
          <c:invertIfNegative val="0"/>
          <c:cat>
            <c:strLit>
              <c:ptCount val="2"/>
              <c:pt idx="0">
                <c:v>Decision Tree</c:v>
              </c:pt>
              <c:pt idx="1">
                <c:v>Random Forest</c:v>
              </c:pt>
            </c:strLit>
          </c:cat>
          <c:val>
            <c:numLit>
              <c:formatCode>0.00</c:formatCode>
              <c:ptCount val="2"/>
              <c:pt idx="0">
                <c:v>0.4439339250580284</c:v>
              </c:pt>
              <c:pt idx="1">
                <c:v>0.43654938549964534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200">
                  <a:solidFill>
                    <a:srgbClr val="152536"/>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5C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5253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DE3E1"/>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526273"/>
                    </a:solidFill>
                    <a:latin typeface="Arial"/>
                    <a:ea typeface="Arial"/>
                    <a:cs typeface="Arial"/>
                  </a:rPr>
                  <a:t>MAE (violations per candidate)</a:t>
                </a:r>
              </a:p>
            </c:rich>
          </c:tx>
          <c:overlay val="0"/>
          <c:txPr>
            <a:bodyPr xmlns:a="http://schemas.openxmlformats.org/drawingml/2006/main" anchorCtr="1"/>
            <a:lstStyle xmlns:a="http://schemas.openxmlformats.org/drawingml/2006/main"/>
            <a:p xmlns:a="http://schemas.openxmlformats.org/drawingml/2006/main">
              <a:pPr>
                <a:defRPr sz="1275">
                  <a:solidFill>
                    <a:srgbClr val="526273"/>
                  </a:solidFill>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3"/>
                </a:solidFill>
                <a:latin typeface="Arial"/>
                <a:ea typeface="Arial"/>
                <a:cs typeface="Arial"/>
              </a:defRPr>
            </a:pPr>
          </a:p>
        </c:txPr>
        <c:crossAx val="48650112"/>
        <c:crossBetween val="between"/>
        <c:majorUnit val="0.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273"/>
              </a:solidFill>
              <a:latin typeface="Arial"/>
              <a:ea typeface="Arial"/>
              <a:cs typeface="Arial"/>
            </a:defRPr>
          </a:pPr>
        </a:p>
      </c:txPr>
    </c:legend>
    <c:plotVisOnly val="1"/>
  </c:chart>
  <c:spPr>
    <a:noFill xmlns:a="http://schemas.openxmlformats.org/drawingml/2006/mai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b="1">
                <a:solidFill>
                  <a:srgbClr val="0D2935"/>
                </a:solidFill>
                <a:latin typeface="Arial"/>
                <a:ea typeface="Arial"/>
                <a:cs typeface="Arial"/>
              </a:rPr>
              <a:t>Mean actual gain per state</a:t>
            </a:r>
          </a:p>
        </c:rich>
      </c:tx>
      <c:overlay val="0"/>
      <c:txPr>
        <a:bodyPr xmlns:a="http://schemas.openxmlformats.org/drawingml/2006/main" anchorCtr="1"/>
        <a:lstStyle xmlns:a="http://schemas.openxmlformats.org/drawingml/2006/main"/>
        <a:p xmlns:a="http://schemas.openxmlformats.org/drawingml/2006/main">
          <a:pPr>
            <a:defRPr sz="1425" b="1">
              <a:solidFill>
                <a:srgbClr val="0D2935"/>
              </a:solidFill>
              <a:latin typeface="Arial"/>
              <a:ea typeface="Arial"/>
              <a:cs typeface="Arial"/>
            </a:defRPr>
          </a:pPr>
        </a:p>
      </c:txPr>
    </c:title>
    <c:plotArea>
      <c:barChart>
        <c:barDir val="bar"/>
        <c:grouping val="clustered"/>
        <c:varyColors val="0"/>
        <c:ser>
          <c:idx val="0"/>
          <c:order val="0"/>
          <c:tx>
            <c:v>Violations reduced</c:v>
          </c:tx>
          <c:spPr>
            <a:solidFill xmlns:a="http://schemas.openxmlformats.org/drawingml/2006/main">
              <a:srgbClr val="117C7B"/>
            </a:solidFill>
          </c:spPr>
          <c:invertIfNegative val="0"/>
          <c:dPt>
            <c:idx val="0"/>
            <c:invertIfNegative val="0"/>
            <c:spPr>
              <a:solidFill xmlns:a="http://schemas.openxmlformats.org/drawingml/2006/main">
                <a:srgbClr val="CC6842"/>
              </a:solidFill>
            </c:spPr>
          </c:dPt>
          <c:dPt>
            <c:idx val="1"/>
            <c:invertIfNegative val="0"/>
            <c:spPr>
              <a:solidFill xmlns:a="http://schemas.openxmlformats.org/drawingml/2006/main">
                <a:srgbClr val="117C7B"/>
              </a:solidFill>
            </c:spPr>
          </c:dPt>
          <c:cat>
            <c:strLit>
              <c:ptCount val="2"/>
              <c:pt idx="0">
                <c:v>Heuristic</c:v>
              </c:pt>
              <c:pt idx="1">
                <c:v>Random Forest</c:v>
              </c:pt>
            </c:strLit>
          </c:cat>
          <c:val>
            <c:numLit>
              <c:formatCode>0.0</c:formatCode>
              <c:ptCount val="2"/>
              <c:pt idx="0">
                <c:v>1.565</c:v>
              </c:pt>
              <c:pt idx="1">
                <c:v>1.69</c:v>
              </c:pt>
            </c:numLit>
          </c:val>
        </c:ser>
        <c:dLbls>
          <c:numFmt formatCode="0.000" sourceLinked="0"/>
          <c:txPr>
            <a:bodyPr xmlns:a="http://schemas.openxmlformats.org/drawingml/2006/main" anchorCtr="1"/>
            <a:lstStyle xmlns:a="http://schemas.openxmlformats.org/drawingml/2006/main"/>
            <a:p xmlns:a="http://schemas.openxmlformats.org/drawingml/2006/main">
              <a:pPr>
                <a:defRPr sz="1200">
                  <a:solidFill>
                    <a:srgbClr val="152536"/>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8C5C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52536"/>
                </a:solidFill>
                <a:latin typeface="Arial"/>
                <a:ea typeface="Arial"/>
                <a:cs typeface="Arial"/>
              </a:defRPr>
            </a:pPr>
          </a:p>
        </c:txPr>
        <c:crossAx val="48672768"/>
      </c:catAx>
      <c:valAx>
        <c:axId val="48672768"/>
        <c:scaling>
          <c:orientation val="minMax"/>
          <c:max val="2"/>
          <c:min val="0"/>
        </c:scaling>
        <c:delete val="0"/>
        <c:axPos val="b"/>
        <c:majorGridlines>
          <c:spPr>
            <a:ln xmlns:a="http://schemas.openxmlformats.org/drawingml/2006/main" w="9525">
              <a:solidFill>
                <a:srgbClr val="DDE3E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273"/>
                </a:solidFill>
                <a:latin typeface="Arial"/>
                <a:ea typeface="Arial"/>
                <a:cs typeface="Arial"/>
              </a:defRPr>
            </a:pPr>
          </a:p>
        </c:txPr>
        <c:crossAx val="48650112"/>
        <c:crossBetween val="between"/>
        <c:majorUnit val="0.5"/>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0D29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E76FD5-8BC3-451E-B308-9672708FD06F}"/>
              </a:ext>
            </a:extLst>
          </p:cNvPr>
          <p:cNvSpPr>
            <a:spLocks xmlns:a="http://schemas.openxmlformats.org/drawingml/2006/main" noGrp="1"/>
          </p:cNvSpPr>
          <p:nvPr/>
        </p:nvSpPr>
        <p:spPr>
          <a:xfrm xmlns:a="http://schemas.openxmlformats.org/drawingml/2006/main">
            <a:off x="781050" y="647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A8D8D0"/>
                </a:solidFill>
                <a:latin typeface="Arial"/>
                <a:ea typeface="Arial"/>
                <a:cs typeface="Arial"/>
              </a:defRPr>
            </a:defPPr>
            <a:lvl1pPr algn="l">
              <a:defRPr sz="1350" b="1">
                <a:solidFill>
                  <a:srgbClr val="A8D8D0"/>
                </a:solidFill>
                <a:latin typeface="Arial"/>
                <a:ea typeface="Arial"/>
                <a:cs typeface="Arial"/>
              </a:defRPr>
            </a:lvl1pPr>
            <a:lvl2pPr algn="l">
              <a:defRPr sz="1350" b="1">
                <a:solidFill>
                  <a:srgbClr val="A8D8D0"/>
                </a:solidFill>
                <a:latin typeface="Arial"/>
                <a:ea typeface="Arial"/>
                <a:cs typeface="Arial"/>
              </a:defRPr>
            </a:lvl2pPr>
            <a:lvl3pPr algn="l">
              <a:defRPr sz="1350" b="1">
                <a:solidFill>
                  <a:srgbClr val="A8D8D0"/>
                </a:solidFill>
                <a:latin typeface="Arial"/>
                <a:ea typeface="Arial"/>
                <a:cs typeface="Arial"/>
              </a:defRPr>
            </a:lvl3pPr>
            <a:lvl4pPr algn="l">
              <a:defRPr sz="1350" b="1">
                <a:solidFill>
                  <a:srgbClr val="A8D8D0"/>
                </a:solidFill>
                <a:latin typeface="Arial"/>
                <a:ea typeface="Arial"/>
                <a:cs typeface="Arial"/>
              </a:defRPr>
            </a:lvl4pPr>
            <a:lvl5pPr algn="l">
              <a:defRPr sz="1350" b="1">
                <a:solidFill>
                  <a:srgbClr val="A8D8D0"/>
                </a:solidFill>
                <a:latin typeface="Arial"/>
                <a:ea typeface="Arial"/>
                <a:cs typeface="Arial"/>
              </a:defRPr>
            </a:lvl5pPr>
            <a:lvl6pPr algn="l">
              <a:defRPr sz="1350" b="1">
                <a:solidFill>
                  <a:srgbClr val="A8D8D0"/>
                </a:solidFill>
                <a:latin typeface="Arial"/>
                <a:ea typeface="Arial"/>
                <a:cs typeface="Arial"/>
              </a:defRPr>
            </a:lvl6pPr>
            <a:lvl7pPr algn="l">
              <a:defRPr sz="1350" b="1">
                <a:solidFill>
                  <a:srgbClr val="A8D8D0"/>
                </a:solidFill>
                <a:latin typeface="Arial"/>
                <a:ea typeface="Arial"/>
                <a:cs typeface="Arial"/>
              </a:defRPr>
            </a:lvl7pPr>
            <a:lvl8pPr algn="l">
              <a:defRPr sz="1350" b="1">
                <a:solidFill>
                  <a:srgbClr val="A8D8D0"/>
                </a:solidFill>
                <a:latin typeface="Arial"/>
                <a:ea typeface="Arial"/>
                <a:cs typeface="Arial"/>
              </a:defRPr>
            </a:lvl8pPr>
            <a:lvl9pPr algn="l">
              <a:defRPr sz="1350" b="1">
                <a:solidFill>
                  <a:srgbClr val="A8D8D0"/>
                </a:solidFill>
                <a:latin typeface="Arial"/>
                <a:ea typeface="Arial"/>
                <a:cs typeface="Arial"/>
              </a:defRPr>
            </a:lvl9pPr>
          </a:lstStyle>
          <a:p xmlns:a="http://schemas.openxmlformats.org/drawingml/2006/main">
            <a:pPr algn="l">
              <a:defRPr sz="1350" b="1">
                <a:solidFill>
                  <a:srgbClr val="A8D8D0"/>
                </a:solidFill>
                <a:latin typeface="Arial"/>
                <a:ea typeface="Arial"/>
                <a:cs typeface="Arial"/>
              </a:defRPr>
            </a:pPr>
            <a:r>
              <a:rPr sz="1350" b="1">
                <a:solidFill>
                  <a:srgbClr val="A8D8D0"/>
                </a:solidFill>
                <a:latin typeface="Arial"/>
                <a:ea typeface="Arial"/>
                <a:cs typeface="Arial"/>
              </a:rPr>
              <a:t>MAAI801 · MAX-CSP MINI-PROJECT</a:t>
            </a:r>
          </a:p>
        </p:txBody>
      </p:sp>
      <p:sp>
        <p:nvSpPr>
          <p:cNvPr id="2" name="cover-title">
            <a:extLst xmlns:a="http://schemas.openxmlformats.org/drawingml/2006/main">
              <a:ext uri="{FF2B5EF4-FFF2-40B4-BE49-F238E27FC236}">
                <a16:creationId xmlns:a16="http://schemas.microsoft.com/office/drawing/2014/main" id="{A00F4752-2400-4835-8E8A-D8AAF8688C2D}"/>
              </a:ext>
            </a:extLst>
          </p:cNvPr>
          <p:cNvSpPr>
            <a:spLocks xmlns:a="http://schemas.openxmlformats.org/drawingml/2006/main" noGrp="1"/>
          </p:cNvSpPr>
          <p:nvPr/>
        </p:nvSpPr>
        <p:spPr>
          <a:xfrm xmlns:a="http://schemas.openxmlformats.org/drawingml/2006/main">
            <a:off x="781050" y="1476375"/>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FFFFFF"/>
                </a:solidFill>
                <a:latin typeface="Arial"/>
                <a:ea typeface="Arial"/>
                <a:cs typeface="Arial"/>
              </a:defRPr>
            </a:defPPr>
            <a:lvl1pPr algn="l">
              <a:defRPr sz="4500" b="1">
                <a:solidFill>
                  <a:srgbClr val="FFFFFF"/>
                </a:solidFill>
                <a:latin typeface="Arial"/>
                <a:ea typeface="Arial"/>
                <a:cs typeface="Arial"/>
              </a:defRPr>
            </a:lvl1pPr>
            <a:lvl2pPr algn="l">
              <a:defRPr sz="4500" b="1">
                <a:solidFill>
                  <a:srgbClr val="FFFFFF"/>
                </a:solidFill>
                <a:latin typeface="Arial"/>
                <a:ea typeface="Arial"/>
                <a:cs typeface="Arial"/>
              </a:defRPr>
            </a:lvl2pPr>
            <a:lvl3pPr algn="l">
              <a:defRPr sz="4500" b="1">
                <a:solidFill>
                  <a:srgbClr val="FFFFFF"/>
                </a:solidFill>
                <a:latin typeface="Arial"/>
                <a:ea typeface="Arial"/>
                <a:cs typeface="Arial"/>
              </a:defRPr>
            </a:lvl3pPr>
            <a:lvl4pPr algn="l">
              <a:defRPr sz="4500" b="1">
                <a:solidFill>
                  <a:srgbClr val="FFFFFF"/>
                </a:solidFill>
                <a:latin typeface="Arial"/>
                <a:ea typeface="Arial"/>
                <a:cs typeface="Arial"/>
              </a:defRPr>
            </a:lvl4pPr>
            <a:lvl5pPr algn="l">
              <a:defRPr sz="4500" b="1">
                <a:solidFill>
                  <a:srgbClr val="FFFFFF"/>
                </a:solidFill>
                <a:latin typeface="Arial"/>
                <a:ea typeface="Arial"/>
                <a:cs typeface="Arial"/>
              </a:defRPr>
            </a:lvl5pPr>
            <a:lvl6pPr algn="l">
              <a:defRPr sz="4500" b="1">
                <a:solidFill>
                  <a:srgbClr val="FFFFFF"/>
                </a:solidFill>
                <a:latin typeface="Arial"/>
                <a:ea typeface="Arial"/>
                <a:cs typeface="Arial"/>
              </a:defRPr>
            </a:lvl6pPr>
            <a:lvl7pPr algn="l">
              <a:defRPr sz="4500" b="1">
                <a:solidFill>
                  <a:srgbClr val="FFFFFF"/>
                </a:solidFill>
                <a:latin typeface="Arial"/>
                <a:ea typeface="Arial"/>
                <a:cs typeface="Arial"/>
              </a:defRPr>
            </a:lvl7pPr>
            <a:lvl8pPr algn="l">
              <a:defRPr sz="4500" b="1">
                <a:solidFill>
                  <a:srgbClr val="FFFFFF"/>
                </a:solidFill>
                <a:latin typeface="Arial"/>
                <a:ea typeface="Arial"/>
                <a:cs typeface="Arial"/>
              </a:defRPr>
            </a:lvl8pPr>
            <a:lvl9pPr algn="l">
              <a:defRPr sz="4500" b="1">
                <a:solidFill>
                  <a:srgbClr val="FFFFFF"/>
                </a:solidFill>
                <a:latin typeface="Arial"/>
                <a:ea typeface="Arial"/>
                <a:cs typeface="Arial"/>
              </a:defRPr>
            </a:lvl9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Can regression improve</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one-step variable selection?</a:t>
            </a:r>
          </a:p>
        </p:txBody>
      </p:sp>
      <p:sp>
        <p:nvSpPr>
          <p:cNvPr id="3" name="">
            <a:extLst xmlns:a="http://schemas.openxmlformats.org/drawingml/2006/main">
              <a:ext uri="{FF2B5EF4-FFF2-40B4-BE49-F238E27FC236}">
                <a16:creationId xmlns:a16="http://schemas.microsoft.com/office/drawing/2014/main" id="{9DEAB586-CC88-4A34-B084-08A95EC99C01}"/>
              </a:ext>
            </a:extLst>
          </p:cNvPr>
          <p:cNvSpPr>
            <a:spLocks xmlns:a="http://schemas.openxmlformats.org/drawingml/2006/main" noGrp="1"/>
          </p:cNvSpPr>
          <p:nvPr/>
        </p:nvSpPr>
        <p:spPr>
          <a:xfrm xmlns:a="http://schemas.openxmlformats.org/drawingml/2006/main">
            <a:off x="800100" y="371475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a:solidFill>
                  <a:srgbClr val="D6E2E2"/>
                </a:solidFill>
                <a:latin typeface="Arial"/>
                <a:ea typeface="Arial"/>
                <a:cs typeface="Arial"/>
              </a:defRPr>
            </a:defPPr>
            <a:lvl1pPr algn="l">
              <a:defRPr sz="2175" b="0">
                <a:solidFill>
                  <a:srgbClr val="D6E2E2"/>
                </a:solidFill>
                <a:latin typeface="Arial"/>
                <a:ea typeface="Arial"/>
                <a:cs typeface="Arial"/>
              </a:defRPr>
            </a:lvl1pPr>
            <a:lvl2pPr algn="l">
              <a:defRPr sz="2175" b="0">
                <a:solidFill>
                  <a:srgbClr val="D6E2E2"/>
                </a:solidFill>
                <a:latin typeface="Arial"/>
                <a:ea typeface="Arial"/>
                <a:cs typeface="Arial"/>
              </a:defRPr>
            </a:lvl2pPr>
            <a:lvl3pPr algn="l">
              <a:defRPr sz="2175" b="0">
                <a:solidFill>
                  <a:srgbClr val="D6E2E2"/>
                </a:solidFill>
                <a:latin typeface="Arial"/>
                <a:ea typeface="Arial"/>
                <a:cs typeface="Arial"/>
              </a:defRPr>
            </a:lvl3pPr>
            <a:lvl4pPr algn="l">
              <a:defRPr sz="2175" b="0">
                <a:solidFill>
                  <a:srgbClr val="D6E2E2"/>
                </a:solidFill>
                <a:latin typeface="Arial"/>
                <a:ea typeface="Arial"/>
                <a:cs typeface="Arial"/>
              </a:defRPr>
            </a:lvl4pPr>
            <a:lvl5pPr algn="l">
              <a:defRPr sz="2175" b="0">
                <a:solidFill>
                  <a:srgbClr val="D6E2E2"/>
                </a:solidFill>
                <a:latin typeface="Arial"/>
                <a:ea typeface="Arial"/>
                <a:cs typeface="Arial"/>
              </a:defRPr>
            </a:lvl5pPr>
            <a:lvl6pPr algn="l">
              <a:defRPr sz="2175" b="0">
                <a:solidFill>
                  <a:srgbClr val="D6E2E2"/>
                </a:solidFill>
                <a:latin typeface="Arial"/>
                <a:ea typeface="Arial"/>
                <a:cs typeface="Arial"/>
              </a:defRPr>
            </a:lvl6pPr>
            <a:lvl7pPr algn="l">
              <a:defRPr sz="2175" b="0">
                <a:solidFill>
                  <a:srgbClr val="D6E2E2"/>
                </a:solidFill>
                <a:latin typeface="Arial"/>
                <a:ea typeface="Arial"/>
                <a:cs typeface="Arial"/>
              </a:defRPr>
            </a:lvl7pPr>
            <a:lvl8pPr algn="l">
              <a:defRPr sz="2175" b="0">
                <a:solidFill>
                  <a:srgbClr val="D6E2E2"/>
                </a:solidFill>
                <a:latin typeface="Arial"/>
                <a:ea typeface="Arial"/>
                <a:cs typeface="Arial"/>
              </a:defRPr>
            </a:lvl8pPr>
            <a:lvl9pPr algn="l">
              <a:defRPr sz="2175" b="0">
                <a:solidFill>
                  <a:srgbClr val="D6E2E2"/>
                </a:solidFill>
                <a:latin typeface="Arial"/>
                <a:ea typeface="Arial"/>
                <a:cs typeface="Arial"/>
              </a:defRPr>
            </a:lvl9pPr>
          </a:lstStyle>
          <a:p xmlns:a="http://schemas.openxmlformats.org/drawingml/2006/main">
            <a:pPr algn="l">
              <a:defRPr sz="2175" b="0">
                <a:solidFill>
                  <a:srgbClr val="D6E2E2"/>
                </a:solidFill>
                <a:latin typeface="Arial"/>
                <a:ea typeface="Arial"/>
                <a:cs typeface="Arial"/>
              </a:defRPr>
            </a:pPr>
            <a:r>
              <a:rPr sz="2175" b="0">
                <a:solidFill>
                  <a:srgbClr val="D6E2E2"/>
                </a:solidFill>
                <a:latin typeface="Arial"/>
                <a:ea typeface="Arial"/>
                <a:cs typeface="Arial"/>
              </a:rPr>
              <a:t>Percentage heuristic  vs  Random Forest guidance</a:t>
            </a:r>
          </a:p>
        </p:txBody>
      </p:sp>
      <p:sp>
        <p:nvSpPr>
          <p:cNvPr id="4" name="">
            <a:extLst xmlns:a="http://schemas.openxmlformats.org/drawingml/2006/main">
              <a:ext uri="{FF2B5EF4-FFF2-40B4-BE49-F238E27FC236}">
                <a16:creationId xmlns:a16="http://schemas.microsoft.com/office/drawing/2014/main" id="{6A13F4F4-8947-4E8E-99A6-0BC231D3E32C}"/>
              </a:ext>
            </a:extLst>
          </p:cNvPr>
          <p:cNvSpPr>
            <a:spLocks xmlns:a="http://schemas.openxmlformats.org/drawingml/2006/main" noGrp="1"/>
          </p:cNvSpPr>
          <p:nvPr/>
        </p:nvSpPr>
        <p:spPr>
          <a:xfrm xmlns:a="http://schemas.openxmlformats.org/drawingml/2006/main" flipV="0">
            <a:off x="800100" y="4610100"/>
            <a:ext cx="1676400" cy="0"/>
          </a:xfrm>
          <a:prstGeom xmlns:a="http://schemas.openxmlformats.org/drawingml/2006/main" prst="line">
            <a:avLst/>
          </a:prstGeom>
          <a:noFill xmlns:a="http://schemas.openxmlformats.org/drawingml/2006/main"/>
          <a:ln xmlns:a="http://schemas.openxmlformats.org/drawingml/2006/main" w="47625">
            <a:solidFill>
              <a:srgbClr val="D6A747"/>
            </a:solidFill>
            <a:prstDash val="solid"/>
          </a:ln>
        </p:spPr>
      </p:sp>
      <p:sp>
        <p:nvSpPr>
          <p:cNvPr id="5" name="">
            <a:extLst xmlns:a="http://schemas.openxmlformats.org/drawingml/2006/main">
              <a:ext uri="{FF2B5EF4-FFF2-40B4-BE49-F238E27FC236}">
                <a16:creationId xmlns:a16="http://schemas.microsoft.com/office/drawing/2014/main" id="{9538030A-849E-4EA9-89F9-E7B6E8B643CD}"/>
              </a:ext>
            </a:extLst>
          </p:cNvPr>
          <p:cNvSpPr>
            <a:spLocks xmlns:a="http://schemas.openxmlformats.org/drawingml/2006/main" noGrp="1"/>
          </p:cNvSpPr>
          <p:nvPr/>
        </p:nvSpPr>
        <p:spPr>
          <a:xfrm xmlns:a="http://schemas.openxmlformats.org/drawingml/2006/main">
            <a:off x="800100" y="4857750"/>
            <a:ext cx="895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D6E2E2"/>
                </a:solidFill>
                <a:latin typeface="Arial"/>
                <a:ea typeface="Arial"/>
                <a:cs typeface="Arial"/>
              </a:defRPr>
            </a:defPPr>
            <a:lvl1pPr algn="l">
              <a:defRPr sz="1800" b="0">
                <a:solidFill>
                  <a:srgbClr val="D6E2E2"/>
                </a:solidFill>
                <a:latin typeface="Arial"/>
                <a:ea typeface="Arial"/>
                <a:cs typeface="Arial"/>
              </a:defRPr>
            </a:lvl1pPr>
            <a:lvl2pPr algn="l">
              <a:defRPr sz="1800" b="0">
                <a:solidFill>
                  <a:srgbClr val="D6E2E2"/>
                </a:solidFill>
                <a:latin typeface="Arial"/>
                <a:ea typeface="Arial"/>
                <a:cs typeface="Arial"/>
              </a:defRPr>
            </a:lvl2pPr>
            <a:lvl3pPr algn="l">
              <a:defRPr sz="1800" b="0">
                <a:solidFill>
                  <a:srgbClr val="D6E2E2"/>
                </a:solidFill>
                <a:latin typeface="Arial"/>
                <a:ea typeface="Arial"/>
                <a:cs typeface="Arial"/>
              </a:defRPr>
            </a:lvl3pPr>
            <a:lvl4pPr algn="l">
              <a:defRPr sz="1800" b="0">
                <a:solidFill>
                  <a:srgbClr val="D6E2E2"/>
                </a:solidFill>
                <a:latin typeface="Arial"/>
                <a:ea typeface="Arial"/>
                <a:cs typeface="Arial"/>
              </a:defRPr>
            </a:lvl4pPr>
            <a:lvl5pPr algn="l">
              <a:defRPr sz="1800" b="0">
                <a:solidFill>
                  <a:srgbClr val="D6E2E2"/>
                </a:solidFill>
                <a:latin typeface="Arial"/>
                <a:ea typeface="Arial"/>
                <a:cs typeface="Arial"/>
              </a:defRPr>
            </a:lvl5pPr>
            <a:lvl6pPr algn="l">
              <a:defRPr sz="1800" b="0">
                <a:solidFill>
                  <a:srgbClr val="D6E2E2"/>
                </a:solidFill>
                <a:latin typeface="Arial"/>
                <a:ea typeface="Arial"/>
                <a:cs typeface="Arial"/>
              </a:defRPr>
            </a:lvl6pPr>
            <a:lvl7pPr algn="l">
              <a:defRPr sz="1800" b="0">
                <a:solidFill>
                  <a:srgbClr val="D6E2E2"/>
                </a:solidFill>
                <a:latin typeface="Arial"/>
                <a:ea typeface="Arial"/>
                <a:cs typeface="Arial"/>
              </a:defRPr>
            </a:lvl7pPr>
            <a:lvl8pPr algn="l">
              <a:defRPr sz="1800" b="0">
                <a:solidFill>
                  <a:srgbClr val="D6E2E2"/>
                </a:solidFill>
                <a:latin typeface="Arial"/>
                <a:ea typeface="Arial"/>
                <a:cs typeface="Arial"/>
              </a:defRPr>
            </a:lvl8pPr>
            <a:lvl9pPr algn="l">
              <a:defRPr sz="1800" b="0">
                <a:solidFill>
                  <a:srgbClr val="D6E2E2"/>
                </a:solidFill>
                <a:latin typeface="Arial"/>
                <a:ea typeface="Arial"/>
                <a:cs typeface="Arial"/>
              </a:defRPr>
            </a:lvl9pPr>
          </a:lstStyle>
          <a:p xmlns:a="http://schemas.openxmlformats.org/drawingml/2006/main">
            <a:pPr algn="l">
              <a:defRPr sz="1800" b="0">
                <a:solidFill>
                  <a:srgbClr val="D6E2E2"/>
                </a:solidFill>
                <a:latin typeface="Arial"/>
                <a:ea typeface="Arial"/>
                <a:cs typeface="Arial"/>
              </a:defRPr>
            </a:pPr>
            <a:r>
              <a:rPr sz="1800" b="0">
                <a:solidFill>
                  <a:srgbClr val="D6E2E2"/>
                </a:solidFill>
                <a:latin typeface="Arial"/>
                <a:ea typeface="Arial"/>
                <a:cs typeface="Arial"/>
              </a:rPr>
              <a:t>A controlled comparison on synthetic classroom Max-CSP instances</a:t>
            </a:r>
          </a:p>
        </p:txBody>
      </p:sp>
      <p:sp>
        <p:nvSpPr>
          <p:cNvPr id="6" name="">
            <a:extLst xmlns:a="http://schemas.openxmlformats.org/drawingml/2006/main">
              <a:ext uri="{FF2B5EF4-FFF2-40B4-BE49-F238E27FC236}">
                <a16:creationId xmlns:a16="http://schemas.microsoft.com/office/drawing/2014/main" id="{6D7F05F5-EF29-4C6F-9F9C-7F20A93CF494}"/>
              </a:ext>
            </a:extLst>
          </p:cNvPr>
          <p:cNvSpPr>
            <a:spLocks xmlns:a="http://schemas.openxmlformats.org/drawingml/2006/main" noGrp="1"/>
          </p:cNvSpPr>
          <p:nvPr/>
        </p:nvSpPr>
        <p:spPr>
          <a:xfrm xmlns:a="http://schemas.openxmlformats.org/drawingml/2006/main">
            <a:off x="800100" y="539115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9BFC2"/>
                </a:solidFill>
                <a:latin typeface="Arial"/>
                <a:ea typeface="Arial"/>
                <a:cs typeface="Arial"/>
              </a:defRPr>
            </a:defPPr>
            <a:lvl1pPr algn="l">
              <a:defRPr sz="1575" b="0">
                <a:solidFill>
                  <a:srgbClr val="A9BFC2"/>
                </a:solidFill>
                <a:latin typeface="Arial"/>
                <a:ea typeface="Arial"/>
                <a:cs typeface="Arial"/>
              </a:defRPr>
            </a:lvl1pPr>
            <a:lvl2pPr algn="l">
              <a:defRPr sz="1575" b="0">
                <a:solidFill>
                  <a:srgbClr val="A9BFC2"/>
                </a:solidFill>
                <a:latin typeface="Arial"/>
                <a:ea typeface="Arial"/>
                <a:cs typeface="Arial"/>
              </a:defRPr>
            </a:lvl2pPr>
            <a:lvl3pPr algn="l">
              <a:defRPr sz="1575" b="0">
                <a:solidFill>
                  <a:srgbClr val="A9BFC2"/>
                </a:solidFill>
                <a:latin typeface="Arial"/>
                <a:ea typeface="Arial"/>
                <a:cs typeface="Arial"/>
              </a:defRPr>
            </a:lvl3pPr>
            <a:lvl4pPr algn="l">
              <a:defRPr sz="1575" b="0">
                <a:solidFill>
                  <a:srgbClr val="A9BFC2"/>
                </a:solidFill>
                <a:latin typeface="Arial"/>
                <a:ea typeface="Arial"/>
                <a:cs typeface="Arial"/>
              </a:defRPr>
            </a:lvl4pPr>
            <a:lvl5pPr algn="l">
              <a:defRPr sz="1575" b="0">
                <a:solidFill>
                  <a:srgbClr val="A9BFC2"/>
                </a:solidFill>
                <a:latin typeface="Arial"/>
                <a:ea typeface="Arial"/>
                <a:cs typeface="Arial"/>
              </a:defRPr>
            </a:lvl5pPr>
            <a:lvl6pPr algn="l">
              <a:defRPr sz="1575" b="0">
                <a:solidFill>
                  <a:srgbClr val="A9BFC2"/>
                </a:solidFill>
                <a:latin typeface="Arial"/>
                <a:ea typeface="Arial"/>
                <a:cs typeface="Arial"/>
              </a:defRPr>
            </a:lvl6pPr>
            <a:lvl7pPr algn="l">
              <a:defRPr sz="1575" b="0">
                <a:solidFill>
                  <a:srgbClr val="A9BFC2"/>
                </a:solidFill>
                <a:latin typeface="Arial"/>
                <a:ea typeface="Arial"/>
                <a:cs typeface="Arial"/>
              </a:defRPr>
            </a:lvl7pPr>
            <a:lvl8pPr algn="l">
              <a:defRPr sz="1575" b="0">
                <a:solidFill>
                  <a:srgbClr val="A9BFC2"/>
                </a:solidFill>
                <a:latin typeface="Arial"/>
                <a:ea typeface="Arial"/>
                <a:cs typeface="Arial"/>
              </a:defRPr>
            </a:lvl8pPr>
            <a:lvl9pPr algn="l">
              <a:defRPr sz="1575" b="0">
                <a:solidFill>
                  <a:srgbClr val="A9BFC2"/>
                </a:solidFill>
                <a:latin typeface="Arial"/>
                <a:ea typeface="Arial"/>
                <a:cs typeface="Arial"/>
              </a:defRPr>
            </a:lvl9pPr>
          </a:lstStyle>
          <a:p xmlns:a="http://schemas.openxmlformats.org/drawingml/2006/main">
            <a:pPr algn="l">
              <a:defRPr sz="1575" b="0">
                <a:solidFill>
                  <a:srgbClr val="A9BFC2"/>
                </a:solidFill>
                <a:latin typeface="Arial"/>
                <a:ea typeface="Arial"/>
                <a:cs typeface="Arial"/>
              </a:defRPr>
            </a:pPr>
            <a:r>
              <a:rPr sz="1575" b="0">
                <a:solidFill>
                  <a:srgbClr val="A9BFC2"/>
                </a:solidFill>
                <a:latin typeface="Arial"/>
                <a:ea typeface="Arial"/>
                <a:cs typeface="Arial"/>
              </a:rPr>
              <a:t>One selected variable · one shared mutation operator</a:t>
            </a:r>
          </a:p>
        </p:txBody>
      </p:sp>
    </p:spTree>
    <p:extLst>
      <p:ext uri="{BB962C8B-B14F-4D97-AF65-F5344CB8AC3E}">
        <p14:creationId xmlns:p14="http://schemas.microsoft.com/office/powerpoint/2010/main" val="24678201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2" name="slide-2-title">
            <a:extLst xmlns:a="http://schemas.openxmlformats.org/drawingml/2006/main">
              <a:ext uri="{FF2B5EF4-FFF2-40B4-BE49-F238E27FC236}">
                <a16:creationId xmlns:a16="http://schemas.microsoft.com/office/drawing/2014/main" id="{2E3E6F21-4822-4B6C-ACF5-9E67BF0C66F5}"/>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Max-CSP and the 2015 paper context</a:t>
            </a:r>
          </a:p>
        </p:txBody>
      </p:sp>
      <p:sp>
        <p:nvSpPr>
          <p:cNvPr id="2" name="">
            <a:extLst xmlns:a="http://schemas.openxmlformats.org/drawingml/2006/main">
              <a:ext uri="{FF2B5EF4-FFF2-40B4-BE49-F238E27FC236}">
                <a16:creationId xmlns:a16="http://schemas.microsoft.com/office/drawing/2014/main" id="{54E69E73-46E2-4D1B-AA19-C1CC8B070CB2}"/>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AA2BA681-DAAA-43C8-BC98-175F16D094D2}"/>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0E93E0F-1D23-4B9D-BFFB-EE6E940505C5}"/>
              </a:ext>
            </a:extLst>
          </p:cNvPr>
          <p:cNvSpPr>
            <a:spLocks xmlns:a="http://schemas.openxmlformats.org/drawingml/2006/main" noGrp="1"/>
          </p:cNvSpPr>
          <p:nvPr/>
        </p:nvSpPr>
        <p:spPr>
          <a:xfrm xmlns:a="http://schemas.openxmlformats.org/drawingml/2006/main">
            <a:off x="781050" y="13049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defPPr algn="l">
              <a:defRPr sz="1875" b="0">
                <a:solidFill>
                  <a:srgbClr val="526273"/>
                </a:solidFill>
                <a:latin typeface="Arial"/>
                <a:ea typeface="Arial"/>
                <a:cs typeface="Arial"/>
              </a:defRPr>
            </a:defPPr>
            <a:lvl1pPr algn="l">
              <a:defRPr sz="1875" b="0">
                <a:solidFill>
                  <a:srgbClr val="526273"/>
                </a:solidFill>
                <a:latin typeface="Arial"/>
                <a:ea typeface="Arial"/>
                <a:cs typeface="Arial"/>
              </a:defRPr>
            </a:lvl1pPr>
            <a:lvl2pPr algn="l">
              <a:defRPr sz="1875" b="0">
                <a:solidFill>
                  <a:srgbClr val="526273"/>
                </a:solidFill>
                <a:latin typeface="Arial"/>
                <a:ea typeface="Arial"/>
                <a:cs typeface="Arial"/>
              </a:defRPr>
            </a:lvl2pPr>
            <a:lvl3pPr algn="l">
              <a:defRPr sz="1875" b="0">
                <a:solidFill>
                  <a:srgbClr val="526273"/>
                </a:solidFill>
                <a:latin typeface="Arial"/>
                <a:ea typeface="Arial"/>
                <a:cs typeface="Arial"/>
              </a:defRPr>
            </a:lvl3pPr>
            <a:lvl4pPr algn="l">
              <a:defRPr sz="1875" b="0">
                <a:solidFill>
                  <a:srgbClr val="526273"/>
                </a:solidFill>
                <a:latin typeface="Arial"/>
                <a:ea typeface="Arial"/>
                <a:cs typeface="Arial"/>
              </a:defRPr>
            </a:lvl4pPr>
            <a:lvl5pPr algn="l">
              <a:defRPr sz="1875" b="0">
                <a:solidFill>
                  <a:srgbClr val="526273"/>
                </a:solidFill>
                <a:latin typeface="Arial"/>
                <a:ea typeface="Arial"/>
                <a:cs typeface="Arial"/>
              </a:defRPr>
            </a:lvl5pPr>
            <a:lvl6pPr algn="l">
              <a:defRPr sz="1875" b="0">
                <a:solidFill>
                  <a:srgbClr val="526273"/>
                </a:solidFill>
                <a:latin typeface="Arial"/>
                <a:ea typeface="Arial"/>
                <a:cs typeface="Arial"/>
              </a:defRPr>
            </a:lvl6pPr>
            <a:lvl7pPr algn="l">
              <a:defRPr sz="1875" b="0">
                <a:solidFill>
                  <a:srgbClr val="526273"/>
                </a:solidFill>
                <a:latin typeface="Arial"/>
                <a:ea typeface="Arial"/>
                <a:cs typeface="Arial"/>
              </a:defRPr>
            </a:lvl7pPr>
            <a:lvl8pPr algn="l">
              <a:defRPr sz="1875" b="0">
                <a:solidFill>
                  <a:srgbClr val="526273"/>
                </a:solidFill>
                <a:latin typeface="Arial"/>
                <a:ea typeface="Arial"/>
                <a:cs typeface="Arial"/>
              </a:defRPr>
            </a:lvl8pPr>
            <a:lvl9pPr algn="l">
              <a:defRPr sz="1875" b="0">
                <a:solidFill>
                  <a:srgbClr val="526273"/>
                </a:solidFill>
                <a:latin typeface="Arial"/>
                <a:ea typeface="Arial"/>
                <a:cs typeface="Arial"/>
              </a:defRPr>
            </a:lvl9pPr>
          </a:lstStyle>
          <a:p xmlns:a="http://schemas.openxmlformats.org/drawingml/2006/main">
            <a:pPr algn="l">
              <a:defRPr sz="1875" b="0">
                <a:solidFill>
                  <a:srgbClr val="526273"/>
                </a:solidFill>
                <a:latin typeface="Arial"/>
                <a:ea typeface="Arial"/>
                <a:cs typeface="Arial"/>
              </a:defRPr>
            </a:pPr>
            <a:r>
              <a:rPr sz="1875" b="0">
                <a:solidFill>
                  <a:srgbClr val="526273"/>
                </a:solidFill>
                <a:latin typeface="Arial"/>
                <a:ea typeface="Arial"/>
                <a:cs typeface="Arial"/>
              </a:rPr>
              <a:t>A complete assignment chooses one value for every variable. Max-CSP seeks to maximize satisfied constraints.</a:t>
            </a:r>
          </a:p>
        </p:txBody>
      </p:sp>
      <p:sp>
        <p:nvSpPr>
          <p:cNvPr id="5" name="">
            <a:extLst xmlns:a="http://schemas.openxmlformats.org/drawingml/2006/main">
              <a:ext uri="{FF2B5EF4-FFF2-40B4-BE49-F238E27FC236}">
                <a16:creationId xmlns:a16="http://schemas.microsoft.com/office/drawing/2014/main" id="{F1FA9586-2F28-4695-B287-F51FDAB43D63}"/>
              </a:ext>
            </a:extLst>
          </p:cNvPr>
          <p:cNvSpPr>
            <a:spLocks xmlns:a="http://schemas.openxmlformats.org/drawingml/2006/main" noGrp="1"/>
          </p:cNvSpPr>
          <p:nvPr/>
        </p:nvSpPr>
        <p:spPr>
          <a:xfrm xmlns:a="http://schemas.openxmlformats.org/drawingml/2006/main" flipV="1">
            <a:off x="1714500" y="2476500"/>
            <a:ext cx="2047875" cy="714375"/>
          </a:xfrm>
          <a:prstGeom xmlns:a="http://schemas.openxmlformats.org/drawingml/2006/main" prst="line">
            <a:avLst/>
          </a:prstGeom>
          <a:noFill xmlns:a="http://schemas.openxmlformats.org/drawingml/2006/main"/>
          <a:ln xmlns:a="http://schemas.openxmlformats.org/drawingml/2006/main" w="47625">
            <a:solidFill>
              <a:srgbClr val="CC6842"/>
            </a:solidFill>
            <a:prstDash val="solid"/>
          </a:ln>
        </p:spPr>
      </p:sp>
      <p:sp>
        <p:nvSpPr>
          <p:cNvPr id="6" name="">
            <a:extLst xmlns:a="http://schemas.openxmlformats.org/drawingml/2006/main">
              <a:ext uri="{FF2B5EF4-FFF2-40B4-BE49-F238E27FC236}">
                <a16:creationId xmlns:a16="http://schemas.microsoft.com/office/drawing/2014/main" id="{12535F2E-21AF-4D05-80A9-1B198BFA24F6}"/>
              </a:ext>
            </a:extLst>
          </p:cNvPr>
          <p:cNvSpPr>
            <a:spLocks xmlns:a="http://schemas.openxmlformats.org/drawingml/2006/main" noGrp="1"/>
          </p:cNvSpPr>
          <p:nvPr/>
        </p:nvSpPr>
        <p:spPr>
          <a:xfrm xmlns:a="http://schemas.openxmlformats.org/drawingml/2006/main" flipV="0">
            <a:off x="1714500" y="3190875"/>
            <a:ext cx="2047875" cy="809625"/>
          </a:xfrm>
          <a:prstGeom xmlns:a="http://schemas.openxmlformats.org/drawingml/2006/main" prst="line">
            <a:avLst/>
          </a:prstGeom>
          <a:noFill xmlns:a="http://schemas.openxmlformats.org/drawingml/2006/main"/>
          <a:ln xmlns:a="http://schemas.openxmlformats.org/drawingml/2006/main" w="47625">
            <a:solidFill>
              <a:srgbClr val="117C7B"/>
            </a:solidFill>
            <a:prstDash val="solid"/>
          </a:ln>
        </p:spPr>
      </p:sp>
      <p:sp>
        <p:nvSpPr>
          <p:cNvPr id="7" name="">
            <a:extLst xmlns:a="http://schemas.openxmlformats.org/drawingml/2006/main">
              <a:ext uri="{FF2B5EF4-FFF2-40B4-BE49-F238E27FC236}">
                <a16:creationId xmlns:a16="http://schemas.microsoft.com/office/drawing/2014/main" id="{DD755A95-261B-4765-954E-A56F299A5160}"/>
              </a:ext>
            </a:extLst>
          </p:cNvPr>
          <p:cNvSpPr>
            <a:spLocks xmlns:a="http://schemas.openxmlformats.org/drawingml/2006/main" noGrp="1"/>
          </p:cNvSpPr>
          <p:nvPr/>
        </p:nvSpPr>
        <p:spPr>
          <a:xfrm xmlns:a="http://schemas.openxmlformats.org/drawingml/2006/main" flipV="0">
            <a:off x="3762375" y="2476500"/>
            <a:ext cx="0" cy="1524000"/>
          </a:xfrm>
          <a:prstGeom xmlns:a="http://schemas.openxmlformats.org/drawingml/2006/main" prst="line">
            <a:avLst/>
          </a:prstGeom>
          <a:noFill xmlns:a="http://schemas.openxmlformats.org/drawingml/2006/main"/>
          <a:ln xmlns:a="http://schemas.openxmlformats.org/drawingml/2006/main" w="47625">
            <a:solidFill>
              <a:srgbClr val="117C7B"/>
            </a:solidFill>
            <a:prstDash val="solid"/>
          </a:ln>
        </p:spPr>
      </p:sp>
      <p:sp>
        <p:nvSpPr>
          <p:cNvPr id="8" name="">
            <a:extLst xmlns:a="http://schemas.openxmlformats.org/drawingml/2006/main">
              <a:ext uri="{FF2B5EF4-FFF2-40B4-BE49-F238E27FC236}">
                <a16:creationId xmlns:a16="http://schemas.microsoft.com/office/drawing/2014/main" id="{4C4683E9-D8D1-484F-8BF3-D88E8C7E9DEE}"/>
              </a:ext>
            </a:extLst>
          </p:cNvPr>
          <p:cNvSpPr>
            <a:spLocks xmlns:a="http://schemas.openxmlformats.org/drawingml/2006/main" noGrp="1"/>
          </p:cNvSpPr>
          <p:nvPr/>
        </p:nvSpPr>
        <p:spPr>
          <a:xfrm xmlns:a="http://schemas.openxmlformats.org/drawingml/2006/main">
            <a:off x="1304925" y="2781300"/>
            <a:ext cx="819150" cy="819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D2935"/>
            </a:solidFill>
            <a:prstDash val="solid"/>
          </a:ln>
        </p:spPr>
      </p:sp>
      <p:sp>
        <p:nvSpPr>
          <p:cNvPr id="9" name="">
            <a:extLst xmlns:a="http://schemas.openxmlformats.org/drawingml/2006/main">
              <a:ext uri="{FF2B5EF4-FFF2-40B4-BE49-F238E27FC236}">
                <a16:creationId xmlns:a16="http://schemas.microsoft.com/office/drawing/2014/main" id="{6EEB8737-0AE8-47C4-BE3C-05366677E2C3}"/>
              </a:ext>
            </a:extLst>
          </p:cNvPr>
          <p:cNvSpPr>
            <a:spLocks xmlns:a="http://schemas.openxmlformats.org/drawingml/2006/main" noGrp="1"/>
          </p:cNvSpPr>
          <p:nvPr/>
        </p:nvSpPr>
        <p:spPr>
          <a:xfrm xmlns:a="http://schemas.openxmlformats.org/drawingml/2006/main">
            <a:off x="1428750" y="30384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52536"/>
                </a:solidFill>
                <a:latin typeface="Arial"/>
                <a:ea typeface="Arial"/>
                <a:cs typeface="Arial"/>
              </a:defRPr>
            </a:defPPr>
            <a:lvl1pPr algn="ctr">
              <a:defRPr sz="1800" b="1">
                <a:solidFill>
                  <a:srgbClr val="152536"/>
                </a:solidFill>
                <a:latin typeface="Arial"/>
                <a:ea typeface="Arial"/>
                <a:cs typeface="Arial"/>
              </a:defRPr>
            </a:lvl1pPr>
            <a:lvl2pPr algn="ctr">
              <a:defRPr sz="1800" b="1">
                <a:solidFill>
                  <a:srgbClr val="152536"/>
                </a:solidFill>
                <a:latin typeface="Arial"/>
                <a:ea typeface="Arial"/>
                <a:cs typeface="Arial"/>
              </a:defRPr>
            </a:lvl2pPr>
            <a:lvl3pPr algn="ctr">
              <a:defRPr sz="1800" b="1">
                <a:solidFill>
                  <a:srgbClr val="152536"/>
                </a:solidFill>
                <a:latin typeface="Arial"/>
                <a:ea typeface="Arial"/>
                <a:cs typeface="Arial"/>
              </a:defRPr>
            </a:lvl3pPr>
            <a:lvl4pPr algn="ctr">
              <a:defRPr sz="1800" b="1">
                <a:solidFill>
                  <a:srgbClr val="152536"/>
                </a:solidFill>
                <a:latin typeface="Arial"/>
                <a:ea typeface="Arial"/>
                <a:cs typeface="Arial"/>
              </a:defRPr>
            </a:lvl4pPr>
            <a:lvl5pPr algn="ctr">
              <a:defRPr sz="1800" b="1">
                <a:solidFill>
                  <a:srgbClr val="152536"/>
                </a:solidFill>
                <a:latin typeface="Arial"/>
                <a:ea typeface="Arial"/>
                <a:cs typeface="Arial"/>
              </a:defRPr>
            </a:lvl5pPr>
            <a:lvl6pPr algn="ctr">
              <a:defRPr sz="1800" b="1">
                <a:solidFill>
                  <a:srgbClr val="152536"/>
                </a:solidFill>
                <a:latin typeface="Arial"/>
                <a:ea typeface="Arial"/>
                <a:cs typeface="Arial"/>
              </a:defRPr>
            </a:lvl6pPr>
            <a:lvl7pPr algn="ctr">
              <a:defRPr sz="1800" b="1">
                <a:solidFill>
                  <a:srgbClr val="152536"/>
                </a:solidFill>
                <a:latin typeface="Arial"/>
                <a:ea typeface="Arial"/>
                <a:cs typeface="Arial"/>
              </a:defRPr>
            </a:lvl7pPr>
            <a:lvl8pPr algn="ctr">
              <a:defRPr sz="1800" b="1">
                <a:solidFill>
                  <a:srgbClr val="152536"/>
                </a:solidFill>
                <a:latin typeface="Arial"/>
                <a:ea typeface="Arial"/>
                <a:cs typeface="Arial"/>
              </a:defRPr>
            </a:lvl8pPr>
            <a:lvl9pPr algn="ctr">
              <a:defRPr sz="1800" b="1">
                <a:solidFill>
                  <a:srgbClr val="152536"/>
                </a:solidFill>
                <a:latin typeface="Arial"/>
                <a:ea typeface="Arial"/>
                <a:cs typeface="Arial"/>
              </a:defRPr>
            </a:lvl9pPr>
          </a:lstStyle>
          <a:p xmlns:a="http://schemas.openxmlformats.org/drawingml/2006/main">
            <a:pPr algn="ctr">
              <a:defRPr sz="1800" b="1">
                <a:solidFill>
                  <a:srgbClr val="152536"/>
                </a:solidFill>
                <a:latin typeface="Arial"/>
                <a:ea typeface="Arial"/>
                <a:cs typeface="Arial"/>
              </a:defRPr>
            </a:pPr>
            <a:r>
              <a:rPr sz="1800" b="1">
                <a:solidFill>
                  <a:srgbClr val="152536"/>
                </a:solidFill>
                <a:latin typeface="Arial"/>
                <a:ea typeface="Arial"/>
                <a:cs typeface="Arial"/>
              </a:rPr>
              <a:t>X1</a:t>
            </a:r>
          </a:p>
        </p:txBody>
      </p:sp>
      <p:sp>
        <p:nvSpPr>
          <p:cNvPr id="10" name="">
            <a:extLst xmlns:a="http://schemas.openxmlformats.org/drawingml/2006/main">
              <a:ext uri="{FF2B5EF4-FFF2-40B4-BE49-F238E27FC236}">
                <a16:creationId xmlns:a16="http://schemas.microsoft.com/office/drawing/2014/main" id="{5E8872C1-3175-4DDB-AA31-0BE4DD80B88C}"/>
              </a:ext>
            </a:extLst>
          </p:cNvPr>
          <p:cNvSpPr>
            <a:spLocks xmlns:a="http://schemas.openxmlformats.org/drawingml/2006/main" noGrp="1"/>
          </p:cNvSpPr>
          <p:nvPr/>
        </p:nvSpPr>
        <p:spPr>
          <a:xfrm xmlns:a="http://schemas.openxmlformats.org/drawingml/2006/main">
            <a:off x="3352800" y="2066925"/>
            <a:ext cx="819150" cy="819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D2935"/>
            </a:solidFill>
            <a:prstDash val="solid"/>
          </a:ln>
        </p:spPr>
      </p:sp>
      <p:sp>
        <p:nvSpPr>
          <p:cNvPr id="11" name="">
            <a:extLst xmlns:a="http://schemas.openxmlformats.org/drawingml/2006/main">
              <a:ext uri="{FF2B5EF4-FFF2-40B4-BE49-F238E27FC236}">
                <a16:creationId xmlns:a16="http://schemas.microsoft.com/office/drawing/2014/main" id="{646E7130-EE06-48EE-866B-5F7982029A1D}"/>
              </a:ext>
            </a:extLst>
          </p:cNvPr>
          <p:cNvSpPr>
            <a:spLocks xmlns:a="http://schemas.openxmlformats.org/drawingml/2006/main" noGrp="1"/>
          </p:cNvSpPr>
          <p:nvPr/>
        </p:nvSpPr>
        <p:spPr>
          <a:xfrm xmlns:a="http://schemas.openxmlformats.org/drawingml/2006/main">
            <a:off x="3476625" y="23241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52536"/>
                </a:solidFill>
                <a:latin typeface="Arial"/>
                <a:ea typeface="Arial"/>
                <a:cs typeface="Arial"/>
              </a:defRPr>
            </a:defPPr>
            <a:lvl1pPr algn="ctr">
              <a:defRPr sz="1800" b="1">
                <a:solidFill>
                  <a:srgbClr val="152536"/>
                </a:solidFill>
                <a:latin typeface="Arial"/>
                <a:ea typeface="Arial"/>
                <a:cs typeface="Arial"/>
              </a:defRPr>
            </a:lvl1pPr>
            <a:lvl2pPr algn="ctr">
              <a:defRPr sz="1800" b="1">
                <a:solidFill>
                  <a:srgbClr val="152536"/>
                </a:solidFill>
                <a:latin typeface="Arial"/>
                <a:ea typeface="Arial"/>
                <a:cs typeface="Arial"/>
              </a:defRPr>
            </a:lvl2pPr>
            <a:lvl3pPr algn="ctr">
              <a:defRPr sz="1800" b="1">
                <a:solidFill>
                  <a:srgbClr val="152536"/>
                </a:solidFill>
                <a:latin typeface="Arial"/>
                <a:ea typeface="Arial"/>
                <a:cs typeface="Arial"/>
              </a:defRPr>
            </a:lvl3pPr>
            <a:lvl4pPr algn="ctr">
              <a:defRPr sz="1800" b="1">
                <a:solidFill>
                  <a:srgbClr val="152536"/>
                </a:solidFill>
                <a:latin typeface="Arial"/>
                <a:ea typeface="Arial"/>
                <a:cs typeface="Arial"/>
              </a:defRPr>
            </a:lvl4pPr>
            <a:lvl5pPr algn="ctr">
              <a:defRPr sz="1800" b="1">
                <a:solidFill>
                  <a:srgbClr val="152536"/>
                </a:solidFill>
                <a:latin typeface="Arial"/>
                <a:ea typeface="Arial"/>
                <a:cs typeface="Arial"/>
              </a:defRPr>
            </a:lvl5pPr>
            <a:lvl6pPr algn="ctr">
              <a:defRPr sz="1800" b="1">
                <a:solidFill>
                  <a:srgbClr val="152536"/>
                </a:solidFill>
                <a:latin typeface="Arial"/>
                <a:ea typeface="Arial"/>
                <a:cs typeface="Arial"/>
              </a:defRPr>
            </a:lvl6pPr>
            <a:lvl7pPr algn="ctr">
              <a:defRPr sz="1800" b="1">
                <a:solidFill>
                  <a:srgbClr val="152536"/>
                </a:solidFill>
                <a:latin typeface="Arial"/>
                <a:ea typeface="Arial"/>
                <a:cs typeface="Arial"/>
              </a:defRPr>
            </a:lvl7pPr>
            <a:lvl8pPr algn="ctr">
              <a:defRPr sz="1800" b="1">
                <a:solidFill>
                  <a:srgbClr val="152536"/>
                </a:solidFill>
                <a:latin typeface="Arial"/>
                <a:ea typeface="Arial"/>
                <a:cs typeface="Arial"/>
              </a:defRPr>
            </a:lvl8pPr>
            <a:lvl9pPr algn="ctr">
              <a:defRPr sz="1800" b="1">
                <a:solidFill>
                  <a:srgbClr val="152536"/>
                </a:solidFill>
                <a:latin typeface="Arial"/>
                <a:ea typeface="Arial"/>
                <a:cs typeface="Arial"/>
              </a:defRPr>
            </a:lvl9pPr>
          </a:lstStyle>
          <a:p xmlns:a="http://schemas.openxmlformats.org/drawingml/2006/main">
            <a:pPr algn="ctr">
              <a:defRPr sz="1800" b="1">
                <a:solidFill>
                  <a:srgbClr val="152536"/>
                </a:solidFill>
                <a:latin typeface="Arial"/>
                <a:ea typeface="Arial"/>
                <a:cs typeface="Arial"/>
              </a:defRPr>
            </a:pPr>
            <a:r>
              <a:rPr sz="1800" b="1">
                <a:solidFill>
                  <a:srgbClr val="152536"/>
                </a:solidFill>
                <a:latin typeface="Arial"/>
                <a:ea typeface="Arial"/>
                <a:cs typeface="Arial"/>
              </a:rPr>
              <a:t>X2</a:t>
            </a:r>
          </a:p>
        </p:txBody>
      </p:sp>
      <p:sp>
        <p:nvSpPr>
          <p:cNvPr id="12" name="">
            <a:extLst xmlns:a="http://schemas.openxmlformats.org/drawingml/2006/main">
              <a:ext uri="{FF2B5EF4-FFF2-40B4-BE49-F238E27FC236}">
                <a16:creationId xmlns:a16="http://schemas.microsoft.com/office/drawing/2014/main" id="{8CACB37F-EDB0-4339-BEA5-428A9AC9D02E}"/>
              </a:ext>
            </a:extLst>
          </p:cNvPr>
          <p:cNvSpPr>
            <a:spLocks xmlns:a="http://schemas.openxmlformats.org/drawingml/2006/main" noGrp="1"/>
          </p:cNvSpPr>
          <p:nvPr/>
        </p:nvSpPr>
        <p:spPr>
          <a:xfrm xmlns:a="http://schemas.openxmlformats.org/drawingml/2006/main">
            <a:off x="3352800" y="3590925"/>
            <a:ext cx="819150" cy="819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D2935"/>
            </a:solidFill>
            <a:prstDash val="solid"/>
          </a:ln>
        </p:spPr>
      </p:sp>
      <p:sp>
        <p:nvSpPr>
          <p:cNvPr id="13" name="">
            <a:extLst xmlns:a="http://schemas.openxmlformats.org/drawingml/2006/main">
              <a:ext uri="{FF2B5EF4-FFF2-40B4-BE49-F238E27FC236}">
                <a16:creationId xmlns:a16="http://schemas.microsoft.com/office/drawing/2014/main" id="{E84E06C5-3414-4E8F-B759-AA7BC415A911}"/>
              </a:ext>
            </a:extLst>
          </p:cNvPr>
          <p:cNvSpPr>
            <a:spLocks xmlns:a="http://schemas.openxmlformats.org/drawingml/2006/main" noGrp="1"/>
          </p:cNvSpPr>
          <p:nvPr/>
        </p:nvSpPr>
        <p:spPr>
          <a:xfrm xmlns:a="http://schemas.openxmlformats.org/drawingml/2006/main">
            <a:off x="3476625" y="38481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52536"/>
                </a:solidFill>
                <a:latin typeface="Arial"/>
                <a:ea typeface="Arial"/>
                <a:cs typeface="Arial"/>
              </a:defRPr>
            </a:defPPr>
            <a:lvl1pPr algn="ctr">
              <a:defRPr sz="1800" b="1">
                <a:solidFill>
                  <a:srgbClr val="152536"/>
                </a:solidFill>
                <a:latin typeface="Arial"/>
                <a:ea typeface="Arial"/>
                <a:cs typeface="Arial"/>
              </a:defRPr>
            </a:lvl1pPr>
            <a:lvl2pPr algn="ctr">
              <a:defRPr sz="1800" b="1">
                <a:solidFill>
                  <a:srgbClr val="152536"/>
                </a:solidFill>
                <a:latin typeface="Arial"/>
                <a:ea typeface="Arial"/>
                <a:cs typeface="Arial"/>
              </a:defRPr>
            </a:lvl2pPr>
            <a:lvl3pPr algn="ctr">
              <a:defRPr sz="1800" b="1">
                <a:solidFill>
                  <a:srgbClr val="152536"/>
                </a:solidFill>
                <a:latin typeface="Arial"/>
                <a:ea typeface="Arial"/>
                <a:cs typeface="Arial"/>
              </a:defRPr>
            </a:lvl3pPr>
            <a:lvl4pPr algn="ctr">
              <a:defRPr sz="1800" b="1">
                <a:solidFill>
                  <a:srgbClr val="152536"/>
                </a:solidFill>
                <a:latin typeface="Arial"/>
                <a:ea typeface="Arial"/>
                <a:cs typeface="Arial"/>
              </a:defRPr>
            </a:lvl4pPr>
            <a:lvl5pPr algn="ctr">
              <a:defRPr sz="1800" b="1">
                <a:solidFill>
                  <a:srgbClr val="152536"/>
                </a:solidFill>
                <a:latin typeface="Arial"/>
                <a:ea typeface="Arial"/>
                <a:cs typeface="Arial"/>
              </a:defRPr>
            </a:lvl5pPr>
            <a:lvl6pPr algn="ctr">
              <a:defRPr sz="1800" b="1">
                <a:solidFill>
                  <a:srgbClr val="152536"/>
                </a:solidFill>
                <a:latin typeface="Arial"/>
                <a:ea typeface="Arial"/>
                <a:cs typeface="Arial"/>
              </a:defRPr>
            </a:lvl6pPr>
            <a:lvl7pPr algn="ctr">
              <a:defRPr sz="1800" b="1">
                <a:solidFill>
                  <a:srgbClr val="152536"/>
                </a:solidFill>
                <a:latin typeface="Arial"/>
                <a:ea typeface="Arial"/>
                <a:cs typeface="Arial"/>
              </a:defRPr>
            </a:lvl7pPr>
            <a:lvl8pPr algn="ctr">
              <a:defRPr sz="1800" b="1">
                <a:solidFill>
                  <a:srgbClr val="152536"/>
                </a:solidFill>
                <a:latin typeface="Arial"/>
                <a:ea typeface="Arial"/>
                <a:cs typeface="Arial"/>
              </a:defRPr>
            </a:lvl8pPr>
            <a:lvl9pPr algn="ctr">
              <a:defRPr sz="1800" b="1">
                <a:solidFill>
                  <a:srgbClr val="152536"/>
                </a:solidFill>
                <a:latin typeface="Arial"/>
                <a:ea typeface="Arial"/>
                <a:cs typeface="Arial"/>
              </a:defRPr>
            </a:lvl9pPr>
          </a:lstStyle>
          <a:p xmlns:a="http://schemas.openxmlformats.org/drawingml/2006/main">
            <a:pPr algn="ctr">
              <a:defRPr sz="1800" b="1">
                <a:solidFill>
                  <a:srgbClr val="152536"/>
                </a:solidFill>
                <a:latin typeface="Arial"/>
                <a:ea typeface="Arial"/>
                <a:cs typeface="Arial"/>
              </a:defRPr>
            </a:pPr>
            <a:r>
              <a:rPr sz="1800" b="1">
                <a:solidFill>
                  <a:srgbClr val="152536"/>
                </a:solidFill>
                <a:latin typeface="Arial"/>
                <a:ea typeface="Arial"/>
                <a:cs typeface="Arial"/>
              </a:rPr>
              <a:t>X3</a:t>
            </a:r>
          </a:p>
        </p:txBody>
      </p:sp>
      <p:sp>
        <p:nvSpPr>
          <p:cNvPr id="14" name="">
            <a:extLst xmlns:a="http://schemas.openxmlformats.org/drawingml/2006/main">
              <a:ext uri="{FF2B5EF4-FFF2-40B4-BE49-F238E27FC236}">
                <a16:creationId xmlns:a16="http://schemas.microsoft.com/office/drawing/2014/main" id="{98F0F352-7B83-4163-8A0F-D2FB173D744F}"/>
              </a:ext>
            </a:extLst>
          </p:cNvPr>
          <p:cNvSpPr>
            <a:spLocks xmlns:a="http://schemas.openxmlformats.org/drawingml/2006/main" noGrp="1"/>
          </p:cNvSpPr>
          <p:nvPr/>
        </p:nvSpPr>
        <p:spPr>
          <a:xfrm xmlns:a="http://schemas.openxmlformats.org/drawingml/2006/main">
            <a:off x="866775" y="451485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CC6842"/>
                </a:solidFill>
                <a:latin typeface="Arial"/>
                <a:ea typeface="Arial"/>
                <a:cs typeface="Arial"/>
              </a:defRPr>
            </a:defPPr>
            <a:lvl1pPr algn="ctr">
              <a:defRPr sz="1350" b="1">
                <a:solidFill>
                  <a:srgbClr val="CC6842"/>
                </a:solidFill>
                <a:latin typeface="Arial"/>
                <a:ea typeface="Arial"/>
                <a:cs typeface="Arial"/>
              </a:defRPr>
            </a:lvl1pPr>
            <a:lvl2pPr algn="ctr">
              <a:defRPr sz="1350" b="1">
                <a:solidFill>
                  <a:srgbClr val="CC6842"/>
                </a:solidFill>
                <a:latin typeface="Arial"/>
                <a:ea typeface="Arial"/>
                <a:cs typeface="Arial"/>
              </a:defRPr>
            </a:lvl2pPr>
            <a:lvl3pPr algn="ctr">
              <a:defRPr sz="1350" b="1">
                <a:solidFill>
                  <a:srgbClr val="CC6842"/>
                </a:solidFill>
                <a:latin typeface="Arial"/>
                <a:ea typeface="Arial"/>
                <a:cs typeface="Arial"/>
              </a:defRPr>
            </a:lvl3pPr>
            <a:lvl4pPr algn="ctr">
              <a:defRPr sz="1350" b="1">
                <a:solidFill>
                  <a:srgbClr val="CC6842"/>
                </a:solidFill>
                <a:latin typeface="Arial"/>
                <a:ea typeface="Arial"/>
                <a:cs typeface="Arial"/>
              </a:defRPr>
            </a:lvl4pPr>
            <a:lvl5pPr algn="ctr">
              <a:defRPr sz="1350" b="1">
                <a:solidFill>
                  <a:srgbClr val="CC6842"/>
                </a:solidFill>
                <a:latin typeface="Arial"/>
                <a:ea typeface="Arial"/>
                <a:cs typeface="Arial"/>
              </a:defRPr>
            </a:lvl5pPr>
            <a:lvl6pPr algn="ctr">
              <a:defRPr sz="1350" b="1">
                <a:solidFill>
                  <a:srgbClr val="CC6842"/>
                </a:solidFill>
                <a:latin typeface="Arial"/>
                <a:ea typeface="Arial"/>
                <a:cs typeface="Arial"/>
              </a:defRPr>
            </a:lvl6pPr>
            <a:lvl7pPr algn="ctr">
              <a:defRPr sz="1350" b="1">
                <a:solidFill>
                  <a:srgbClr val="CC6842"/>
                </a:solidFill>
                <a:latin typeface="Arial"/>
                <a:ea typeface="Arial"/>
                <a:cs typeface="Arial"/>
              </a:defRPr>
            </a:lvl7pPr>
            <a:lvl8pPr algn="ctr">
              <a:defRPr sz="1350" b="1">
                <a:solidFill>
                  <a:srgbClr val="CC6842"/>
                </a:solidFill>
                <a:latin typeface="Arial"/>
                <a:ea typeface="Arial"/>
                <a:cs typeface="Arial"/>
              </a:defRPr>
            </a:lvl8pPr>
            <a:lvl9pPr algn="ctr">
              <a:defRPr sz="1350" b="1">
                <a:solidFill>
                  <a:srgbClr val="CC6842"/>
                </a:solidFill>
                <a:latin typeface="Arial"/>
                <a:ea typeface="Arial"/>
                <a:cs typeface="Arial"/>
              </a:defRPr>
            </a:lvl9pPr>
          </a:lstStyle>
          <a:p xmlns:a="http://schemas.openxmlformats.org/drawingml/2006/main">
            <a:pPr algn="ctr">
              <a:defRPr sz="1350" b="1">
                <a:solidFill>
                  <a:srgbClr val="CC6842"/>
                </a:solidFill>
                <a:latin typeface="Arial"/>
                <a:ea typeface="Arial"/>
                <a:cs typeface="Arial"/>
              </a:defRPr>
            </a:pPr>
            <a:r>
              <a:rPr sz="1350" b="1">
                <a:solidFill>
                  <a:srgbClr val="CC6842"/>
                </a:solidFill>
                <a:latin typeface="Arial"/>
                <a:ea typeface="Arial"/>
                <a:cs typeface="Arial"/>
              </a:rPr>
              <a:t>one violated constraint</a:t>
            </a:r>
          </a:p>
        </p:txBody>
      </p:sp>
      <p:sp>
        <p:nvSpPr>
          <p:cNvPr id="15" name="">
            <a:extLst xmlns:a="http://schemas.openxmlformats.org/drawingml/2006/main">
              <a:ext uri="{FF2B5EF4-FFF2-40B4-BE49-F238E27FC236}">
                <a16:creationId xmlns:a16="http://schemas.microsoft.com/office/drawing/2014/main" id="{D3E44A2B-83DD-41E5-A482-0A9FF84D62C8}"/>
              </a:ext>
            </a:extLst>
          </p:cNvPr>
          <p:cNvSpPr>
            <a:spLocks xmlns:a="http://schemas.openxmlformats.org/drawingml/2006/main" noGrp="1"/>
          </p:cNvSpPr>
          <p:nvPr/>
        </p:nvSpPr>
        <p:spPr>
          <a:xfrm xmlns:a="http://schemas.openxmlformats.org/drawingml/2006/main">
            <a:off x="3276600" y="45148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117C7B"/>
                </a:solidFill>
                <a:latin typeface="Arial"/>
                <a:ea typeface="Arial"/>
                <a:cs typeface="Arial"/>
              </a:defRPr>
            </a:defPPr>
            <a:lvl1pPr algn="ctr">
              <a:defRPr sz="1350" b="1">
                <a:solidFill>
                  <a:srgbClr val="117C7B"/>
                </a:solidFill>
                <a:latin typeface="Arial"/>
                <a:ea typeface="Arial"/>
                <a:cs typeface="Arial"/>
              </a:defRPr>
            </a:lvl1pPr>
            <a:lvl2pPr algn="ctr">
              <a:defRPr sz="1350" b="1">
                <a:solidFill>
                  <a:srgbClr val="117C7B"/>
                </a:solidFill>
                <a:latin typeface="Arial"/>
                <a:ea typeface="Arial"/>
                <a:cs typeface="Arial"/>
              </a:defRPr>
            </a:lvl2pPr>
            <a:lvl3pPr algn="ctr">
              <a:defRPr sz="1350" b="1">
                <a:solidFill>
                  <a:srgbClr val="117C7B"/>
                </a:solidFill>
                <a:latin typeface="Arial"/>
                <a:ea typeface="Arial"/>
                <a:cs typeface="Arial"/>
              </a:defRPr>
            </a:lvl3pPr>
            <a:lvl4pPr algn="ctr">
              <a:defRPr sz="1350" b="1">
                <a:solidFill>
                  <a:srgbClr val="117C7B"/>
                </a:solidFill>
                <a:latin typeface="Arial"/>
                <a:ea typeface="Arial"/>
                <a:cs typeface="Arial"/>
              </a:defRPr>
            </a:lvl4pPr>
            <a:lvl5pPr algn="ctr">
              <a:defRPr sz="1350" b="1">
                <a:solidFill>
                  <a:srgbClr val="117C7B"/>
                </a:solidFill>
                <a:latin typeface="Arial"/>
                <a:ea typeface="Arial"/>
                <a:cs typeface="Arial"/>
              </a:defRPr>
            </a:lvl5pPr>
            <a:lvl6pPr algn="ctr">
              <a:defRPr sz="1350" b="1">
                <a:solidFill>
                  <a:srgbClr val="117C7B"/>
                </a:solidFill>
                <a:latin typeface="Arial"/>
                <a:ea typeface="Arial"/>
                <a:cs typeface="Arial"/>
              </a:defRPr>
            </a:lvl6pPr>
            <a:lvl7pPr algn="ctr">
              <a:defRPr sz="1350" b="1">
                <a:solidFill>
                  <a:srgbClr val="117C7B"/>
                </a:solidFill>
                <a:latin typeface="Arial"/>
                <a:ea typeface="Arial"/>
                <a:cs typeface="Arial"/>
              </a:defRPr>
            </a:lvl7pPr>
            <a:lvl8pPr algn="ctr">
              <a:defRPr sz="1350" b="1">
                <a:solidFill>
                  <a:srgbClr val="117C7B"/>
                </a:solidFill>
                <a:latin typeface="Arial"/>
                <a:ea typeface="Arial"/>
                <a:cs typeface="Arial"/>
              </a:defRPr>
            </a:lvl8pPr>
            <a:lvl9pPr algn="ctr">
              <a:defRPr sz="1350" b="1">
                <a:solidFill>
                  <a:srgbClr val="117C7B"/>
                </a:solidFill>
                <a:latin typeface="Arial"/>
                <a:ea typeface="Arial"/>
                <a:cs typeface="Arial"/>
              </a:defRPr>
            </a:lvl9pPr>
          </a:lstStyle>
          <a:p xmlns:a="http://schemas.openxmlformats.org/drawingml/2006/main">
            <a:pPr algn="ctr">
              <a:defRPr sz="1350" b="1">
                <a:solidFill>
                  <a:srgbClr val="117C7B"/>
                </a:solidFill>
                <a:latin typeface="Arial"/>
                <a:ea typeface="Arial"/>
                <a:cs typeface="Arial"/>
              </a:defRPr>
            </a:pPr>
            <a:r>
              <a:rPr sz="1350" b="1">
                <a:solidFill>
                  <a:srgbClr val="117C7B"/>
                </a:solidFill>
                <a:latin typeface="Arial"/>
                <a:ea typeface="Arial"/>
                <a:cs typeface="Arial"/>
              </a:rPr>
              <a:t>two satisfied constraints</a:t>
            </a:r>
          </a:p>
        </p:txBody>
      </p:sp>
      <p:sp>
        <p:nvSpPr>
          <p:cNvPr id="16" name="">
            <a:extLst xmlns:a="http://schemas.openxmlformats.org/drawingml/2006/main">
              <a:ext uri="{FF2B5EF4-FFF2-40B4-BE49-F238E27FC236}">
                <a16:creationId xmlns:a16="http://schemas.microsoft.com/office/drawing/2014/main" id="{1963AF16-8E69-472F-9186-5092CC2DDF00}"/>
              </a:ext>
            </a:extLst>
          </p:cNvPr>
          <p:cNvSpPr>
            <a:spLocks xmlns:a="http://schemas.openxmlformats.org/drawingml/2006/main" noGrp="1"/>
          </p:cNvSpPr>
          <p:nvPr/>
        </p:nvSpPr>
        <p:spPr>
          <a:xfrm xmlns:a="http://schemas.openxmlformats.org/drawingml/2006/main" flipV="0">
            <a:off x="6191250" y="1581150"/>
            <a:ext cx="0" cy="3867150"/>
          </a:xfrm>
          <a:prstGeom xmlns:a="http://schemas.openxmlformats.org/drawingml/2006/main" prst="line">
            <a:avLst/>
          </a:prstGeom>
          <a:noFill xmlns:a="http://schemas.openxmlformats.org/drawingml/2006/main"/>
          <a:ln xmlns:a="http://schemas.openxmlformats.org/drawingml/2006/main" w="14288">
            <a:solidFill>
              <a:srgbClr val="B8C5C8"/>
            </a:solidFill>
            <a:prstDash val="solid"/>
          </a:ln>
        </p:spPr>
      </p:sp>
      <p:sp>
        <p:nvSpPr>
          <p:cNvPr id="17" name="">
            <a:extLst xmlns:a="http://schemas.openxmlformats.org/drawingml/2006/main">
              <a:ext uri="{FF2B5EF4-FFF2-40B4-BE49-F238E27FC236}">
                <a16:creationId xmlns:a16="http://schemas.microsoft.com/office/drawing/2014/main" id="{4AF2FBE4-0652-486C-96C0-32C174F3E446}"/>
              </a:ext>
            </a:extLst>
          </p:cNvPr>
          <p:cNvSpPr>
            <a:spLocks xmlns:a="http://schemas.openxmlformats.org/drawingml/2006/main" noGrp="1"/>
          </p:cNvSpPr>
          <p:nvPr/>
        </p:nvSpPr>
        <p:spPr>
          <a:xfrm xmlns:a="http://schemas.openxmlformats.org/drawingml/2006/main">
            <a:off x="6667500" y="165735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17C7B"/>
                </a:solidFill>
                <a:latin typeface="Arial"/>
                <a:ea typeface="Arial"/>
                <a:cs typeface="Arial"/>
              </a:defRPr>
            </a:defPPr>
            <a:lvl1pPr algn="l">
              <a:defRPr sz="2025" b="1">
                <a:solidFill>
                  <a:srgbClr val="117C7B"/>
                </a:solidFill>
                <a:latin typeface="Arial"/>
                <a:ea typeface="Arial"/>
                <a:cs typeface="Arial"/>
              </a:defRPr>
            </a:lvl1pPr>
            <a:lvl2pPr algn="l">
              <a:defRPr sz="2025" b="1">
                <a:solidFill>
                  <a:srgbClr val="117C7B"/>
                </a:solidFill>
                <a:latin typeface="Arial"/>
                <a:ea typeface="Arial"/>
                <a:cs typeface="Arial"/>
              </a:defRPr>
            </a:lvl2pPr>
            <a:lvl3pPr algn="l">
              <a:defRPr sz="2025" b="1">
                <a:solidFill>
                  <a:srgbClr val="117C7B"/>
                </a:solidFill>
                <a:latin typeface="Arial"/>
                <a:ea typeface="Arial"/>
                <a:cs typeface="Arial"/>
              </a:defRPr>
            </a:lvl3pPr>
            <a:lvl4pPr algn="l">
              <a:defRPr sz="2025" b="1">
                <a:solidFill>
                  <a:srgbClr val="117C7B"/>
                </a:solidFill>
                <a:latin typeface="Arial"/>
                <a:ea typeface="Arial"/>
                <a:cs typeface="Arial"/>
              </a:defRPr>
            </a:lvl4pPr>
            <a:lvl5pPr algn="l">
              <a:defRPr sz="2025" b="1">
                <a:solidFill>
                  <a:srgbClr val="117C7B"/>
                </a:solidFill>
                <a:latin typeface="Arial"/>
                <a:ea typeface="Arial"/>
                <a:cs typeface="Arial"/>
              </a:defRPr>
            </a:lvl5pPr>
            <a:lvl6pPr algn="l">
              <a:defRPr sz="2025" b="1">
                <a:solidFill>
                  <a:srgbClr val="117C7B"/>
                </a:solidFill>
                <a:latin typeface="Arial"/>
                <a:ea typeface="Arial"/>
                <a:cs typeface="Arial"/>
              </a:defRPr>
            </a:lvl6pPr>
            <a:lvl7pPr algn="l">
              <a:defRPr sz="2025" b="1">
                <a:solidFill>
                  <a:srgbClr val="117C7B"/>
                </a:solidFill>
                <a:latin typeface="Arial"/>
                <a:ea typeface="Arial"/>
                <a:cs typeface="Arial"/>
              </a:defRPr>
            </a:lvl7pPr>
            <a:lvl8pPr algn="l">
              <a:defRPr sz="2025" b="1">
                <a:solidFill>
                  <a:srgbClr val="117C7B"/>
                </a:solidFill>
                <a:latin typeface="Arial"/>
                <a:ea typeface="Arial"/>
                <a:cs typeface="Arial"/>
              </a:defRPr>
            </a:lvl8pPr>
            <a:lvl9pPr algn="l">
              <a:defRPr sz="2025" b="1">
                <a:solidFill>
                  <a:srgbClr val="117C7B"/>
                </a:solidFill>
                <a:latin typeface="Arial"/>
                <a:ea typeface="Arial"/>
                <a:cs typeface="Arial"/>
              </a:defRPr>
            </a:lvl9pPr>
          </a:lstStyle>
          <a:p xmlns:a="http://schemas.openxmlformats.org/drawingml/2006/main">
            <a:pPr algn="l">
              <a:defRPr sz="2025" b="1">
                <a:solidFill>
                  <a:srgbClr val="117C7B"/>
                </a:solidFill>
                <a:latin typeface="Arial"/>
                <a:ea typeface="Arial"/>
                <a:cs typeface="Arial"/>
              </a:defRPr>
            </a:pPr>
            <a:r>
              <a:rPr sz="2025" b="1">
                <a:solidFill>
                  <a:srgbClr val="117C7B"/>
                </a:solidFill>
                <a:latin typeface="Arial"/>
                <a:ea typeface="Arial"/>
                <a:cs typeface="Arial"/>
              </a:rPr>
              <a:t>The paper</a:t>
            </a:r>
          </a:p>
        </p:txBody>
      </p:sp>
      <p:sp>
        <p:nvSpPr>
          <p:cNvPr id="18" name="">
            <a:extLst xmlns:a="http://schemas.openxmlformats.org/drawingml/2006/main">
              <a:ext uri="{FF2B5EF4-FFF2-40B4-BE49-F238E27FC236}">
                <a16:creationId xmlns:a16="http://schemas.microsoft.com/office/drawing/2014/main" id="{A0F9640D-BE83-4944-90A6-B26429F43A5D}"/>
              </a:ext>
            </a:extLst>
          </p:cNvPr>
          <p:cNvSpPr>
            <a:spLocks xmlns:a="http://schemas.openxmlformats.org/drawingml/2006/main" noGrp="1"/>
          </p:cNvSpPr>
          <p:nvPr/>
        </p:nvSpPr>
        <p:spPr>
          <a:xfrm xmlns:a="http://schemas.openxmlformats.org/drawingml/2006/main">
            <a:off x="6667500" y="2095500"/>
            <a:ext cx="45243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52536"/>
                </a:solidFill>
                <a:latin typeface="Arial"/>
                <a:ea typeface="Arial"/>
                <a:cs typeface="Arial"/>
              </a:defRPr>
            </a:defPPr>
            <a:lvl1pPr algn="l">
              <a:defRPr sz="1800" b="0">
                <a:solidFill>
                  <a:srgbClr val="152536"/>
                </a:solidFill>
                <a:latin typeface="Arial"/>
                <a:ea typeface="Arial"/>
                <a:cs typeface="Arial"/>
              </a:defRPr>
            </a:lvl1pPr>
            <a:lvl2pPr algn="l">
              <a:defRPr sz="1800" b="0">
                <a:solidFill>
                  <a:srgbClr val="152536"/>
                </a:solidFill>
                <a:latin typeface="Arial"/>
                <a:ea typeface="Arial"/>
                <a:cs typeface="Arial"/>
              </a:defRPr>
            </a:lvl2pPr>
            <a:lvl3pPr algn="l">
              <a:defRPr sz="1800" b="0">
                <a:solidFill>
                  <a:srgbClr val="152536"/>
                </a:solidFill>
                <a:latin typeface="Arial"/>
                <a:ea typeface="Arial"/>
                <a:cs typeface="Arial"/>
              </a:defRPr>
            </a:lvl3pPr>
            <a:lvl4pPr algn="l">
              <a:defRPr sz="1800" b="0">
                <a:solidFill>
                  <a:srgbClr val="152536"/>
                </a:solidFill>
                <a:latin typeface="Arial"/>
                <a:ea typeface="Arial"/>
                <a:cs typeface="Arial"/>
              </a:defRPr>
            </a:lvl4pPr>
            <a:lvl5pPr algn="l">
              <a:defRPr sz="1800" b="0">
                <a:solidFill>
                  <a:srgbClr val="152536"/>
                </a:solidFill>
                <a:latin typeface="Arial"/>
                <a:ea typeface="Arial"/>
                <a:cs typeface="Arial"/>
              </a:defRPr>
            </a:lvl5pPr>
            <a:lvl6pPr algn="l">
              <a:defRPr sz="1800" b="0">
                <a:solidFill>
                  <a:srgbClr val="152536"/>
                </a:solidFill>
                <a:latin typeface="Arial"/>
                <a:ea typeface="Arial"/>
                <a:cs typeface="Arial"/>
              </a:defRPr>
            </a:lvl6pPr>
            <a:lvl7pPr algn="l">
              <a:defRPr sz="1800" b="0">
                <a:solidFill>
                  <a:srgbClr val="152536"/>
                </a:solidFill>
                <a:latin typeface="Arial"/>
                <a:ea typeface="Arial"/>
                <a:cs typeface="Arial"/>
              </a:defRPr>
            </a:lvl7pPr>
            <a:lvl8pPr algn="l">
              <a:defRPr sz="1800" b="0">
                <a:solidFill>
                  <a:srgbClr val="152536"/>
                </a:solidFill>
                <a:latin typeface="Arial"/>
                <a:ea typeface="Arial"/>
                <a:cs typeface="Arial"/>
              </a:defRPr>
            </a:lvl8pPr>
            <a:lvl9pPr algn="l">
              <a:defRPr sz="1800" b="0">
                <a:solidFill>
                  <a:srgbClr val="152536"/>
                </a:solidFill>
                <a:latin typeface="Arial"/>
                <a:ea typeface="Arial"/>
                <a:cs typeface="Arial"/>
              </a:defRPr>
            </a:lvl9pPr>
          </a:lstStyle>
          <a:p xmlns:a="http://schemas.openxmlformats.org/drawingml/2006/main">
            <a:pPr algn="l">
              <a:defRPr sz="1800" b="0">
                <a:solidFill>
                  <a:srgbClr val="152536"/>
                </a:solidFill>
                <a:latin typeface="Arial"/>
                <a:ea typeface="Arial"/>
                <a:cs typeface="Arial"/>
              </a:defRPr>
            </a:pPr>
            <a:r>
              <a:rPr sz="1800" b="0">
                <a:solidFill>
                  <a:srgbClr val="152536"/>
                </a:solidFill>
                <a:latin typeface="Arial"/>
                <a:ea typeface="Arial"/>
                <a:cs typeface="Arial"/>
              </a:rPr>
              <a:t>Ben Othman &amp; Tagina (2015) use a percentage template inside a Guided Genetic Algorithm.</a:t>
            </a:r>
          </a:p>
        </p:txBody>
      </p:sp>
      <p:sp>
        <p:nvSpPr>
          <p:cNvPr id="19" name="">
            <a:extLst xmlns:a="http://schemas.openxmlformats.org/drawingml/2006/main">
              <a:ext uri="{FF2B5EF4-FFF2-40B4-BE49-F238E27FC236}">
                <a16:creationId xmlns:a16="http://schemas.microsoft.com/office/drawing/2014/main" id="{F961EB65-8032-4BEE-A6E3-EB374D231887}"/>
              </a:ext>
            </a:extLst>
          </p:cNvPr>
          <p:cNvSpPr>
            <a:spLocks xmlns:a="http://schemas.openxmlformats.org/drawingml/2006/main" noGrp="1"/>
          </p:cNvSpPr>
          <p:nvPr/>
        </p:nvSpPr>
        <p:spPr>
          <a:xfrm xmlns:a="http://schemas.openxmlformats.org/drawingml/2006/main">
            <a:off x="6667500" y="337185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CC6842"/>
                </a:solidFill>
                <a:latin typeface="Arial"/>
                <a:ea typeface="Arial"/>
                <a:cs typeface="Arial"/>
              </a:defRPr>
            </a:defPPr>
            <a:lvl1pPr algn="l">
              <a:defRPr sz="2025" b="1">
                <a:solidFill>
                  <a:srgbClr val="CC6842"/>
                </a:solidFill>
                <a:latin typeface="Arial"/>
                <a:ea typeface="Arial"/>
                <a:cs typeface="Arial"/>
              </a:defRPr>
            </a:lvl1pPr>
            <a:lvl2pPr algn="l">
              <a:defRPr sz="2025" b="1">
                <a:solidFill>
                  <a:srgbClr val="CC6842"/>
                </a:solidFill>
                <a:latin typeface="Arial"/>
                <a:ea typeface="Arial"/>
                <a:cs typeface="Arial"/>
              </a:defRPr>
            </a:lvl2pPr>
            <a:lvl3pPr algn="l">
              <a:defRPr sz="2025" b="1">
                <a:solidFill>
                  <a:srgbClr val="CC6842"/>
                </a:solidFill>
                <a:latin typeface="Arial"/>
                <a:ea typeface="Arial"/>
                <a:cs typeface="Arial"/>
              </a:defRPr>
            </a:lvl3pPr>
            <a:lvl4pPr algn="l">
              <a:defRPr sz="2025" b="1">
                <a:solidFill>
                  <a:srgbClr val="CC6842"/>
                </a:solidFill>
                <a:latin typeface="Arial"/>
                <a:ea typeface="Arial"/>
                <a:cs typeface="Arial"/>
              </a:defRPr>
            </a:lvl4pPr>
            <a:lvl5pPr algn="l">
              <a:defRPr sz="2025" b="1">
                <a:solidFill>
                  <a:srgbClr val="CC6842"/>
                </a:solidFill>
                <a:latin typeface="Arial"/>
                <a:ea typeface="Arial"/>
                <a:cs typeface="Arial"/>
              </a:defRPr>
            </a:lvl5pPr>
            <a:lvl6pPr algn="l">
              <a:defRPr sz="2025" b="1">
                <a:solidFill>
                  <a:srgbClr val="CC6842"/>
                </a:solidFill>
                <a:latin typeface="Arial"/>
                <a:ea typeface="Arial"/>
                <a:cs typeface="Arial"/>
              </a:defRPr>
            </a:lvl6pPr>
            <a:lvl7pPr algn="l">
              <a:defRPr sz="2025" b="1">
                <a:solidFill>
                  <a:srgbClr val="CC6842"/>
                </a:solidFill>
                <a:latin typeface="Arial"/>
                <a:ea typeface="Arial"/>
                <a:cs typeface="Arial"/>
              </a:defRPr>
            </a:lvl7pPr>
            <a:lvl8pPr algn="l">
              <a:defRPr sz="2025" b="1">
                <a:solidFill>
                  <a:srgbClr val="CC6842"/>
                </a:solidFill>
                <a:latin typeface="Arial"/>
                <a:ea typeface="Arial"/>
                <a:cs typeface="Arial"/>
              </a:defRPr>
            </a:lvl8pPr>
            <a:lvl9pPr algn="l">
              <a:defRPr sz="2025" b="1">
                <a:solidFill>
                  <a:srgbClr val="CC6842"/>
                </a:solidFill>
                <a:latin typeface="Arial"/>
                <a:ea typeface="Arial"/>
                <a:cs typeface="Arial"/>
              </a:defRPr>
            </a:lvl9pPr>
          </a:lstStyle>
          <a:p xmlns:a="http://schemas.openxmlformats.org/drawingml/2006/main">
            <a:pPr algn="l">
              <a:defRPr sz="2025" b="1">
                <a:solidFill>
                  <a:srgbClr val="CC6842"/>
                </a:solidFill>
                <a:latin typeface="Arial"/>
                <a:ea typeface="Arial"/>
                <a:cs typeface="Arial"/>
              </a:defRPr>
            </a:pPr>
            <a:r>
              <a:rPr sz="2025" b="1">
                <a:solidFill>
                  <a:srgbClr val="CC6842"/>
                </a:solidFill>
                <a:latin typeface="Arial"/>
                <a:ea typeface="Arial"/>
                <a:cs typeface="Arial"/>
              </a:rPr>
              <a:t>This project</a:t>
            </a:r>
          </a:p>
        </p:txBody>
      </p:sp>
      <p:sp>
        <p:nvSpPr>
          <p:cNvPr id="20" name="">
            <a:extLst xmlns:a="http://schemas.openxmlformats.org/drawingml/2006/main">
              <a:ext uri="{FF2B5EF4-FFF2-40B4-BE49-F238E27FC236}">
                <a16:creationId xmlns:a16="http://schemas.microsoft.com/office/drawing/2014/main" id="{59AF7E2A-3999-4267-A79E-9A2BC7DB96E2}"/>
              </a:ext>
            </a:extLst>
          </p:cNvPr>
          <p:cNvSpPr>
            <a:spLocks xmlns:a="http://schemas.openxmlformats.org/drawingml/2006/main" noGrp="1"/>
          </p:cNvSpPr>
          <p:nvPr/>
        </p:nvSpPr>
        <p:spPr>
          <a:xfrm xmlns:a="http://schemas.openxmlformats.org/drawingml/2006/main">
            <a:off x="6667500" y="3810000"/>
            <a:ext cx="45243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52536"/>
                </a:solidFill>
                <a:latin typeface="Arial"/>
                <a:ea typeface="Arial"/>
                <a:cs typeface="Arial"/>
              </a:defRPr>
            </a:defPPr>
            <a:lvl1pPr algn="l">
              <a:defRPr sz="1800" b="0">
                <a:solidFill>
                  <a:srgbClr val="152536"/>
                </a:solidFill>
                <a:latin typeface="Arial"/>
                <a:ea typeface="Arial"/>
                <a:cs typeface="Arial"/>
              </a:defRPr>
            </a:lvl1pPr>
            <a:lvl2pPr algn="l">
              <a:defRPr sz="1800" b="0">
                <a:solidFill>
                  <a:srgbClr val="152536"/>
                </a:solidFill>
                <a:latin typeface="Arial"/>
                <a:ea typeface="Arial"/>
                <a:cs typeface="Arial"/>
              </a:defRPr>
            </a:lvl2pPr>
            <a:lvl3pPr algn="l">
              <a:defRPr sz="1800" b="0">
                <a:solidFill>
                  <a:srgbClr val="152536"/>
                </a:solidFill>
                <a:latin typeface="Arial"/>
                <a:ea typeface="Arial"/>
                <a:cs typeface="Arial"/>
              </a:defRPr>
            </a:lvl3pPr>
            <a:lvl4pPr algn="l">
              <a:defRPr sz="1800" b="0">
                <a:solidFill>
                  <a:srgbClr val="152536"/>
                </a:solidFill>
                <a:latin typeface="Arial"/>
                <a:ea typeface="Arial"/>
                <a:cs typeface="Arial"/>
              </a:defRPr>
            </a:lvl4pPr>
            <a:lvl5pPr algn="l">
              <a:defRPr sz="1800" b="0">
                <a:solidFill>
                  <a:srgbClr val="152536"/>
                </a:solidFill>
                <a:latin typeface="Arial"/>
                <a:ea typeface="Arial"/>
                <a:cs typeface="Arial"/>
              </a:defRPr>
            </a:lvl5pPr>
            <a:lvl6pPr algn="l">
              <a:defRPr sz="1800" b="0">
                <a:solidFill>
                  <a:srgbClr val="152536"/>
                </a:solidFill>
                <a:latin typeface="Arial"/>
                <a:ea typeface="Arial"/>
                <a:cs typeface="Arial"/>
              </a:defRPr>
            </a:lvl6pPr>
            <a:lvl7pPr algn="l">
              <a:defRPr sz="1800" b="0">
                <a:solidFill>
                  <a:srgbClr val="152536"/>
                </a:solidFill>
                <a:latin typeface="Arial"/>
                <a:ea typeface="Arial"/>
                <a:cs typeface="Arial"/>
              </a:defRPr>
            </a:lvl7pPr>
            <a:lvl8pPr algn="l">
              <a:defRPr sz="1800" b="0">
                <a:solidFill>
                  <a:srgbClr val="152536"/>
                </a:solidFill>
                <a:latin typeface="Arial"/>
                <a:ea typeface="Arial"/>
                <a:cs typeface="Arial"/>
              </a:defRPr>
            </a:lvl8pPr>
            <a:lvl9pPr algn="l">
              <a:defRPr sz="1800" b="0">
                <a:solidFill>
                  <a:srgbClr val="152536"/>
                </a:solidFill>
                <a:latin typeface="Arial"/>
                <a:ea typeface="Arial"/>
                <a:cs typeface="Arial"/>
              </a:defRPr>
            </a:lvl9pPr>
          </a:lstStyle>
          <a:p xmlns:a="http://schemas.openxmlformats.org/drawingml/2006/main">
            <a:pPr algn="l">
              <a:defRPr sz="1800" b="0">
                <a:solidFill>
                  <a:srgbClr val="152536"/>
                </a:solidFill>
                <a:latin typeface="Arial"/>
                <a:ea typeface="Arial"/>
                <a:cs typeface="Arial"/>
              </a:defRPr>
            </a:pPr>
            <a:r>
              <a:rPr sz="1800" b="0">
                <a:solidFill>
                  <a:srgbClr val="152536"/>
                </a:solidFill>
                <a:latin typeface="Arial"/>
                <a:ea typeface="Arial"/>
                <a:cs typeface="Arial"/>
              </a:rPr>
              <a:t>We train regressors to predict one-step gain, then compare selected variables under the same mutation rule.</a:t>
            </a:r>
          </a:p>
        </p:txBody>
      </p:sp>
      <p:sp>
        <p:nvSpPr>
          <p:cNvPr id="21" name="">
            <a:extLst xmlns:a="http://schemas.openxmlformats.org/drawingml/2006/main">
              <a:ext uri="{FF2B5EF4-FFF2-40B4-BE49-F238E27FC236}">
                <a16:creationId xmlns:a16="http://schemas.microsoft.com/office/drawing/2014/main" id="{96C7E593-DC04-497A-AF66-8EA5DF0B5B52}"/>
              </a:ext>
            </a:extLst>
          </p:cNvPr>
          <p:cNvSpPr>
            <a:spLocks xmlns:a="http://schemas.openxmlformats.org/drawingml/2006/main" noGrp="1"/>
          </p:cNvSpPr>
          <p:nvPr/>
        </p:nvSpPr>
        <p:spPr>
          <a:xfrm xmlns:a="http://schemas.openxmlformats.org/drawingml/2006/main">
            <a:off x="6667500" y="51244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26273"/>
                </a:solidFill>
                <a:latin typeface="Arial"/>
                <a:ea typeface="Arial"/>
                <a:cs typeface="Arial"/>
              </a:defRPr>
            </a:defPPr>
            <a:lvl1pPr algn="l">
              <a:defRPr sz="1500" b="1">
                <a:solidFill>
                  <a:srgbClr val="526273"/>
                </a:solidFill>
                <a:latin typeface="Arial"/>
                <a:ea typeface="Arial"/>
                <a:cs typeface="Arial"/>
              </a:defRPr>
            </a:lvl1pPr>
            <a:lvl2pPr algn="l">
              <a:defRPr sz="1500" b="1">
                <a:solidFill>
                  <a:srgbClr val="526273"/>
                </a:solidFill>
                <a:latin typeface="Arial"/>
                <a:ea typeface="Arial"/>
                <a:cs typeface="Arial"/>
              </a:defRPr>
            </a:lvl2pPr>
            <a:lvl3pPr algn="l">
              <a:defRPr sz="1500" b="1">
                <a:solidFill>
                  <a:srgbClr val="526273"/>
                </a:solidFill>
                <a:latin typeface="Arial"/>
                <a:ea typeface="Arial"/>
                <a:cs typeface="Arial"/>
              </a:defRPr>
            </a:lvl3pPr>
            <a:lvl4pPr algn="l">
              <a:defRPr sz="1500" b="1">
                <a:solidFill>
                  <a:srgbClr val="526273"/>
                </a:solidFill>
                <a:latin typeface="Arial"/>
                <a:ea typeface="Arial"/>
                <a:cs typeface="Arial"/>
              </a:defRPr>
            </a:lvl4pPr>
            <a:lvl5pPr algn="l">
              <a:defRPr sz="1500" b="1">
                <a:solidFill>
                  <a:srgbClr val="526273"/>
                </a:solidFill>
                <a:latin typeface="Arial"/>
                <a:ea typeface="Arial"/>
                <a:cs typeface="Arial"/>
              </a:defRPr>
            </a:lvl5pPr>
            <a:lvl6pPr algn="l">
              <a:defRPr sz="1500" b="1">
                <a:solidFill>
                  <a:srgbClr val="526273"/>
                </a:solidFill>
                <a:latin typeface="Arial"/>
                <a:ea typeface="Arial"/>
                <a:cs typeface="Arial"/>
              </a:defRPr>
            </a:lvl6pPr>
            <a:lvl7pPr algn="l">
              <a:defRPr sz="1500" b="1">
                <a:solidFill>
                  <a:srgbClr val="526273"/>
                </a:solidFill>
                <a:latin typeface="Arial"/>
                <a:ea typeface="Arial"/>
                <a:cs typeface="Arial"/>
              </a:defRPr>
            </a:lvl7pPr>
            <a:lvl8pPr algn="l">
              <a:defRPr sz="1500" b="1">
                <a:solidFill>
                  <a:srgbClr val="526273"/>
                </a:solidFill>
                <a:latin typeface="Arial"/>
                <a:ea typeface="Arial"/>
                <a:cs typeface="Arial"/>
              </a:defRPr>
            </a:lvl8pPr>
            <a:lvl9pPr algn="l">
              <a:defRPr sz="1500" b="1">
                <a:solidFill>
                  <a:srgbClr val="526273"/>
                </a:solidFill>
                <a:latin typeface="Arial"/>
                <a:ea typeface="Arial"/>
                <a:cs typeface="Arial"/>
              </a:defRPr>
            </a:lvl9pPr>
          </a:lstStyle>
          <a:p xmlns:a="http://schemas.openxmlformats.org/drawingml/2006/main">
            <a:pPr algn="l">
              <a:defRPr sz="1500" b="1">
                <a:solidFill>
                  <a:srgbClr val="526273"/>
                </a:solidFill>
                <a:latin typeface="Arial"/>
                <a:ea typeface="Arial"/>
                <a:cs typeface="Arial"/>
              </a:defRPr>
            </a:pPr>
            <a:r>
              <a:rPr sz="1500" b="1">
                <a:solidFill>
                  <a:srgbClr val="526273"/>
                </a:solidFill>
                <a:latin typeface="Arial"/>
                <a:ea typeface="Arial"/>
                <a:cs typeface="Arial"/>
              </a:rPr>
              <a:t>A trained selector is an extension for this assignment, not the paper’s method.</a:t>
            </a:r>
          </a:p>
        </p:txBody>
      </p:sp>
    </p:spTree>
    <p:extLst>
      <p:ext uri="{BB962C8B-B14F-4D97-AF65-F5344CB8AC3E}">
        <p14:creationId xmlns:p14="http://schemas.microsoft.com/office/powerpoint/2010/main" val="32258497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3A1D9390-7E56-41BB-AB6D-9D0E771EDD84}"/>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Data and prediction target</a:t>
            </a:r>
          </a:p>
        </p:txBody>
      </p:sp>
      <p:sp>
        <p:nvSpPr>
          <p:cNvPr id="2" name="">
            <a:extLst xmlns:a="http://schemas.openxmlformats.org/drawingml/2006/main">
              <a:ext uri="{FF2B5EF4-FFF2-40B4-BE49-F238E27FC236}">
                <a16:creationId xmlns:a16="http://schemas.microsoft.com/office/drawing/2014/main" id="{BCCB4629-F211-4D02-B1FC-8AB51BB2A357}"/>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F7016CD3-1DDB-470E-A3E7-299DA11B3DCD}"/>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45B0096-033B-4F88-8932-08A3114E35FF}"/>
              </a:ext>
            </a:extLst>
          </p:cNvPr>
          <p:cNvSpPr>
            <a:spLocks xmlns:a="http://schemas.openxmlformats.org/drawingml/2006/main" noGrp="1"/>
          </p:cNvSpPr>
          <p:nvPr/>
        </p:nvSpPr>
        <p:spPr>
          <a:xfrm xmlns:a="http://schemas.openxmlformats.org/drawingml/2006/main">
            <a:off x="781050" y="12763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6273"/>
                </a:solidFill>
                <a:latin typeface="Arial"/>
                <a:ea typeface="Arial"/>
                <a:cs typeface="Arial"/>
              </a:defRPr>
            </a:defPPr>
            <a:lvl1pPr algn="l">
              <a:defRPr sz="1875" b="0">
                <a:solidFill>
                  <a:srgbClr val="526273"/>
                </a:solidFill>
                <a:latin typeface="Arial"/>
                <a:ea typeface="Arial"/>
                <a:cs typeface="Arial"/>
              </a:defRPr>
            </a:lvl1pPr>
            <a:lvl2pPr algn="l">
              <a:defRPr sz="1875" b="0">
                <a:solidFill>
                  <a:srgbClr val="526273"/>
                </a:solidFill>
                <a:latin typeface="Arial"/>
                <a:ea typeface="Arial"/>
                <a:cs typeface="Arial"/>
              </a:defRPr>
            </a:lvl2pPr>
            <a:lvl3pPr algn="l">
              <a:defRPr sz="1875" b="0">
                <a:solidFill>
                  <a:srgbClr val="526273"/>
                </a:solidFill>
                <a:latin typeface="Arial"/>
                <a:ea typeface="Arial"/>
                <a:cs typeface="Arial"/>
              </a:defRPr>
            </a:lvl3pPr>
            <a:lvl4pPr algn="l">
              <a:defRPr sz="1875" b="0">
                <a:solidFill>
                  <a:srgbClr val="526273"/>
                </a:solidFill>
                <a:latin typeface="Arial"/>
                <a:ea typeface="Arial"/>
                <a:cs typeface="Arial"/>
              </a:defRPr>
            </a:lvl4pPr>
            <a:lvl5pPr algn="l">
              <a:defRPr sz="1875" b="0">
                <a:solidFill>
                  <a:srgbClr val="526273"/>
                </a:solidFill>
                <a:latin typeface="Arial"/>
                <a:ea typeface="Arial"/>
                <a:cs typeface="Arial"/>
              </a:defRPr>
            </a:lvl5pPr>
            <a:lvl6pPr algn="l">
              <a:defRPr sz="1875" b="0">
                <a:solidFill>
                  <a:srgbClr val="526273"/>
                </a:solidFill>
                <a:latin typeface="Arial"/>
                <a:ea typeface="Arial"/>
                <a:cs typeface="Arial"/>
              </a:defRPr>
            </a:lvl6pPr>
            <a:lvl7pPr algn="l">
              <a:defRPr sz="1875" b="0">
                <a:solidFill>
                  <a:srgbClr val="526273"/>
                </a:solidFill>
                <a:latin typeface="Arial"/>
                <a:ea typeface="Arial"/>
                <a:cs typeface="Arial"/>
              </a:defRPr>
            </a:lvl7pPr>
            <a:lvl8pPr algn="l">
              <a:defRPr sz="1875" b="0">
                <a:solidFill>
                  <a:srgbClr val="526273"/>
                </a:solidFill>
                <a:latin typeface="Arial"/>
                <a:ea typeface="Arial"/>
                <a:cs typeface="Arial"/>
              </a:defRPr>
            </a:lvl8pPr>
            <a:lvl9pPr algn="l">
              <a:defRPr sz="1875" b="0">
                <a:solidFill>
                  <a:srgbClr val="526273"/>
                </a:solidFill>
                <a:latin typeface="Arial"/>
                <a:ea typeface="Arial"/>
                <a:cs typeface="Arial"/>
              </a:defRPr>
            </a:lvl9pPr>
          </a:lstStyle>
          <a:p xmlns:a="http://schemas.openxmlformats.org/drawingml/2006/main">
            <a:pPr algn="l">
              <a:defRPr sz="1875" b="0">
                <a:solidFill>
                  <a:srgbClr val="526273"/>
                </a:solidFill>
                <a:latin typeface="Arial"/>
                <a:ea typeface="Arial"/>
                <a:cs typeface="Arial"/>
              </a:defRPr>
            </a:pPr>
            <a:r>
              <a:rPr sz="1875" b="0">
                <a:solidFill>
                  <a:srgbClr val="526273"/>
                </a:solidFill>
                <a:latin typeface="Arial"/>
                <a:ea typeface="Arial"/>
                <a:cs typeface="Arial"/>
              </a:rPr>
              <a:t>Each row represents one candidate variable in one complete starting assignment.</a:t>
            </a:r>
          </a:p>
        </p:txBody>
      </p:sp>
      <p:graphicFrame>
        <p:nvGraphicFramePr>
          <p:cNvPr id="5" name="Chart">
            <a:extLst xmlns:a="http://schemas.openxmlformats.org/drawingml/2006/main">
              <a:ext uri="{FF2B5EF4-FFF2-40B4-BE49-F238E27FC236}">
                <a16:creationId xmlns:a16="http://schemas.microsoft.com/office/drawing/2014/main" id="{4D1FB3FC-6B0B-4068-AE2C-A9F86649B2AB}"/>
              </a:ext>
            </a:extLst>
          </p:cNvPr>
          <p:cNvGraphicFramePr/>
          <p:nvPr/>
        </p:nvGraphicFramePr>
        <p:xfrm>
          <a:off xmlns:a="http://schemas.openxmlformats.org/drawingml/2006/main" x="685800" y="1809750"/>
          <a:ext xmlns:a="http://schemas.openxmlformats.org/drawingml/2006/main" cx="5095875" cy="3752850"/>
        </p:xfrm>
        <a:graphic xmlns:a="http://schemas.openxmlformats.org/drawingml/2006/main">
          <a:graphicData uri="http://schemas.openxmlformats.org/drawingml/2006/chart">
            <c:chart xmlns:r="http://schemas.openxmlformats.org/officeDocument/2006/relationships" xmlns:c="http://schemas.openxmlformats.org/drawingml/2006/chart" r:id="R96880436752f4e69"/>
          </a:graphicData>
        </a:graphic>
      </p:graphicFrame>
      <p:graphicFrame>
        <p:nvGraphicFramePr>
          <p:cNvPr id="6" name="Chart">
            <a:extLst xmlns:a="http://schemas.openxmlformats.org/drawingml/2006/main">
              <a:ext uri="{FF2B5EF4-FFF2-40B4-BE49-F238E27FC236}">
                <a16:creationId xmlns:a16="http://schemas.microsoft.com/office/drawing/2014/main" id="{E8198CCB-F346-4AE0-9A4A-418B37A98FA8}"/>
              </a:ext>
            </a:extLst>
          </p:cNvPr>
          <p:cNvGraphicFramePr/>
          <p:nvPr/>
        </p:nvGraphicFramePr>
        <p:xfrm>
          <a:off xmlns:a="http://schemas.openxmlformats.org/drawingml/2006/main" x="6115050" y="1809750"/>
          <a:ext xmlns:a="http://schemas.openxmlformats.org/drawingml/2006/main" cx="5334000" cy="3752850"/>
        </p:xfrm>
        <a:graphic xmlns:a="http://schemas.openxmlformats.org/drawingml/2006/main">
          <a:graphicData uri="http://schemas.openxmlformats.org/drawingml/2006/chart">
            <c:chart xmlns:r="http://schemas.openxmlformats.org/officeDocument/2006/relationships" xmlns:c="http://schemas.openxmlformats.org/drawingml/2006/chart" r:id="R937b1817d48c4a93"/>
          </a:graphicData>
        </a:graphic>
      </p:graphicFrame>
      <p:sp>
        <p:nvSpPr>
          <p:cNvPr id="7" name="">
            <a:extLst xmlns:a="http://schemas.openxmlformats.org/drawingml/2006/main">
              <a:ext uri="{FF2B5EF4-FFF2-40B4-BE49-F238E27FC236}">
                <a16:creationId xmlns:a16="http://schemas.microsoft.com/office/drawing/2014/main" id="{81864452-0A23-449C-AB60-FFF201FB5A1B}"/>
              </a:ext>
            </a:extLst>
          </p:cNvPr>
          <p:cNvSpPr>
            <a:spLocks xmlns:a="http://schemas.openxmlformats.org/drawingml/2006/main" noGrp="1"/>
          </p:cNvSpPr>
          <p:nvPr/>
        </p:nvSpPr>
        <p:spPr>
          <a:xfrm xmlns:a="http://schemas.openxmlformats.org/drawingml/2006/main">
            <a:off x="781050" y="584835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D2935"/>
                </a:solidFill>
                <a:latin typeface="Arial"/>
                <a:ea typeface="Arial"/>
                <a:cs typeface="Arial"/>
              </a:defRPr>
            </a:defPPr>
            <a:lvl1pPr algn="l">
              <a:defRPr sz="1650" b="1">
                <a:solidFill>
                  <a:srgbClr val="0D2935"/>
                </a:solidFill>
                <a:latin typeface="Arial"/>
                <a:ea typeface="Arial"/>
                <a:cs typeface="Arial"/>
              </a:defRPr>
            </a:lvl1pPr>
            <a:lvl2pPr algn="l">
              <a:defRPr sz="1650" b="1">
                <a:solidFill>
                  <a:srgbClr val="0D2935"/>
                </a:solidFill>
                <a:latin typeface="Arial"/>
                <a:ea typeface="Arial"/>
                <a:cs typeface="Arial"/>
              </a:defRPr>
            </a:lvl2pPr>
            <a:lvl3pPr algn="l">
              <a:defRPr sz="1650" b="1">
                <a:solidFill>
                  <a:srgbClr val="0D2935"/>
                </a:solidFill>
                <a:latin typeface="Arial"/>
                <a:ea typeface="Arial"/>
                <a:cs typeface="Arial"/>
              </a:defRPr>
            </a:lvl3pPr>
            <a:lvl4pPr algn="l">
              <a:defRPr sz="1650" b="1">
                <a:solidFill>
                  <a:srgbClr val="0D2935"/>
                </a:solidFill>
                <a:latin typeface="Arial"/>
                <a:ea typeface="Arial"/>
                <a:cs typeface="Arial"/>
              </a:defRPr>
            </a:lvl4pPr>
            <a:lvl5pPr algn="l">
              <a:defRPr sz="1650" b="1">
                <a:solidFill>
                  <a:srgbClr val="0D2935"/>
                </a:solidFill>
                <a:latin typeface="Arial"/>
                <a:ea typeface="Arial"/>
                <a:cs typeface="Arial"/>
              </a:defRPr>
            </a:lvl5pPr>
            <a:lvl6pPr algn="l">
              <a:defRPr sz="1650" b="1">
                <a:solidFill>
                  <a:srgbClr val="0D2935"/>
                </a:solidFill>
                <a:latin typeface="Arial"/>
                <a:ea typeface="Arial"/>
                <a:cs typeface="Arial"/>
              </a:defRPr>
            </a:lvl6pPr>
            <a:lvl7pPr algn="l">
              <a:defRPr sz="1650" b="1">
                <a:solidFill>
                  <a:srgbClr val="0D2935"/>
                </a:solidFill>
                <a:latin typeface="Arial"/>
                <a:ea typeface="Arial"/>
                <a:cs typeface="Arial"/>
              </a:defRPr>
            </a:lvl7pPr>
            <a:lvl8pPr algn="l">
              <a:defRPr sz="1650" b="1">
                <a:solidFill>
                  <a:srgbClr val="0D2935"/>
                </a:solidFill>
                <a:latin typeface="Arial"/>
                <a:ea typeface="Arial"/>
                <a:cs typeface="Arial"/>
              </a:defRPr>
            </a:lvl8pPr>
            <a:lvl9pPr algn="l">
              <a:defRPr sz="1650" b="1">
                <a:solidFill>
                  <a:srgbClr val="0D2935"/>
                </a:solidFill>
                <a:latin typeface="Arial"/>
                <a:ea typeface="Arial"/>
                <a:cs typeface="Arial"/>
              </a:defRPr>
            </a:lvl9pPr>
          </a:lstStyle>
          <a:p xmlns:a="http://schemas.openxmlformats.org/drawingml/2006/main">
            <a:pPr algn="l">
              <a:defRPr sz="1650" b="1">
                <a:solidFill>
                  <a:srgbClr val="0D2935"/>
                </a:solidFill>
                <a:latin typeface="Arial"/>
                <a:ea typeface="Arial"/>
                <a:cs typeface="Arial"/>
              </a:defRPr>
            </a:pPr>
            <a:r>
              <a:rPr sz="1650" b="1">
                <a:solidFill>
                  <a:srgbClr val="0D2935"/>
                </a:solidFill>
                <a:latin typeface="Arial"/>
                <a:ea typeface="Arial"/>
                <a:cs typeface="Arial"/>
              </a:rPr>
              <a:t>6 pre-mutation features → predict improvement after the supplied best-value move</a:t>
            </a:r>
          </a:p>
        </p:txBody>
      </p:sp>
      <p:sp>
        <p:nvSpPr>
          <p:cNvPr id="8" name="">
            <a:extLst xmlns:a="http://schemas.openxmlformats.org/drawingml/2006/main">
              <a:ext uri="{FF2B5EF4-FFF2-40B4-BE49-F238E27FC236}">
                <a16:creationId xmlns:a16="http://schemas.microsoft.com/office/drawing/2014/main" id="{5C639DCF-8E56-4283-A7BC-90593B723DCF}"/>
              </a:ext>
            </a:extLst>
          </p:cNvPr>
          <p:cNvSpPr>
            <a:spLocks xmlns:a="http://schemas.openxmlformats.org/drawingml/2006/main" noGrp="1"/>
          </p:cNvSpPr>
          <p:nvPr/>
        </p:nvSpPr>
        <p:spPr>
          <a:xfrm xmlns:a="http://schemas.openxmlformats.org/drawingml/2006/main">
            <a:off x="781050" y="61817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273"/>
                </a:solidFill>
                <a:latin typeface="Arial"/>
                <a:ea typeface="Arial"/>
                <a:cs typeface="Arial"/>
              </a:defRPr>
            </a:defPPr>
            <a:lvl1pPr algn="l">
              <a:defRPr sz="1275" b="0">
                <a:solidFill>
                  <a:srgbClr val="526273"/>
                </a:solidFill>
                <a:latin typeface="Arial"/>
                <a:ea typeface="Arial"/>
                <a:cs typeface="Arial"/>
              </a:defRPr>
            </a:lvl1pPr>
            <a:lvl2pPr algn="l">
              <a:defRPr sz="1275" b="0">
                <a:solidFill>
                  <a:srgbClr val="526273"/>
                </a:solidFill>
                <a:latin typeface="Arial"/>
                <a:ea typeface="Arial"/>
                <a:cs typeface="Arial"/>
              </a:defRPr>
            </a:lvl2pPr>
            <a:lvl3pPr algn="l">
              <a:defRPr sz="1275" b="0">
                <a:solidFill>
                  <a:srgbClr val="526273"/>
                </a:solidFill>
                <a:latin typeface="Arial"/>
                <a:ea typeface="Arial"/>
                <a:cs typeface="Arial"/>
              </a:defRPr>
            </a:lvl3pPr>
            <a:lvl4pPr algn="l">
              <a:defRPr sz="1275" b="0">
                <a:solidFill>
                  <a:srgbClr val="526273"/>
                </a:solidFill>
                <a:latin typeface="Arial"/>
                <a:ea typeface="Arial"/>
                <a:cs typeface="Arial"/>
              </a:defRPr>
            </a:lvl4pPr>
            <a:lvl5pPr algn="l">
              <a:defRPr sz="1275" b="0">
                <a:solidFill>
                  <a:srgbClr val="526273"/>
                </a:solidFill>
                <a:latin typeface="Arial"/>
                <a:ea typeface="Arial"/>
                <a:cs typeface="Arial"/>
              </a:defRPr>
            </a:lvl5pPr>
            <a:lvl6pPr algn="l">
              <a:defRPr sz="1275" b="0">
                <a:solidFill>
                  <a:srgbClr val="526273"/>
                </a:solidFill>
                <a:latin typeface="Arial"/>
                <a:ea typeface="Arial"/>
                <a:cs typeface="Arial"/>
              </a:defRPr>
            </a:lvl6pPr>
            <a:lvl7pPr algn="l">
              <a:defRPr sz="1275" b="0">
                <a:solidFill>
                  <a:srgbClr val="526273"/>
                </a:solidFill>
                <a:latin typeface="Arial"/>
                <a:ea typeface="Arial"/>
                <a:cs typeface="Arial"/>
              </a:defRPr>
            </a:lvl7pPr>
            <a:lvl8pPr algn="l">
              <a:defRPr sz="1275" b="0">
                <a:solidFill>
                  <a:srgbClr val="526273"/>
                </a:solidFill>
                <a:latin typeface="Arial"/>
                <a:ea typeface="Arial"/>
                <a:cs typeface="Arial"/>
              </a:defRPr>
            </a:lvl8pPr>
            <a:lvl9pPr algn="l">
              <a:defRPr sz="1275" b="0">
                <a:solidFill>
                  <a:srgbClr val="526273"/>
                </a:solidFill>
                <a:latin typeface="Arial"/>
                <a:ea typeface="Arial"/>
                <a:cs typeface="Arial"/>
              </a:defRPr>
            </a:lvl9pPr>
          </a:lstStyle>
          <a:p xmlns:a="http://schemas.openxmlformats.org/drawingml/2006/main">
            <a:pPr algn="l">
              <a:defRPr sz="1275" b="0">
                <a:solidFill>
                  <a:srgbClr val="526273"/>
                </a:solidFill>
                <a:latin typeface="Arial"/>
                <a:ea typeface="Arial"/>
                <a:cs typeface="Arial"/>
              </a:defRPr>
            </a:pPr>
            <a:r>
              <a:rPr sz="1275" b="0">
                <a:solidFill>
                  <a:srgbClr val="526273"/>
                </a:solidFill>
                <a:latin typeface="Arial"/>
                <a:ea typeface="Arial"/>
                <a:cs typeface="Arial"/>
              </a:rPr>
              <a:t>48.1% of training candidates yield zero gain; higher template bands trend upward, but not monotonically.</a:t>
            </a:r>
          </a:p>
        </p:txBody>
      </p:sp>
    </p:spTree>
    <p:extLst>
      <p:ext uri="{BB962C8B-B14F-4D97-AF65-F5344CB8AC3E}">
        <p14:creationId xmlns:p14="http://schemas.microsoft.com/office/powerpoint/2010/main" val="1028386113"/>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slide-4-title">
            <a:extLst xmlns:a="http://schemas.openxmlformats.org/drawingml/2006/main">
              <a:ext uri="{FF2B5EF4-FFF2-40B4-BE49-F238E27FC236}">
                <a16:creationId xmlns:a16="http://schemas.microsoft.com/office/drawing/2014/main" id="{B93138A2-5D5C-4FF7-AEBC-D1885F656B06}"/>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Leakage-safe validation split</a:t>
            </a:r>
          </a:p>
        </p:txBody>
      </p:sp>
      <p:sp>
        <p:nvSpPr>
          <p:cNvPr id="2" name="">
            <a:extLst xmlns:a="http://schemas.openxmlformats.org/drawingml/2006/main">
              <a:ext uri="{FF2B5EF4-FFF2-40B4-BE49-F238E27FC236}">
                <a16:creationId xmlns:a16="http://schemas.microsoft.com/office/drawing/2014/main" id="{E40F5E0C-C93A-4D90-8D90-237640DC56EB}"/>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635C0377-C395-464C-9FCA-697FCD62F4CF}"/>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150F2C9A-6F82-4975-BC33-6C8B56BF2671}"/>
              </a:ext>
            </a:extLst>
          </p:cNvPr>
          <p:cNvSpPr>
            <a:spLocks xmlns:a="http://schemas.openxmlformats.org/drawingml/2006/main" noGrp="1"/>
          </p:cNvSpPr>
          <p:nvPr/>
        </p:nvSpPr>
        <p:spPr>
          <a:xfrm xmlns:a="http://schemas.openxmlformats.org/drawingml/2006/main">
            <a:off x="781050" y="13239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6273"/>
                </a:solidFill>
                <a:latin typeface="Arial"/>
                <a:ea typeface="Arial"/>
                <a:cs typeface="Arial"/>
              </a:defRPr>
            </a:defPPr>
            <a:lvl1pPr algn="l">
              <a:defRPr sz="1875" b="0">
                <a:solidFill>
                  <a:srgbClr val="526273"/>
                </a:solidFill>
                <a:latin typeface="Arial"/>
                <a:ea typeface="Arial"/>
                <a:cs typeface="Arial"/>
              </a:defRPr>
            </a:lvl1pPr>
            <a:lvl2pPr algn="l">
              <a:defRPr sz="1875" b="0">
                <a:solidFill>
                  <a:srgbClr val="526273"/>
                </a:solidFill>
                <a:latin typeface="Arial"/>
                <a:ea typeface="Arial"/>
                <a:cs typeface="Arial"/>
              </a:defRPr>
            </a:lvl2pPr>
            <a:lvl3pPr algn="l">
              <a:defRPr sz="1875" b="0">
                <a:solidFill>
                  <a:srgbClr val="526273"/>
                </a:solidFill>
                <a:latin typeface="Arial"/>
                <a:ea typeface="Arial"/>
                <a:cs typeface="Arial"/>
              </a:defRPr>
            </a:lvl3pPr>
            <a:lvl4pPr algn="l">
              <a:defRPr sz="1875" b="0">
                <a:solidFill>
                  <a:srgbClr val="526273"/>
                </a:solidFill>
                <a:latin typeface="Arial"/>
                <a:ea typeface="Arial"/>
                <a:cs typeface="Arial"/>
              </a:defRPr>
            </a:lvl4pPr>
            <a:lvl5pPr algn="l">
              <a:defRPr sz="1875" b="0">
                <a:solidFill>
                  <a:srgbClr val="526273"/>
                </a:solidFill>
                <a:latin typeface="Arial"/>
                <a:ea typeface="Arial"/>
                <a:cs typeface="Arial"/>
              </a:defRPr>
            </a:lvl5pPr>
            <a:lvl6pPr algn="l">
              <a:defRPr sz="1875" b="0">
                <a:solidFill>
                  <a:srgbClr val="526273"/>
                </a:solidFill>
                <a:latin typeface="Arial"/>
                <a:ea typeface="Arial"/>
                <a:cs typeface="Arial"/>
              </a:defRPr>
            </a:lvl6pPr>
            <a:lvl7pPr algn="l">
              <a:defRPr sz="1875" b="0">
                <a:solidFill>
                  <a:srgbClr val="526273"/>
                </a:solidFill>
                <a:latin typeface="Arial"/>
                <a:ea typeface="Arial"/>
                <a:cs typeface="Arial"/>
              </a:defRPr>
            </a:lvl7pPr>
            <a:lvl8pPr algn="l">
              <a:defRPr sz="1875" b="0">
                <a:solidFill>
                  <a:srgbClr val="526273"/>
                </a:solidFill>
                <a:latin typeface="Arial"/>
                <a:ea typeface="Arial"/>
                <a:cs typeface="Arial"/>
              </a:defRPr>
            </a:lvl8pPr>
            <a:lvl9pPr algn="l">
              <a:defRPr sz="1875" b="0">
                <a:solidFill>
                  <a:srgbClr val="526273"/>
                </a:solidFill>
                <a:latin typeface="Arial"/>
                <a:ea typeface="Arial"/>
                <a:cs typeface="Arial"/>
              </a:defRPr>
            </a:lvl9pPr>
          </a:lstStyle>
          <a:p xmlns:a="http://schemas.openxmlformats.org/drawingml/2006/main">
            <a:pPr algn="l">
              <a:defRPr sz="1875" b="0">
                <a:solidFill>
                  <a:srgbClr val="526273"/>
                </a:solidFill>
                <a:latin typeface="Arial"/>
                <a:ea typeface="Arial"/>
                <a:cs typeface="Arial"/>
              </a:defRPr>
            </a:pPr>
            <a:r>
              <a:rPr sz="1875" b="0">
                <a:solidFill>
                  <a:srgbClr val="526273"/>
                </a:solidFill>
                <a:latin typeface="Arial"/>
                <a:ea typeface="Arial"/>
                <a:cs typeface="Arial"/>
              </a:rPr>
              <a:t>All rows from an instance stay together. The held-out test instances remain separate.</a:t>
            </a:r>
          </a:p>
        </p:txBody>
      </p:sp>
      <p:graphicFrame>
        <p:nvGraphicFramePr>
          <p:cNvPr id="5" name="">
            <a:extLst xmlns:a="http://schemas.openxmlformats.org/drawingml/2006/main">
              <a:ext uri="{FF2B5EF4-FFF2-40B4-BE49-F238E27FC236}">
                <a16:creationId xmlns:a16="http://schemas.microsoft.com/office/drawing/2014/main" id="{8C944F84-BD9C-4F00-B17E-081F44E76B42}"/>
              </a:ext>
            </a:extLst>
          </p:cNvPr>
          <p:cNvGraphicFramePr/>
          <p:nvPr/>
        </p:nvGraphicFramePr>
        <p:xfrm>
          <a:off xmlns:a="http://schemas.openxmlformats.org/drawingml/2006/main" x="781050" y="2114550"/>
          <a:ext xmlns:a="http://schemas.openxmlformats.org/drawingml/2006/main" cx="5715000" cy="2876550"/>
        </p:xfrm>
        <a:graphic xmlns:a="http://schemas.openxmlformats.org/drawingml/2006/main">
          <a:graphicData uri="http://schemas.openxmlformats.org/drawingml/2006/table">
            <a:tbl>
              <a:tblPr/>
              <a:tblGrid>
                <a:gridCol w="2381250"/>
                <a:gridCol w="1524000"/>
                <a:gridCol w="1809750"/>
              </a:tblGrid>
              <a:tr h="719138">
                <a:tc>
                  <a:txBody>
                    <a:bodyPr lIns="95250" tIns="76200" rIns="95250" bIns="76200">
                      <a:normAutofit/>
                    </a:bodyPr>
                    <a:lstStyle/>
                    <a:p>
                      <a:r>
                        <a:rPr sz="1425" b="1">
                          <a:solidFill>
                            <a:srgbClr val="FFFFFF"/>
                          </a:solidFill>
                          <a:latin typeface="Arial"/>
                          <a:ea typeface="Arial"/>
                          <a:cs typeface="Arial"/>
                        </a:rPr>
                        <a:t>Partition</a:t>
                      </a:r>
                    </a:p>
                  </a:txBody>
                  <a:tcPr marL="91440" marR="91440" marT="45720" marB="45720" anchor="ctr">
                    <a:lnL w="9525">
                      <a:solidFill>
                        <a:srgbClr val="B8C5C8"/>
                      </a:solidFill>
                      <a:prstDash val="solid"/>
                    </a:lnL>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Instances</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Candidate rows</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r>
              <a:tr h="719138">
                <a:tc>
                  <a:txBody>
                    <a:bodyPr lIns="95250" tIns="76200" rIns="95250" bIns="76200">
                      <a:normAutofit/>
                    </a:bodyPr>
                    <a:lstStyle/>
                    <a:p>
                      <a:r>
                        <a:rPr sz="1500" b="0">
                          <a:solidFill>
                            <a:srgbClr val="152536"/>
                          </a:solidFill>
                          <a:latin typeface="Arial"/>
                          <a:ea typeface="Arial"/>
                          <a:cs typeface="Arial"/>
                        </a:rPr>
                        <a:t>Fit</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128</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5,120</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r h="719138">
                <a:tc>
                  <a:txBody>
                    <a:bodyPr lIns="95250" tIns="76200" rIns="95250" bIns="76200">
                      <a:normAutofit/>
                    </a:bodyPr>
                    <a:lstStyle/>
                    <a:p>
                      <a:r>
                        <a:rPr sz="1500" b="0">
                          <a:solidFill>
                            <a:srgbClr val="152536"/>
                          </a:solidFill>
                          <a:latin typeface="Arial"/>
                          <a:ea typeface="Arial"/>
                          <a:cs typeface="Arial"/>
                        </a:rPr>
                        <a:t>Validation</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32</a:t>
                      </a:r>
                    </a:p>
                  </a:txBody>
                  <a:tcPr marL="91440" marR="91440" marT="45720" marB="45720" anchor="ctr">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1,280</a:t>
                      </a:r>
                    </a:p>
                  </a:txBody>
                  <a:tcPr marL="91440" marR="91440" marT="45720" marB="45720" anchor="ctr">
                    <a:lnR w="9525">
                      <a:solidFill>
                        <a:srgbClr val="B8C5C8"/>
                      </a:solidFill>
                      <a:prstDash val="solid"/>
                    </a:lnR>
                    <a:lnB w="9525">
                      <a:solidFill>
                        <a:srgbClr val="B8C5C8"/>
                      </a:solidFill>
                      <a:prstDash val="solid"/>
                    </a:lnB>
                    <a:solidFill>
                      <a:srgbClr val="EDF0EC"/>
                    </a:solidFill>
                  </a:tcPr>
                </a:tc>
              </a:tr>
              <a:tr h="719138">
                <a:tc>
                  <a:txBody>
                    <a:bodyPr lIns="95250" tIns="76200" rIns="95250" bIns="76200">
                      <a:normAutofit/>
                    </a:bodyPr>
                    <a:lstStyle/>
                    <a:p>
                      <a:r>
                        <a:rPr sz="1500" b="0">
                          <a:solidFill>
                            <a:srgbClr val="152536"/>
                          </a:solidFill>
                          <a:latin typeface="Arial"/>
                          <a:ea typeface="Arial"/>
                          <a:cs typeface="Arial"/>
                        </a:rPr>
                        <a:t>Supplied test</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40</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1,600</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3134646-81BF-41C2-8E39-7A9F2A8A42A0}"/>
              </a:ext>
            </a:extLst>
          </p:cNvPr>
          <p:cNvSpPr>
            <a:spLocks xmlns:a="http://schemas.openxmlformats.org/drawingml/2006/main" noGrp="1"/>
          </p:cNvSpPr>
          <p:nvPr/>
        </p:nvSpPr>
        <p:spPr>
          <a:xfrm xmlns:a="http://schemas.openxmlformats.org/drawingml/2006/main">
            <a:off x="7200900" y="211455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D2935"/>
                </a:solidFill>
                <a:latin typeface="Arial"/>
                <a:ea typeface="Arial"/>
                <a:cs typeface="Arial"/>
              </a:defRPr>
            </a:defPPr>
            <a:lvl1pPr algn="l">
              <a:defRPr sz="1950" b="1">
                <a:solidFill>
                  <a:srgbClr val="0D2935"/>
                </a:solidFill>
                <a:latin typeface="Arial"/>
                <a:ea typeface="Arial"/>
                <a:cs typeface="Arial"/>
              </a:defRPr>
            </a:lvl1pPr>
            <a:lvl2pPr algn="l">
              <a:defRPr sz="1950" b="1">
                <a:solidFill>
                  <a:srgbClr val="0D2935"/>
                </a:solidFill>
                <a:latin typeface="Arial"/>
                <a:ea typeface="Arial"/>
                <a:cs typeface="Arial"/>
              </a:defRPr>
            </a:lvl2pPr>
            <a:lvl3pPr algn="l">
              <a:defRPr sz="1950" b="1">
                <a:solidFill>
                  <a:srgbClr val="0D2935"/>
                </a:solidFill>
                <a:latin typeface="Arial"/>
                <a:ea typeface="Arial"/>
                <a:cs typeface="Arial"/>
              </a:defRPr>
            </a:lvl3pPr>
            <a:lvl4pPr algn="l">
              <a:defRPr sz="1950" b="1">
                <a:solidFill>
                  <a:srgbClr val="0D2935"/>
                </a:solidFill>
                <a:latin typeface="Arial"/>
                <a:ea typeface="Arial"/>
                <a:cs typeface="Arial"/>
              </a:defRPr>
            </a:lvl4pPr>
            <a:lvl5pPr algn="l">
              <a:defRPr sz="1950" b="1">
                <a:solidFill>
                  <a:srgbClr val="0D2935"/>
                </a:solidFill>
                <a:latin typeface="Arial"/>
                <a:ea typeface="Arial"/>
                <a:cs typeface="Arial"/>
              </a:defRPr>
            </a:lvl5pPr>
            <a:lvl6pPr algn="l">
              <a:defRPr sz="1950" b="1">
                <a:solidFill>
                  <a:srgbClr val="0D2935"/>
                </a:solidFill>
                <a:latin typeface="Arial"/>
                <a:ea typeface="Arial"/>
                <a:cs typeface="Arial"/>
              </a:defRPr>
            </a:lvl6pPr>
            <a:lvl7pPr algn="l">
              <a:defRPr sz="1950" b="1">
                <a:solidFill>
                  <a:srgbClr val="0D2935"/>
                </a:solidFill>
                <a:latin typeface="Arial"/>
                <a:ea typeface="Arial"/>
                <a:cs typeface="Arial"/>
              </a:defRPr>
            </a:lvl7pPr>
            <a:lvl8pPr algn="l">
              <a:defRPr sz="1950" b="1">
                <a:solidFill>
                  <a:srgbClr val="0D2935"/>
                </a:solidFill>
                <a:latin typeface="Arial"/>
                <a:ea typeface="Arial"/>
                <a:cs typeface="Arial"/>
              </a:defRPr>
            </a:lvl8pPr>
            <a:lvl9pPr algn="l">
              <a:defRPr sz="1950" b="1">
                <a:solidFill>
                  <a:srgbClr val="0D2935"/>
                </a:solidFill>
                <a:latin typeface="Arial"/>
                <a:ea typeface="Arial"/>
                <a:cs typeface="Arial"/>
              </a:defRPr>
            </a:lvl9pPr>
          </a:lstStyle>
          <a:p xmlns:a="http://schemas.openxmlformats.org/drawingml/2006/main">
            <a:pPr algn="l">
              <a:defRPr sz="1950" b="1">
                <a:solidFill>
                  <a:srgbClr val="0D2935"/>
                </a:solidFill>
                <a:latin typeface="Arial"/>
                <a:ea typeface="Arial"/>
                <a:cs typeface="Arial"/>
              </a:defRPr>
            </a:pPr>
            <a:r>
              <a:rPr sz="1950" b="1">
                <a:solidFill>
                  <a:srgbClr val="0D2935"/>
                </a:solidFill>
                <a:latin typeface="Arial"/>
                <a:ea typeface="Arial"/>
                <a:cs typeface="Arial"/>
              </a:rPr>
              <a:t>Provided train set</a:t>
            </a:r>
          </a:p>
          <a:p xmlns:a="http://schemas.openxmlformats.org/drawingml/2006/main">
            <a:pPr algn="l">
              <a:defRPr sz="1950" b="1">
                <a:solidFill>
                  <a:srgbClr val="0D2935"/>
                </a:solidFill>
                <a:latin typeface="Arial"/>
                <a:ea typeface="Arial"/>
                <a:cs typeface="Arial"/>
              </a:defRPr>
            </a:pPr>
            <a:r>
              <a:rPr sz="1950" b="1">
                <a:solidFill>
                  <a:srgbClr val="0D2935"/>
                </a:solidFill>
                <a:latin typeface="Arial"/>
                <a:ea typeface="Arial"/>
                <a:cs typeface="Arial"/>
              </a:rPr>
              <a:t>160 instances · 6,400 rows</a:t>
            </a:r>
          </a:p>
        </p:txBody>
      </p:sp>
      <p:sp>
        <p:nvSpPr>
          <p:cNvPr id="7" name="">
            <a:extLst xmlns:a="http://schemas.openxmlformats.org/drawingml/2006/main">
              <a:ext uri="{FF2B5EF4-FFF2-40B4-BE49-F238E27FC236}">
                <a16:creationId xmlns:a16="http://schemas.microsoft.com/office/drawing/2014/main" id="{250F99E1-CEA2-43C0-8400-CB7BD29DB972}"/>
              </a:ext>
            </a:extLst>
          </p:cNvPr>
          <p:cNvSpPr>
            <a:spLocks xmlns:a="http://schemas.openxmlformats.org/drawingml/2006/main" noGrp="1"/>
          </p:cNvSpPr>
          <p:nvPr/>
        </p:nvSpPr>
        <p:spPr>
          <a:xfrm xmlns:a="http://schemas.openxmlformats.org/drawingml/2006/main" flipV="0">
            <a:off x="7372350" y="3009900"/>
            <a:ext cx="3486150" cy="0"/>
          </a:xfrm>
          <a:prstGeom xmlns:a="http://schemas.openxmlformats.org/drawingml/2006/main" prst="line">
            <a:avLst/>
          </a:prstGeom>
          <a:noFill xmlns:a="http://schemas.openxmlformats.org/drawingml/2006/main"/>
          <a:ln xmlns:a="http://schemas.openxmlformats.org/drawingml/2006/main" w="38100">
            <a:solidFill>
              <a:srgbClr val="117C7B"/>
            </a:solidFill>
            <a:prstDash val="solid"/>
          </a:ln>
        </p:spPr>
      </p:sp>
      <p:sp>
        <p:nvSpPr>
          <p:cNvPr id="8" name="">
            <a:extLst xmlns:a="http://schemas.openxmlformats.org/drawingml/2006/main">
              <a:ext uri="{FF2B5EF4-FFF2-40B4-BE49-F238E27FC236}">
                <a16:creationId xmlns:a16="http://schemas.microsoft.com/office/drawing/2014/main" id="{FD0754FF-CDFC-458E-93BF-EDC3F4CEB742}"/>
              </a:ext>
            </a:extLst>
          </p:cNvPr>
          <p:cNvSpPr>
            <a:spLocks xmlns:a="http://schemas.openxmlformats.org/drawingml/2006/main" noGrp="1"/>
          </p:cNvSpPr>
          <p:nvPr/>
        </p:nvSpPr>
        <p:spPr>
          <a:xfrm xmlns:a="http://schemas.openxmlformats.org/drawingml/2006/main">
            <a:off x="7524750" y="32385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17C7B"/>
                </a:solidFill>
                <a:latin typeface="Arial"/>
                <a:ea typeface="Arial"/>
                <a:cs typeface="Arial"/>
              </a:defRPr>
            </a:defPPr>
            <a:lvl1pPr algn="ctr">
              <a:defRPr sz="1800" b="1">
                <a:solidFill>
                  <a:srgbClr val="117C7B"/>
                </a:solidFill>
                <a:latin typeface="Arial"/>
                <a:ea typeface="Arial"/>
                <a:cs typeface="Arial"/>
              </a:defRPr>
            </a:lvl1pPr>
            <a:lvl2pPr algn="ctr">
              <a:defRPr sz="1800" b="1">
                <a:solidFill>
                  <a:srgbClr val="117C7B"/>
                </a:solidFill>
                <a:latin typeface="Arial"/>
                <a:ea typeface="Arial"/>
                <a:cs typeface="Arial"/>
              </a:defRPr>
            </a:lvl2pPr>
            <a:lvl3pPr algn="ctr">
              <a:defRPr sz="1800" b="1">
                <a:solidFill>
                  <a:srgbClr val="117C7B"/>
                </a:solidFill>
                <a:latin typeface="Arial"/>
                <a:ea typeface="Arial"/>
                <a:cs typeface="Arial"/>
              </a:defRPr>
            </a:lvl3pPr>
            <a:lvl4pPr algn="ctr">
              <a:defRPr sz="1800" b="1">
                <a:solidFill>
                  <a:srgbClr val="117C7B"/>
                </a:solidFill>
                <a:latin typeface="Arial"/>
                <a:ea typeface="Arial"/>
                <a:cs typeface="Arial"/>
              </a:defRPr>
            </a:lvl4pPr>
            <a:lvl5pPr algn="ctr">
              <a:defRPr sz="1800" b="1">
                <a:solidFill>
                  <a:srgbClr val="117C7B"/>
                </a:solidFill>
                <a:latin typeface="Arial"/>
                <a:ea typeface="Arial"/>
                <a:cs typeface="Arial"/>
              </a:defRPr>
            </a:lvl5pPr>
            <a:lvl6pPr algn="ctr">
              <a:defRPr sz="1800" b="1">
                <a:solidFill>
                  <a:srgbClr val="117C7B"/>
                </a:solidFill>
                <a:latin typeface="Arial"/>
                <a:ea typeface="Arial"/>
                <a:cs typeface="Arial"/>
              </a:defRPr>
            </a:lvl6pPr>
            <a:lvl7pPr algn="ctr">
              <a:defRPr sz="1800" b="1">
                <a:solidFill>
                  <a:srgbClr val="117C7B"/>
                </a:solidFill>
                <a:latin typeface="Arial"/>
                <a:ea typeface="Arial"/>
                <a:cs typeface="Arial"/>
              </a:defRPr>
            </a:lvl7pPr>
            <a:lvl8pPr algn="ctr">
              <a:defRPr sz="1800" b="1">
                <a:solidFill>
                  <a:srgbClr val="117C7B"/>
                </a:solidFill>
                <a:latin typeface="Arial"/>
                <a:ea typeface="Arial"/>
                <a:cs typeface="Arial"/>
              </a:defRPr>
            </a:lvl8pPr>
            <a:lvl9pPr algn="ctr">
              <a:defRPr sz="1800" b="1">
                <a:solidFill>
                  <a:srgbClr val="117C7B"/>
                </a:solidFill>
                <a:latin typeface="Arial"/>
                <a:ea typeface="Arial"/>
                <a:cs typeface="Arial"/>
              </a:defRPr>
            </a:lvl9pPr>
          </a:lstStyle>
          <a:p xmlns:a="http://schemas.openxmlformats.org/drawingml/2006/main">
            <a:pPr algn="ctr">
              <a:defRPr sz="1800" b="1">
                <a:solidFill>
                  <a:srgbClr val="117C7B"/>
                </a:solidFill>
                <a:latin typeface="Arial"/>
                <a:ea typeface="Arial"/>
                <a:cs typeface="Arial"/>
              </a:defRPr>
            </a:pPr>
            <a:r>
              <a:rPr sz="1800" b="1">
                <a:solidFill>
                  <a:srgbClr val="117C7B"/>
                </a:solidFill>
                <a:latin typeface="Arial"/>
                <a:ea typeface="Arial"/>
                <a:cs typeface="Arial"/>
              </a:rPr>
              <a:t>GroupShuffleSplit</a:t>
            </a:r>
          </a:p>
          <a:p xmlns:a="http://schemas.openxmlformats.org/drawingml/2006/main">
            <a:pPr algn="ctr">
              <a:defRPr sz="1800" b="1">
                <a:solidFill>
                  <a:srgbClr val="117C7B"/>
                </a:solidFill>
                <a:latin typeface="Arial"/>
                <a:ea typeface="Arial"/>
                <a:cs typeface="Arial"/>
              </a:defRPr>
            </a:pPr>
            <a:r>
              <a:rPr sz="1800" b="1">
                <a:solidFill>
                  <a:srgbClr val="117C7B"/>
                </a:solidFill>
                <a:latin typeface="Arial"/>
                <a:ea typeface="Arial"/>
                <a:cs typeface="Arial"/>
              </a:rPr>
              <a:t>80/20 · seed 42</a:t>
            </a:r>
          </a:p>
          <a:p xmlns:a="http://schemas.openxmlformats.org/drawingml/2006/main">
            <a:pPr algn="ctr">
              <a:defRPr sz="1800" b="1">
                <a:solidFill>
                  <a:srgbClr val="117C7B"/>
                </a:solidFill>
                <a:latin typeface="Arial"/>
                <a:ea typeface="Arial"/>
                <a:cs typeface="Arial"/>
              </a:defRPr>
            </a:pPr>
            <a:r>
              <a:rPr sz="1800" b="1">
                <a:solidFill>
                  <a:srgbClr val="117C7B"/>
                </a:solidFill>
                <a:latin typeface="Arial"/>
                <a:ea typeface="Arial"/>
                <a:cs typeface="Arial"/>
              </a:rPr>
              <a:t>by instance_id</a:t>
            </a:r>
          </a:p>
        </p:txBody>
      </p:sp>
      <p:sp>
        <p:nvSpPr>
          <p:cNvPr id="9" name="">
            <a:extLst xmlns:a="http://schemas.openxmlformats.org/drawingml/2006/main">
              <a:ext uri="{FF2B5EF4-FFF2-40B4-BE49-F238E27FC236}">
                <a16:creationId xmlns:a16="http://schemas.microsoft.com/office/drawing/2014/main" id="{F17630EC-60FE-499B-A9F4-DF9F3E54E332}"/>
              </a:ext>
            </a:extLst>
          </p:cNvPr>
          <p:cNvSpPr>
            <a:spLocks xmlns:a="http://schemas.openxmlformats.org/drawingml/2006/main" noGrp="1"/>
          </p:cNvSpPr>
          <p:nvPr/>
        </p:nvSpPr>
        <p:spPr>
          <a:xfrm xmlns:a="http://schemas.openxmlformats.org/drawingml/2006/main">
            <a:off x="7200900" y="4619625"/>
            <a:ext cx="4095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26273"/>
                </a:solidFill>
                <a:latin typeface="Arial"/>
                <a:ea typeface="Arial"/>
                <a:cs typeface="Arial"/>
              </a:defRPr>
            </a:defPPr>
            <a:lvl1pPr algn="l">
              <a:defRPr sz="1725" b="0">
                <a:solidFill>
                  <a:srgbClr val="526273"/>
                </a:solidFill>
                <a:latin typeface="Arial"/>
                <a:ea typeface="Arial"/>
                <a:cs typeface="Arial"/>
              </a:defRPr>
            </a:lvl1pPr>
            <a:lvl2pPr algn="l">
              <a:defRPr sz="1725" b="0">
                <a:solidFill>
                  <a:srgbClr val="526273"/>
                </a:solidFill>
                <a:latin typeface="Arial"/>
                <a:ea typeface="Arial"/>
                <a:cs typeface="Arial"/>
              </a:defRPr>
            </a:lvl2pPr>
            <a:lvl3pPr algn="l">
              <a:defRPr sz="1725" b="0">
                <a:solidFill>
                  <a:srgbClr val="526273"/>
                </a:solidFill>
                <a:latin typeface="Arial"/>
                <a:ea typeface="Arial"/>
                <a:cs typeface="Arial"/>
              </a:defRPr>
            </a:lvl3pPr>
            <a:lvl4pPr algn="l">
              <a:defRPr sz="1725" b="0">
                <a:solidFill>
                  <a:srgbClr val="526273"/>
                </a:solidFill>
                <a:latin typeface="Arial"/>
                <a:ea typeface="Arial"/>
                <a:cs typeface="Arial"/>
              </a:defRPr>
            </a:lvl4pPr>
            <a:lvl5pPr algn="l">
              <a:defRPr sz="1725" b="0">
                <a:solidFill>
                  <a:srgbClr val="526273"/>
                </a:solidFill>
                <a:latin typeface="Arial"/>
                <a:ea typeface="Arial"/>
                <a:cs typeface="Arial"/>
              </a:defRPr>
            </a:lvl5pPr>
            <a:lvl6pPr algn="l">
              <a:defRPr sz="1725" b="0">
                <a:solidFill>
                  <a:srgbClr val="526273"/>
                </a:solidFill>
                <a:latin typeface="Arial"/>
                <a:ea typeface="Arial"/>
                <a:cs typeface="Arial"/>
              </a:defRPr>
            </a:lvl6pPr>
            <a:lvl7pPr algn="l">
              <a:defRPr sz="1725" b="0">
                <a:solidFill>
                  <a:srgbClr val="526273"/>
                </a:solidFill>
                <a:latin typeface="Arial"/>
                <a:ea typeface="Arial"/>
                <a:cs typeface="Arial"/>
              </a:defRPr>
            </a:lvl7pPr>
            <a:lvl8pPr algn="l">
              <a:defRPr sz="1725" b="0">
                <a:solidFill>
                  <a:srgbClr val="526273"/>
                </a:solidFill>
                <a:latin typeface="Arial"/>
                <a:ea typeface="Arial"/>
                <a:cs typeface="Arial"/>
              </a:defRPr>
            </a:lvl8pPr>
            <a:lvl9pPr algn="l">
              <a:defRPr sz="1725" b="0">
                <a:solidFill>
                  <a:srgbClr val="526273"/>
                </a:solidFill>
                <a:latin typeface="Arial"/>
                <a:ea typeface="Arial"/>
                <a:cs typeface="Arial"/>
              </a:defRPr>
            </a:lvl9pPr>
          </a:lstStyle>
          <a:p xmlns:a="http://schemas.openxmlformats.org/drawingml/2006/main">
            <a:pPr algn="l">
              <a:defRPr sz="1725" b="0">
                <a:solidFill>
                  <a:srgbClr val="526273"/>
                </a:solidFill>
                <a:latin typeface="Arial"/>
                <a:ea typeface="Arial"/>
                <a:cs typeface="Arial"/>
              </a:defRPr>
            </a:pPr>
            <a:r>
              <a:rPr sz="1725" b="0">
                <a:solidFill>
                  <a:srgbClr val="526273"/>
                </a:solidFill>
                <a:latin typeface="Arial"/>
                <a:ea typeface="Arial"/>
                <a:cs typeface="Arial"/>
              </a:rPr>
              <a:t>Validation selects model settings and family. The supplied test set is reserved for the final report.</a:t>
            </a:r>
          </a:p>
        </p:txBody>
      </p:sp>
    </p:spTree>
    <p:extLst>
      <p:ext uri="{BB962C8B-B14F-4D97-AF65-F5344CB8AC3E}">
        <p14:creationId xmlns:p14="http://schemas.microsoft.com/office/powerpoint/2010/main" val="118379336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slide-5-title">
            <a:extLst xmlns:a="http://schemas.openxmlformats.org/drawingml/2006/main">
              <a:ext uri="{FF2B5EF4-FFF2-40B4-BE49-F238E27FC236}">
                <a16:creationId xmlns:a16="http://schemas.microsoft.com/office/drawing/2014/main" id="{9E924DF0-4AE0-45D8-9284-0E90CAEFC35D}"/>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Models and model choice</a:t>
            </a:r>
          </a:p>
        </p:txBody>
      </p:sp>
      <p:sp>
        <p:nvSpPr>
          <p:cNvPr id="2" name="">
            <a:extLst xmlns:a="http://schemas.openxmlformats.org/drawingml/2006/main">
              <a:ext uri="{FF2B5EF4-FFF2-40B4-BE49-F238E27FC236}">
                <a16:creationId xmlns:a16="http://schemas.microsoft.com/office/drawing/2014/main" id="{E2D4EE08-3F49-48F4-B9E2-6D327CED4169}"/>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15E5061A-B319-49FB-B6EB-483A73773548}"/>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C875DB21-C57F-4D30-A7A4-ECEE3FE1A020}"/>
              </a:ext>
            </a:extLst>
          </p:cNvPr>
          <p:cNvSpPr>
            <a:spLocks xmlns:a="http://schemas.openxmlformats.org/drawingml/2006/main" noGrp="1"/>
          </p:cNvSpPr>
          <p:nvPr/>
        </p:nvSpPr>
        <p:spPr>
          <a:xfrm xmlns:a="http://schemas.openxmlformats.org/drawingml/2006/main">
            <a:off x="781050" y="131445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6273"/>
                </a:solidFill>
                <a:latin typeface="Arial"/>
                <a:ea typeface="Arial"/>
                <a:cs typeface="Arial"/>
              </a:defRPr>
            </a:defPPr>
            <a:lvl1pPr algn="l">
              <a:defRPr sz="1875" b="0">
                <a:solidFill>
                  <a:srgbClr val="526273"/>
                </a:solidFill>
                <a:latin typeface="Arial"/>
                <a:ea typeface="Arial"/>
                <a:cs typeface="Arial"/>
              </a:defRPr>
            </a:lvl1pPr>
            <a:lvl2pPr algn="l">
              <a:defRPr sz="1875" b="0">
                <a:solidFill>
                  <a:srgbClr val="526273"/>
                </a:solidFill>
                <a:latin typeface="Arial"/>
                <a:ea typeface="Arial"/>
                <a:cs typeface="Arial"/>
              </a:defRPr>
            </a:lvl2pPr>
            <a:lvl3pPr algn="l">
              <a:defRPr sz="1875" b="0">
                <a:solidFill>
                  <a:srgbClr val="526273"/>
                </a:solidFill>
                <a:latin typeface="Arial"/>
                <a:ea typeface="Arial"/>
                <a:cs typeface="Arial"/>
              </a:defRPr>
            </a:lvl3pPr>
            <a:lvl4pPr algn="l">
              <a:defRPr sz="1875" b="0">
                <a:solidFill>
                  <a:srgbClr val="526273"/>
                </a:solidFill>
                <a:latin typeface="Arial"/>
                <a:ea typeface="Arial"/>
                <a:cs typeface="Arial"/>
              </a:defRPr>
            </a:lvl4pPr>
            <a:lvl5pPr algn="l">
              <a:defRPr sz="1875" b="0">
                <a:solidFill>
                  <a:srgbClr val="526273"/>
                </a:solidFill>
                <a:latin typeface="Arial"/>
                <a:ea typeface="Arial"/>
                <a:cs typeface="Arial"/>
              </a:defRPr>
            </a:lvl5pPr>
            <a:lvl6pPr algn="l">
              <a:defRPr sz="1875" b="0">
                <a:solidFill>
                  <a:srgbClr val="526273"/>
                </a:solidFill>
                <a:latin typeface="Arial"/>
                <a:ea typeface="Arial"/>
                <a:cs typeface="Arial"/>
              </a:defRPr>
            </a:lvl6pPr>
            <a:lvl7pPr algn="l">
              <a:defRPr sz="1875" b="0">
                <a:solidFill>
                  <a:srgbClr val="526273"/>
                </a:solidFill>
                <a:latin typeface="Arial"/>
                <a:ea typeface="Arial"/>
                <a:cs typeface="Arial"/>
              </a:defRPr>
            </a:lvl7pPr>
            <a:lvl8pPr algn="l">
              <a:defRPr sz="1875" b="0">
                <a:solidFill>
                  <a:srgbClr val="526273"/>
                </a:solidFill>
                <a:latin typeface="Arial"/>
                <a:ea typeface="Arial"/>
                <a:cs typeface="Arial"/>
              </a:defRPr>
            </a:lvl8pPr>
            <a:lvl9pPr algn="l">
              <a:defRPr sz="1875" b="0">
                <a:solidFill>
                  <a:srgbClr val="526273"/>
                </a:solidFill>
                <a:latin typeface="Arial"/>
                <a:ea typeface="Arial"/>
                <a:cs typeface="Arial"/>
              </a:defRPr>
            </a:lvl9pPr>
          </a:lstStyle>
          <a:p xmlns:a="http://schemas.openxmlformats.org/drawingml/2006/main">
            <a:pPr algn="l">
              <a:defRPr sz="1875" b="0">
                <a:solidFill>
                  <a:srgbClr val="526273"/>
                </a:solidFill>
                <a:latin typeface="Arial"/>
                <a:ea typeface="Arial"/>
                <a:cs typeface="Arial"/>
              </a:defRPr>
            </a:pPr>
            <a:r>
              <a:rPr sz="1875" b="0">
                <a:solidFill>
                  <a:srgbClr val="526273"/>
                </a:solidFill>
                <a:latin typeface="Arial"/>
                <a:ea typeface="Arial"/>
                <a:cs typeface="Arial"/>
              </a:rPr>
              <a:t>Both models use the same six features, fit groups, and validation groups.</a:t>
            </a:r>
          </a:p>
        </p:txBody>
      </p:sp>
      <p:graphicFrame>
        <p:nvGraphicFramePr>
          <p:cNvPr id="5" name="">
            <a:extLst xmlns:a="http://schemas.openxmlformats.org/drawingml/2006/main">
              <a:ext uri="{FF2B5EF4-FFF2-40B4-BE49-F238E27FC236}">
                <a16:creationId xmlns:a16="http://schemas.microsoft.com/office/drawing/2014/main" id="{5D021F6A-926B-4674-9EFD-7CD24E177923}"/>
              </a:ext>
            </a:extLst>
          </p:cNvPr>
          <p:cNvGraphicFramePr/>
          <p:nvPr/>
        </p:nvGraphicFramePr>
        <p:xfrm>
          <a:off xmlns:a="http://schemas.openxmlformats.org/drawingml/2006/main" x="781050" y="2076450"/>
          <a:ext xmlns:a="http://schemas.openxmlformats.org/drawingml/2006/main" cx="10572750" cy="2190750"/>
        </p:xfrm>
        <a:graphic xmlns:a="http://schemas.openxmlformats.org/drawingml/2006/main">
          <a:graphicData uri="http://schemas.openxmlformats.org/drawingml/2006/table">
            <a:tbl>
              <a:tblPr/>
              <a:tblGrid>
                <a:gridCol w="2286000"/>
                <a:gridCol w="5810250"/>
                <a:gridCol w="2476500"/>
              </a:tblGrid>
              <a:tr h="730250">
                <a:tc>
                  <a:txBody>
                    <a:bodyPr lIns="95250" tIns="76200" rIns="95250" bIns="76200">
                      <a:normAutofit/>
                    </a:bodyPr>
                    <a:lstStyle/>
                    <a:p>
                      <a:r>
                        <a:rPr sz="1425" b="1">
                          <a:solidFill>
                            <a:srgbClr val="FFFFFF"/>
                          </a:solidFill>
                          <a:latin typeface="Arial"/>
                          <a:ea typeface="Arial"/>
                          <a:cs typeface="Arial"/>
                        </a:rPr>
                        <a:t>Model</a:t>
                      </a:r>
                    </a:p>
                  </a:txBody>
                  <a:tcPr marL="91440" marR="91440" marT="45720" marB="45720" anchor="ctr">
                    <a:lnL w="9525">
                      <a:solidFill>
                        <a:srgbClr val="B8C5C8"/>
                      </a:solidFill>
                      <a:prstDash val="solid"/>
                    </a:lnL>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Selected validation settings</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Validation MAE</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r>
              <a:tr h="730250">
                <a:tc>
                  <a:txBody>
                    <a:bodyPr lIns="95250" tIns="76200" rIns="95250" bIns="76200">
                      <a:normAutofit/>
                    </a:bodyPr>
                    <a:lstStyle/>
                    <a:p>
                      <a:r>
                        <a:rPr sz="1500" b="0">
                          <a:solidFill>
                            <a:srgbClr val="152536"/>
                          </a:solidFill>
                          <a:latin typeface="Arial"/>
                          <a:ea typeface="Arial"/>
                          <a:cs typeface="Arial"/>
                        </a:rPr>
                        <a:t>Decision Tree</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depth 8; leaf 10</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0.518</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r h="730250">
                <a:tc>
                  <a:txBody>
                    <a:bodyPr lIns="95250" tIns="76200" rIns="95250" bIns="76200">
                      <a:normAutofit/>
                    </a:bodyPr>
                    <a:lstStyle/>
                    <a:p>
                      <a:r>
                        <a:rPr sz="1500" b="0">
                          <a:solidFill>
                            <a:srgbClr val="152536"/>
                          </a:solidFill>
                          <a:latin typeface="Arial"/>
                          <a:ea typeface="Arial"/>
                          <a:cs typeface="Arial"/>
                        </a:rPr>
                        <a:t>Random Forest</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200 trees; unlimited depth; leaf 5</a:t>
                      </a:r>
                    </a:p>
                  </a:txBody>
                  <a:tcPr marL="91440" marR="91440" marT="45720" marB="45720" anchor="ctr">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0.515</a:t>
                      </a:r>
                    </a:p>
                  </a:txBody>
                  <a:tcPr marL="91440" marR="91440" marT="45720" marB="45720" anchor="ctr">
                    <a:lnR w="9525">
                      <a:solidFill>
                        <a:srgbClr val="B8C5C8"/>
                      </a:solidFill>
                      <a:prstDash val="solid"/>
                    </a:lnR>
                    <a:lnB w="9525">
                      <a:solidFill>
                        <a:srgbClr val="B8C5C8"/>
                      </a:solidFill>
                      <a:prstDash val="solid"/>
                    </a:lnB>
                    <a:solidFill>
                      <a:srgbClr val="EDF0EC"/>
                    </a:solidFill>
                  </a:tcPr>
                </a:tc>
              </a:tr>
            </a:tbl>
          </a:graphicData>
        </a:graphic>
      </p:graphicFrame>
      <p:sp>
        <p:nvSpPr>
          <p:cNvPr id="6" name="">
            <a:extLst xmlns:a="http://schemas.openxmlformats.org/drawingml/2006/main">
              <a:ext uri="{FF2B5EF4-FFF2-40B4-BE49-F238E27FC236}">
                <a16:creationId xmlns:a16="http://schemas.microsoft.com/office/drawing/2014/main" id="{A3786FAC-D0D8-45D9-92AA-180DAF6E0C9E}"/>
              </a:ext>
            </a:extLst>
          </p:cNvPr>
          <p:cNvSpPr>
            <a:spLocks xmlns:a="http://schemas.openxmlformats.org/drawingml/2006/main" noGrp="1"/>
          </p:cNvSpPr>
          <p:nvPr/>
        </p:nvSpPr>
        <p:spPr>
          <a:xfrm xmlns:a="http://schemas.openxmlformats.org/drawingml/2006/main">
            <a:off x="781050" y="47910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526273"/>
                </a:solidFill>
                <a:latin typeface="Arial"/>
                <a:ea typeface="Arial"/>
                <a:cs typeface="Arial"/>
              </a:defRPr>
            </a:defPPr>
            <a:lvl1pPr algn="l">
              <a:defRPr sz="1725" b="1">
                <a:solidFill>
                  <a:srgbClr val="526273"/>
                </a:solidFill>
                <a:latin typeface="Arial"/>
                <a:ea typeface="Arial"/>
                <a:cs typeface="Arial"/>
              </a:defRPr>
            </a:lvl1pPr>
            <a:lvl2pPr algn="l">
              <a:defRPr sz="1725" b="1">
                <a:solidFill>
                  <a:srgbClr val="526273"/>
                </a:solidFill>
                <a:latin typeface="Arial"/>
                <a:ea typeface="Arial"/>
                <a:cs typeface="Arial"/>
              </a:defRPr>
            </a:lvl2pPr>
            <a:lvl3pPr algn="l">
              <a:defRPr sz="1725" b="1">
                <a:solidFill>
                  <a:srgbClr val="526273"/>
                </a:solidFill>
                <a:latin typeface="Arial"/>
                <a:ea typeface="Arial"/>
                <a:cs typeface="Arial"/>
              </a:defRPr>
            </a:lvl3pPr>
            <a:lvl4pPr algn="l">
              <a:defRPr sz="1725" b="1">
                <a:solidFill>
                  <a:srgbClr val="526273"/>
                </a:solidFill>
                <a:latin typeface="Arial"/>
                <a:ea typeface="Arial"/>
                <a:cs typeface="Arial"/>
              </a:defRPr>
            </a:lvl4pPr>
            <a:lvl5pPr algn="l">
              <a:defRPr sz="1725" b="1">
                <a:solidFill>
                  <a:srgbClr val="526273"/>
                </a:solidFill>
                <a:latin typeface="Arial"/>
                <a:ea typeface="Arial"/>
                <a:cs typeface="Arial"/>
              </a:defRPr>
            </a:lvl5pPr>
            <a:lvl6pPr algn="l">
              <a:defRPr sz="1725" b="1">
                <a:solidFill>
                  <a:srgbClr val="526273"/>
                </a:solidFill>
                <a:latin typeface="Arial"/>
                <a:ea typeface="Arial"/>
                <a:cs typeface="Arial"/>
              </a:defRPr>
            </a:lvl6pPr>
            <a:lvl7pPr algn="l">
              <a:defRPr sz="1725" b="1">
                <a:solidFill>
                  <a:srgbClr val="526273"/>
                </a:solidFill>
                <a:latin typeface="Arial"/>
                <a:ea typeface="Arial"/>
                <a:cs typeface="Arial"/>
              </a:defRPr>
            </a:lvl7pPr>
            <a:lvl8pPr algn="l">
              <a:defRPr sz="1725" b="1">
                <a:solidFill>
                  <a:srgbClr val="526273"/>
                </a:solidFill>
                <a:latin typeface="Arial"/>
                <a:ea typeface="Arial"/>
                <a:cs typeface="Arial"/>
              </a:defRPr>
            </a:lvl8pPr>
            <a:lvl9pPr algn="l">
              <a:defRPr sz="1725" b="1">
                <a:solidFill>
                  <a:srgbClr val="526273"/>
                </a:solidFill>
                <a:latin typeface="Arial"/>
                <a:ea typeface="Arial"/>
                <a:cs typeface="Arial"/>
              </a:defRPr>
            </a:lvl9pPr>
          </a:lstStyle>
          <a:p xmlns:a="http://schemas.openxmlformats.org/drawingml/2006/main">
            <a:pPr algn="l">
              <a:defRPr sz="1725" b="1">
                <a:solidFill>
                  <a:srgbClr val="526273"/>
                </a:solidFill>
                <a:latin typeface="Arial"/>
                <a:ea typeface="Arial"/>
                <a:cs typeface="Arial"/>
              </a:defRPr>
            </a:pPr>
            <a:r>
              <a:rPr sz="1725" b="1">
                <a:solidFill>
                  <a:srgbClr val="526273"/>
                </a:solidFill>
                <a:latin typeface="Arial"/>
                <a:ea typeface="Arial"/>
                <a:cs typeface="Arial"/>
              </a:rPr>
              <a:t>Selected family</a:t>
            </a:r>
          </a:p>
        </p:txBody>
      </p:sp>
      <p:sp>
        <p:nvSpPr>
          <p:cNvPr id="7" name="">
            <a:extLst xmlns:a="http://schemas.openxmlformats.org/drawingml/2006/main">
              <a:ext uri="{FF2B5EF4-FFF2-40B4-BE49-F238E27FC236}">
                <a16:creationId xmlns:a16="http://schemas.microsoft.com/office/drawing/2014/main" id="{B7330BE1-B114-4E6A-B037-09F1C1A6C066}"/>
              </a:ext>
            </a:extLst>
          </p:cNvPr>
          <p:cNvSpPr>
            <a:spLocks xmlns:a="http://schemas.openxmlformats.org/drawingml/2006/main" noGrp="1"/>
          </p:cNvSpPr>
          <p:nvPr/>
        </p:nvSpPr>
        <p:spPr>
          <a:xfrm xmlns:a="http://schemas.openxmlformats.org/drawingml/2006/main">
            <a:off x="3048000" y="4714875"/>
            <a:ext cx="3619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17C7B"/>
                </a:solidFill>
                <a:latin typeface="Arial"/>
                <a:ea typeface="Arial"/>
                <a:cs typeface="Arial"/>
              </a:defRPr>
            </a:defPPr>
            <a:lvl1pPr algn="l">
              <a:defRPr sz="2550" b="1">
                <a:solidFill>
                  <a:srgbClr val="117C7B"/>
                </a:solidFill>
                <a:latin typeface="Arial"/>
                <a:ea typeface="Arial"/>
                <a:cs typeface="Arial"/>
              </a:defRPr>
            </a:lvl1pPr>
            <a:lvl2pPr algn="l">
              <a:defRPr sz="2550" b="1">
                <a:solidFill>
                  <a:srgbClr val="117C7B"/>
                </a:solidFill>
                <a:latin typeface="Arial"/>
                <a:ea typeface="Arial"/>
                <a:cs typeface="Arial"/>
              </a:defRPr>
            </a:lvl2pPr>
            <a:lvl3pPr algn="l">
              <a:defRPr sz="2550" b="1">
                <a:solidFill>
                  <a:srgbClr val="117C7B"/>
                </a:solidFill>
                <a:latin typeface="Arial"/>
                <a:ea typeface="Arial"/>
                <a:cs typeface="Arial"/>
              </a:defRPr>
            </a:lvl3pPr>
            <a:lvl4pPr algn="l">
              <a:defRPr sz="2550" b="1">
                <a:solidFill>
                  <a:srgbClr val="117C7B"/>
                </a:solidFill>
                <a:latin typeface="Arial"/>
                <a:ea typeface="Arial"/>
                <a:cs typeface="Arial"/>
              </a:defRPr>
            </a:lvl4pPr>
            <a:lvl5pPr algn="l">
              <a:defRPr sz="2550" b="1">
                <a:solidFill>
                  <a:srgbClr val="117C7B"/>
                </a:solidFill>
                <a:latin typeface="Arial"/>
                <a:ea typeface="Arial"/>
                <a:cs typeface="Arial"/>
              </a:defRPr>
            </a:lvl5pPr>
            <a:lvl6pPr algn="l">
              <a:defRPr sz="2550" b="1">
                <a:solidFill>
                  <a:srgbClr val="117C7B"/>
                </a:solidFill>
                <a:latin typeface="Arial"/>
                <a:ea typeface="Arial"/>
                <a:cs typeface="Arial"/>
              </a:defRPr>
            </a:lvl6pPr>
            <a:lvl7pPr algn="l">
              <a:defRPr sz="2550" b="1">
                <a:solidFill>
                  <a:srgbClr val="117C7B"/>
                </a:solidFill>
                <a:latin typeface="Arial"/>
                <a:ea typeface="Arial"/>
                <a:cs typeface="Arial"/>
              </a:defRPr>
            </a:lvl7pPr>
            <a:lvl8pPr algn="l">
              <a:defRPr sz="2550" b="1">
                <a:solidFill>
                  <a:srgbClr val="117C7B"/>
                </a:solidFill>
                <a:latin typeface="Arial"/>
                <a:ea typeface="Arial"/>
                <a:cs typeface="Arial"/>
              </a:defRPr>
            </a:lvl8pPr>
            <a:lvl9pPr algn="l">
              <a:defRPr sz="2550" b="1">
                <a:solidFill>
                  <a:srgbClr val="117C7B"/>
                </a:solidFill>
                <a:latin typeface="Arial"/>
                <a:ea typeface="Arial"/>
                <a:cs typeface="Arial"/>
              </a:defRPr>
            </a:lvl9pPr>
          </a:lstStyle>
          <a:p xmlns:a="http://schemas.openxmlformats.org/drawingml/2006/main">
            <a:pPr algn="l">
              <a:defRPr sz="2550" b="1">
                <a:solidFill>
                  <a:srgbClr val="117C7B"/>
                </a:solidFill>
                <a:latin typeface="Arial"/>
                <a:ea typeface="Arial"/>
                <a:cs typeface="Arial"/>
              </a:defRPr>
            </a:pPr>
            <a:r>
              <a:rPr sz="2550" b="1">
                <a:solidFill>
                  <a:srgbClr val="117C7B"/>
                </a:solidFill>
                <a:latin typeface="Arial"/>
                <a:ea typeface="Arial"/>
                <a:cs typeface="Arial"/>
              </a:rPr>
              <a:t>Random Forest</a:t>
            </a:r>
          </a:p>
        </p:txBody>
      </p:sp>
      <p:sp>
        <p:nvSpPr>
          <p:cNvPr id="8" name="">
            <a:extLst xmlns:a="http://schemas.openxmlformats.org/drawingml/2006/main">
              <a:ext uri="{FF2B5EF4-FFF2-40B4-BE49-F238E27FC236}">
                <a16:creationId xmlns:a16="http://schemas.microsoft.com/office/drawing/2014/main" id="{3597256A-43AF-4046-B01A-D9E2E6CCF949}"/>
              </a:ext>
            </a:extLst>
          </p:cNvPr>
          <p:cNvSpPr>
            <a:spLocks xmlns:a="http://schemas.openxmlformats.org/drawingml/2006/main" noGrp="1"/>
          </p:cNvSpPr>
          <p:nvPr/>
        </p:nvSpPr>
        <p:spPr>
          <a:xfrm xmlns:a="http://schemas.openxmlformats.org/drawingml/2006/main">
            <a:off x="6743700" y="48006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448"/>
          </a:bodyPr>
          <a:lstStyle xmlns:a="http://schemas.openxmlformats.org/drawingml/2006/main">
            <a:defPPr algn="l">
              <a:defRPr sz="1650" b="0">
                <a:solidFill>
                  <a:srgbClr val="152536"/>
                </a:solidFill>
                <a:latin typeface="Arial"/>
                <a:ea typeface="Arial"/>
                <a:cs typeface="Arial"/>
              </a:defRPr>
            </a:defPPr>
            <a:lvl1pPr algn="l">
              <a:defRPr sz="1650" b="0">
                <a:solidFill>
                  <a:srgbClr val="152536"/>
                </a:solidFill>
                <a:latin typeface="Arial"/>
                <a:ea typeface="Arial"/>
                <a:cs typeface="Arial"/>
              </a:defRPr>
            </a:lvl1pPr>
            <a:lvl2pPr algn="l">
              <a:defRPr sz="1650" b="0">
                <a:solidFill>
                  <a:srgbClr val="152536"/>
                </a:solidFill>
                <a:latin typeface="Arial"/>
                <a:ea typeface="Arial"/>
                <a:cs typeface="Arial"/>
              </a:defRPr>
            </a:lvl2pPr>
            <a:lvl3pPr algn="l">
              <a:defRPr sz="1650" b="0">
                <a:solidFill>
                  <a:srgbClr val="152536"/>
                </a:solidFill>
                <a:latin typeface="Arial"/>
                <a:ea typeface="Arial"/>
                <a:cs typeface="Arial"/>
              </a:defRPr>
            </a:lvl3pPr>
            <a:lvl4pPr algn="l">
              <a:defRPr sz="1650" b="0">
                <a:solidFill>
                  <a:srgbClr val="152536"/>
                </a:solidFill>
                <a:latin typeface="Arial"/>
                <a:ea typeface="Arial"/>
                <a:cs typeface="Arial"/>
              </a:defRPr>
            </a:lvl4pPr>
            <a:lvl5pPr algn="l">
              <a:defRPr sz="1650" b="0">
                <a:solidFill>
                  <a:srgbClr val="152536"/>
                </a:solidFill>
                <a:latin typeface="Arial"/>
                <a:ea typeface="Arial"/>
                <a:cs typeface="Arial"/>
              </a:defRPr>
            </a:lvl5pPr>
            <a:lvl6pPr algn="l">
              <a:defRPr sz="1650" b="0">
                <a:solidFill>
                  <a:srgbClr val="152536"/>
                </a:solidFill>
                <a:latin typeface="Arial"/>
                <a:ea typeface="Arial"/>
                <a:cs typeface="Arial"/>
              </a:defRPr>
            </a:lvl6pPr>
            <a:lvl7pPr algn="l">
              <a:defRPr sz="1650" b="0">
                <a:solidFill>
                  <a:srgbClr val="152536"/>
                </a:solidFill>
                <a:latin typeface="Arial"/>
                <a:ea typeface="Arial"/>
                <a:cs typeface="Arial"/>
              </a:defRPr>
            </a:lvl7pPr>
            <a:lvl8pPr algn="l">
              <a:defRPr sz="1650" b="0">
                <a:solidFill>
                  <a:srgbClr val="152536"/>
                </a:solidFill>
                <a:latin typeface="Arial"/>
                <a:ea typeface="Arial"/>
                <a:cs typeface="Arial"/>
              </a:defRPr>
            </a:lvl8pPr>
            <a:lvl9pPr algn="l">
              <a:defRPr sz="1650" b="0">
                <a:solidFill>
                  <a:srgbClr val="152536"/>
                </a:solidFill>
                <a:latin typeface="Arial"/>
                <a:ea typeface="Arial"/>
                <a:cs typeface="Arial"/>
              </a:defRPr>
            </a:lvl9pPr>
          </a:lstStyle>
          <a:p xmlns:a="http://schemas.openxmlformats.org/drawingml/2006/main">
            <a:pPr algn="l">
              <a:defRPr sz="1650" b="0">
                <a:solidFill>
                  <a:srgbClr val="152536"/>
                </a:solidFill>
                <a:latin typeface="Arial"/>
                <a:ea typeface="Arial"/>
                <a:cs typeface="Arial"/>
              </a:defRPr>
            </a:pPr>
            <a:r>
              <a:rPr sz="1650" b="0">
                <a:solidFill>
                  <a:srgbClr val="152536"/>
                </a:solidFill>
                <a:latin typeface="Arial"/>
                <a:ea typeface="Arial"/>
                <a:cs typeface="Arial"/>
              </a:rPr>
              <a:t>Lowest validation MAE; exact tie would favor Decision Tree.</a:t>
            </a:r>
          </a:p>
        </p:txBody>
      </p:sp>
      <p:sp>
        <p:nvSpPr>
          <p:cNvPr id="9" name="">
            <a:extLst xmlns:a="http://schemas.openxmlformats.org/drawingml/2006/main">
              <a:ext uri="{FF2B5EF4-FFF2-40B4-BE49-F238E27FC236}">
                <a16:creationId xmlns:a16="http://schemas.microsoft.com/office/drawing/2014/main" id="{B6A3C3C5-497E-45F3-8232-99C10C6A8065}"/>
              </a:ext>
            </a:extLst>
          </p:cNvPr>
          <p:cNvSpPr>
            <a:spLocks xmlns:a="http://schemas.openxmlformats.org/drawingml/2006/main" noGrp="1"/>
          </p:cNvSpPr>
          <p:nvPr/>
        </p:nvSpPr>
        <p:spPr>
          <a:xfrm xmlns:a="http://schemas.openxmlformats.org/drawingml/2006/main">
            <a:off x="781050" y="546735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273"/>
                </a:solidFill>
                <a:latin typeface="Arial"/>
                <a:ea typeface="Arial"/>
                <a:cs typeface="Arial"/>
              </a:defRPr>
            </a:defPPr>
            <a:lvl1pPr algn="l">
              <a:defRPr sz="1650" b="0">
                <a:solidFill>
                  <a:srgbClr val="526273"/>
                </a:solidFill>
                <a:latin typeface="Arial"/>
                <a:ea typeface="Arial"/>
                <a:cs typeface="Arial"/>
              </a:defRPr>
            </a:lvl1pPr>
            <a:lvl2pPr algn="l">
              <a:defRPr sz="1650" b="0">
                <a:solidFill>
                  <a:srgbClr val="526273"/>
                </a:solidFill>
                <a:latin typeface="Arial"/>
                <a:ea typeface="Arial"/>
                <a:cs typeface="Arial"/>
              </a:defRPr>
            </a:lvl2pPr>
            <a:lvl3pPr algn="l">
              <a:defRPr sz="1650" b="0">
                <a:solidFill>
                  <a:srgbClr val="526273"/>
                </a:solidFill>
                <a:latin typeface="Arial"/>
                <a:ea typeface="Arial"/>
                <a:cs typeface="Arial"/>
              </a:defRPr>
            </a:lvl3pPr>
            <a:lvl4pPr algn="l">
              <a:defRPr sz="1650" b="0">
                <a:solidFill>
                  <a:srgbClr val="526273"/>
                </a:solidFill>
                <a:latin typeface="Arial"/>
                <a:ea typeface="Arial"/>
                <a:cs typeface="Arial"/>
              </a:defRPr>
            </a:lvl4pPr>
            <a:lvl5pPr algn="l">
              <a:defRPr sz="1650" b="0">
                <a:solidFill>
                  <a:srgbClr val="526273"/>
                </a:solidFill>
                <a:latin typeface="Arial"/>
                <a:ea typeface="Arial"/>
                <a:cs typeface="Arial"/>
              </a:defRPr>
            </a:lvl5pPr>
            <a:lvl6pPr algn="l">
              <a:defRPr sz="1650" b="0">
                <a:solidFill>
                  <a:srgbClr val="526273"/>
                </a:solidFill>
                <a:latin typeface="Arial"/>
                <a:ea typeface="Arial"/>
                <a:cs typeface="Arial"/>
              </a:defRPr>
            </a:lvl6pPr>
            <a:lvl7pPr algn="l">
              <a:defRPr sz="1650" b="0">
                <a:solidFill>
                  <a:srgbClr val="526273"/>
                </a:solidFill>
                <a:latin typeface="Arial"/>
                <a:ea typeface="Arial"/>
                <a:cs typeface="Arial"/>
              </a:defRPr>
            </a:lvl7pPr>
            <a:lvl8pPr algn="l">
              <a:defRPr sz="1650" b="0">
                <a:solidFill>
                  <a:srgbClr val="526273"/>
                </a:solidFill>
                <a:latin typeface="Arial"/>
                <a:ea typeface="Arial"/>
                <a:cs typeface="Arial"/>
              </a:defRPr>
            </a:lvl8pPr>
            <a:lvl9pPr algn="l">
              <a:defRPr sz="1650" b="0">
                <a:solidFill>
                  <a:srgbClr val="526273"/>
                </a:solidFill>
                <a:latin typeface="Arial"/>
                <a:ea typeface="Arial"/>
                <a:cs typeface="Arial"/>
              </a:defRPr>
            </a:lvl9pPr>
          </a:lstStyle>
          <a:p xmlns:a="http://schemas.openxmlformats.org/drawingml/2006/main">
            <a:pPr algn="l">
              <a:defRPr sz="1650" b="0">
                <a:solidFill>
                  <a:srgbClr val="526273"/>
                </a:solidFill>
                <a:latin typeface="Arial"/>
                <a:ea typeface="Arial"/>
                <a:cs typeface="Arial"/>
              </a:defRPr>
            </a:pPr>
            <a:r>
              <a:rPr sz="1650" b="0">
                <a:solidFill>
                  <a:srgbClr val="526273"/>
                </a:solidFill>
                <a:latin typeface="Arial"/>
                <a:ea typeface="Arial"/>
                <a:cs typeface="Arial"/>
              </a:rPr>
              <a:t>After locking the family and settings, each model was refit on all 160 training instances.</a:t>
            </a:r>
          </a:p>
        </p:txBody>
      </p:sp>
    </p:spTree>
    <p:extLst>
      <p:ext uri="{BB962C8B-B14F-4D97-AF65-F5344CB8AC3E}">
        <p14:creationId xmlns:p14="http://schemas.microsoft.com/office/powerpoint/2010/main" val="994566528"/>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slide-6-title">
            <a:extLst xmlns:a="http://schemas.openxmlformats.org/drawingml/2006/main">
              <a:ext uri="{FF2B5EF4-FFF2-40B4-BE49-F238E27FC236}">
                <a16:creationId xmlns:a16="http://schemas.microsoft.com/office/drawing/2014/main" id="{8FDE87FB-04C5-41E5-BF6C-FD1E60AA39F6}"/>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Prediction error on held-out candidates</a:t>
            </a:r>
          </a:p>
        </p:txBody>
      </p:sp>
      <p:sp>
        <p:nvSpPr>
          <p:cNvPr id="2" name="">
            <a:extLst xmlns:a="http://schemas.openxmlformats.org/drawingml/2006/main">
              <a:ext uri="{FF2B5EF4-FFF2-40B4-BE49-F238E27FC236}">
                <a16:creationId xmlns:a16="http://schemas.microsoft.com/office/drawing/2014/main" id="{DCAD98B3-9E86-4D30-96D7-0D1E57B1B549}"/>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B88AAF40-9101-4E49-B2A0-7BA8EAC22F51}"/>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BC8B24AA-F92E-4615-8B1E-768AA6751D7C}"/>
              </a:ext>
            </a:extLst>
          </p:cNvPr>
          <p:cNvSpPr>
            <a:spLocks xmlns:a="http://schemas.openxmlformats.org/drawingml/2006/main" noGrp="1"/>
          </p:cNvSpPr>
          <p:nvPr/>
        </p:nvSpPr>
        <p:spPr>
          <a:xfrm xmlns:a="http://schemas.openxmlformats.org/drawingml/2006/main">
            <a:off x="781050" y="131445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6273"/>
                </a:solidFill>
                <a:latin typeface="Arial"/>
                <a:ea typeface="Arial"/>
                <a:cs typeface="Arial"/>
              </a:defRPr>
            </a:defPPr>
            <a:lvl1pPr algn="l">
              <a:defRPr sz="1875" b="0">
                <a:solidFill>
                  <a:srgbClr val="526273"/>
                </a:solidFill>
                <a:latin typeface="Arial"/>
                <a:ea typeface="Arial"/>
                <a:cs typeface="Arial"/>
              </a:defRPr>
            </a:lvl1pPr>
            <a:lvl2pPr algn="l">
              <a:defRPr sz="1875" b="0">
                <a:solidFill>
                  <a:srgbClr val="526273"/>
                </a:solidFill>
                <a:latin typeface="Arial"/>
                <a:ea typeface="Arial"/>
                <a:cs typeface="Arial"/>
              </a:defRPr>
            </a:lvl2pPr>
            <a:lvl3pPr algn="l">
              <a:defRPr sz="1875" b="0">
                <a:solidFill>
                  <a:srgbClr val="526273"/>
                </a:solidFill>
                <a:latin typeface="Arial"/>
                <a:ea typeface="Arial"/>
                <a:cs typeface="Arial"/>
              </a:defRPr>
            </a:lvl3pPr>
            <a:lvl4pPr algn="l">
              <a:defRPr sz="1875" b="0">
                <a:solidFill>
                  <a:srgbClr val="526273"/>
                </a:solidFill>
                <a:latin typeface="Arial"/>
                <a:ea typeface="Arial"/>
                <a:cs typeface="Arial"/>
              </a:defRPr>
            </a:lvl4pPr>
            <a:lvl5pPr algn="l">
              <a:defRPr sz="1875" b="0">
                <a:solidFill>
                  <a:srgbClr val="526273"/>
                </a:solidFill>
                <a:latin typeface="Arial"/>
                <a:ea typeface="Arial"/>
                <a:cs typeface="Arial"/>
              </a:defRPr>
            </a:lvl5pPr>
            <a:lvl6pPr algn="l">
              <a:defRPr sz="1875" b="0">
                <a:solidFill>
                  <a:srgbClr val="526273"/>
                </a:solidFill>
                <a:latin typeface="Arial"/>
                <a:ea typeface="Arial"/>
                <a:cs typeface="Arial"/>
              </a:defRPr>
            </a:lvl6pPr>
            <a:lvl7pPr algn="l">
              <a:defRPr sz="1875" b="0">
                <a:solidFill>
                  <a:srgbClr val="526273"/>
                </a:solidFill>
                <a:latin typeface="Arial"/>
                <a:ea typeface="Arial"/>
                <a:cs typeface="Arial"/>
              </a:defRPr>
            </a:lvl7pPr>
            <a:lvl8pPr algn="l">
              <a:defRPr sz="1875" b="0">
                <a:solidFill>
                  <a:srgbClr val="526273"/>
                </a:solidFill>
                <a:latin typeface="Arial"/>
                <a:ea typeface="Arial"/>
                <a:cs typeface="Arial"/>
              </a:defRPr>
            </a:lvl8pPr>
            <a:lvl9pPr algn="l">
              <a:defRPr sz="1875" b="0">
                <a:solidFill>
                  <a:srgbClr val="526273"/>
                </a:solidFill>
                <a:latin typeface="Arial"/>
                <a:ea typeface="Arial"/>
                <a:cs typeface="Arial"/>
              </a:defRPr>
            </a:lvl9pPr>
          </a:lstStyle>
          <a:p xmlns:a="http://schemas.openxmlformats.org/drawingml/2006/main">
            <a:pPr algn="l">
              <a:defRPr sz="1875" b="0">
                <a:solidFill>
                  <a:srgbClr val="526273"/>
                </a:solidFill>
                <a:latin typeface="Arial"/>
                <a:ea typeface="Arial"/>
                <a:cs typeface="Arial"/>
              </a:defRPr>
            </a:pPr>
            <a:r>
              <a:rPr sz="1875" b="0">
                <a:solidFill>
                  <a:srgbClr val="526273"/>
                </a:solidFill>
                <a:latin typeface="Arial"/>
                <a:ea typeface="Arial"/>
                <a:cs typeface="Arial"/>
              </a:rPr>
              <a:t>MAE is average absolute prediction error, in violations per candidate.</a:t>
            </a:r>
          </a:p>
        </p:txBody>
      </p:sp>
      <p:graphicFrame>
        <p:nvGraphicFramePr>
          <p:cNvPr id="5" name="Chart">
            <a:extLst xmlns:a="http://schemas.openxmlformats.org/drawingml/2006/main">
              <a:ext uri="{FF2B5EF4-FFF2-40B4-BE49-F238E27FC236}">
                <a16:creationId xmlns:a16="http://schemas.microsoft.com/office/drawing/2014/main" id="{CF125A7A-F211-43D7-BE51-8222850A50A6}"/>
              </a:ext>
            </a:extLst>
          </p:cNvPr>
          <p:cNvGraphicFramePr/>
          <p:nvPr/>
        </p:nvGraphicFramePr>
        <p:xfrm>
          <a:off xmlns:a="http://schemas.openxmlformats.org/drawingml/2006/main" x="1066800" y="1971675"/>
          <a:ext xmlns:a="http://schemas.openxmlformats.org/drawingml/2006/main" cx="9944100" cy="3429000"/>
        </p:xfrm>
        <a:graphic xmlns:a="http://schemas.openxmlformats.org/drawingml/2006/main">
          <a:graphicData uri="http://schemas.openxmlformats.org/drawingml/2006/chart">
            <c:chart xmlns:r="http://schemas.openxmlformats.org/officeDocument/2006/relationships" xmlns:c="http://schemas.openxmlformats.org/drawingml/2006/chart" r:id="Rd4872934626a4855"/>
          </a:graphicData>
        </a:graphic>
      </p:graphicFrame>
      <p:sp>
        <p:nvSpPr>
          <p:cNvPr id="6" name="">
            <a:extLst xmlns:a="http://schemas.openxmlformats.org/drawingml/2006/main">
              <a:ext uri="{FF2B5EF4-FFF2-40B4-BE49-F238E27FC236}">
                <a16:creationId xmlns:a16="http://schemas.microsoft.com/office/drawing/2014/main" id="{0BCE64DB-9D0D-451E-8F31-F099A434F7D8}"/>
              </a:ext>
            </a:extLst>
          </p:cNvPr>
          <p:cNvSpPr>
            <a:spLocks xmlns:a="http://schemas.openxmlformats.org/drawingml/2006/main" noGrp="1"/>
          </p:cNvSpPr>
          <p:nvPr/>
        </p:nvSpPr>
        <p:spPr>
          <a:xfrm xmlns:a="http://schemas.openxmlformats.org/drawingml/2006/main">
            <a:off x="781050" y="5791200"/>
            <a:ext cx="1047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0D2935"/>
                </a:solidFill>
                <a:latin typeface="Arial"/>
                <a:ea typeface="Arial"/>
                <a:cs typeface="Arial"/>
              </a:defRPr>
            </a:defPPr>
            <a:lvl1pPr algn="l">
              <a:defRPr sz="1800" b="1">
                <a:solidFill>
                  <a:srgbClr val="0D2935"/>
                </a:solidFill>
                <a:latin typeface="Arial"/>
                <a:ea typeface="Arial"/>
                <a:cs typeface="Arial"/>
              </a:defRPr>
            </a:lvl1pPr>
            <a:lvl2pPr algn="l">
              <a:defRPr sz="1800" b="1">
                <a:solidFill>
                  <a:srgbClr val="0D2935"/>
                </a:solidFill>
                <a:latin typeface="Arial"/>
                <a:ea typeface="Arial"/>
                <a:cs typeface="Arial"/>
              </a:defRPr>
            </a:lvl2pPr>
            <a:lvl3pPr algn="l">
              <a:defRPr sz="1800" b="1">
                <a:solidFill>
                  <a:srgbClr val="0D2935"/>
                </a:solidFill>
                <a:latin typeface="Arial"/>
                <a:ea typeface="Arial"/>
                <a:cs typeface="Arial"/>
              </a:defRPr>
            </a:lvl3pPr>
            <a:lvl4pPr algn="l">
              <a:defRPr sz="1800" b="1">
                <a:solidFill>
                  <a:srgbClr val="0D2935"/>
                </a:solidFill>
                <a:latin typeface="Arial"/>
                <a:ea typeface="Arial"/>
                <a:cs typeface="Arial"/>
              </a:defRPr>
            </a:lvl4pPr>
            <a:lvl5pPr algn="l">
              <a:defRPr sz="1800" b="1">
                <a:solidFill>
                  <a:srgbClr val="0D2935"/>
                </a:solidFill>
                <a:latin typeface="Arial"/>
                <a:ea typeface="Arial"/>
                <a:cs typeface="Arial"/>
              </a:defRPr>
            </a:lvl5pPr>
            <a:lvl6pPr algn="l">
              <a:defRPr sz="1800" b="1">
                <a:solidFill>
                  <a:srgbClr val="0D2935"/>
                </a:solidFill>
                <a:latin typeface="Arial"/>
                <a:ea typeface="Arial"/>
                <a:cs typeface="Arial"/>
              </a:defRPr>
            </a:lvl6pPr>
            <a:lvl7pPr algn="l">
              <a:defRPr sz="1800" b="1">
                <a:solidFill>
                  <a:srgbClr val="0D2935"/>
                </a:solidFill>
                <a:latin typeface="Arial"/>
                <a:ea typeface="Arial"/>
                <a:cs typeface="Arial"/>
              </a:defRPr>
            </a:lvl7pPr>
            <a:lvl8pPr algn="l">
              <a:defRPr sz="1800" b="1">
                <a:solidFill>
                  <a:srgbClr val="0D2935"/>
                </a:solidFill>
                <a:latin typeface="Arial"/>
                <a:ea typeface="Arial"/>
                <a:cs typeface="Arial"/>
              </a:defRPr>
            </a:lvl8pPr>
            <a:lvl9pPr algn="l">
              <a:defRPr sz="1800" b="1">
                <a:solidFill>
                  <a:srgbClr val="0D2935"/>
                </a:solidFill>
                <a:latin typeface="Arial"/>
                <a:ea typeface="Arial"/>
                <a:cs typeface="Arial"/>
              </a:defRPr>
            </a:lvl9pPr>
          </a:lstStyle>
          <a:p xmlns:a="http://schemas.openxmlformats.org/drawingml/2006/main">
            <a:pPr algn="l">
              <a:defRPr sz="1800" b="1">
                <a:solidFill>
                  <a:srgbClr val="0D2935"/>
                </a:solidFill>
                <a:latin typeface="Arial"/>
                <a:ea typeface="Arial"/>
                <a:cs typeface="Arial"/>
              </a:defRPr>
            </a:pPr>
            <a:r>
              <a:rPr sz="1800" b="1">
                <a:solidFill>
                  <a:srgbClr val="0D2935"/>
                </a:solidFill>
                <a:latin typeface="Arial"/>
                <a:ea typeface="Arial"/>
                <a:cs typeface="Arial"/>
              </a:rPr>
              <a:t>The Random Forest had the lowest validation MAE (0.515) and test MAE (0.437).</a:t>
            </a:r>
          </a:p>
        </p:txBody>
      </p:sp>
      <p:sp>
        <p:nvSpPr>
          <p:cNvPr id="7" name="">
            <a:extLst xmlns:a="http://schemas.openxmlformats.org/drawingml/2006/main">
              <a:ext uri="{FF2B5EF4-FFF2-40B4-BE49-F238E27FC236}">
                <a16:creationId xmlns:a16="http://schemas.microsoft.com/office/drawing/2014/main" id="{98C11E0B-82A7-4CED-93F9-CACE88A6FD0A}"/>
              </a:ext>
            </a:extLst>
          </p:cNvPr>
          <p:cNvSpPr>
            <a:spLocks xmlns:a="http://schemas.openxmlformats.org/drawingml/2006/main" noGrp="1"/>
          </p:cNvSpPr>
          <p:nvPr/>
        </p:nvSpPr>
        <p:spPr>
          <a:xfrm xmlns:a="http://schemas.openxmlformats.org/drawingml/2006/main">
            <a:off x="781050" y="61817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26273"/>
                </a:solidFill>
                <a:latin typeface="Arial"/>
                <a:ea typeface="Arial"/>
                <a:cs typeface="Arial"/>
              </a:defRPr>
            </a:defPPr>
            <a:lvl1pPr algn="l">
              <a:defRPr sz="1425" b="0">
                <a:solidFill>
                  <a:srgbClr val="526273"/>
                </a:solidFill>
                <a:latin typeface="Arial"/>
                <a:ea typeface="Arial"/>
                <a:cs typeface="Arial"/>
              </a:defRPr>
            </a:lvl1pPr>
            <a:lvl2pPr algn="l">
              <a:defRPr sz="1425" b="0">
                <a:solidFill>
                  <a:srgbClr val="526273"/>
                </a:solidFill>
                <a:latin typeface="Arial"/>
                <a:ea typeface="Arial"/>
                <a:cs typeface="Arial"/>
              </a:defRPr>
            </a:lvl2pPr>
            <a:lvl3pPr algn="l">
              <a:defRPr sz="1425" b="0">
                <a:solidFill>
                  <a:srgbClr val="526273"/>
                </a:solidFill>
                <a:latin typeface="Arial"/>
                <a:ea typeface="Arial"/>
                <a:cs typeface="Arial"/>
              </a:defRPr>
            </a:lvl3pPr>
            <a:lvl4pPr algn="l">
              <a:defRPr sz="1425" b="0">
                <a:solidFill>
                  <a:srgbClr val="526273"/>
                </a:solidFill>
                <a:latin typeface="Arial"/>
                <a:ea typeface="Arial"/>
                <a:cs typeface="Arial"/>
              </a:defRPr>
            </a:lvl4pPr>
            <a:lvl5pPr algn="l">
              <a:defRPr sz="1425" b="0">
                <a:solidFill>
                  <a:srgbClr val="526273"/>
                </a:solidFill>
                <a:latin typeface="Arial"/>
                <a:ea typeface="Arial"/>
                <a:cs typeface="Arial"/>
              </a:defRPr>
            </a:lvl5pPr>
            <a:lvl6pPr algn="l">
              <a:defRPr sz="1425" b="0">
                <a:solidFill>
                  <a:srgbClr val="526273"/>
                </a:solidFill>
                <a:latin typeface="Arial"/>
                <a:ea typeface="Arial"/>
                <a:cs typeface="Arial"/>
              </a:defRPr>
            </a:lvl6pPr>
            <a:lvl7pPr algn="l">
              <a:defRPr sz="1425" b="0">
                <a:solidFill>
                  <a:srgbClr val="526273"/>
                </a:solidFill>
                <a:latin typeface="Arial"/>
                <a:ea typeface="Arial"/>
                <a:cs typeface="Arial"/>
              </a:defRPr>
            </a:lvl7pPr>
            <a:lvl8pPr algn="l">
              <a:defRPr sz="1425" b="0">
                <a:solidFill>
                  <a:srgbClr val="526273"/>
                </a:solidFill>
                <a:latin typeface="Arial"/>
                <a:ea typeface="Arial"/>
                <a:cs typeface="Arial"/>
              </a:defRPr>
            </a:lvl8pPr>
            <a:lvl9pPr algn="l">
              <a:defRPr sz="1425" b="0">
                <a:solidFill>
                  <a:srgbClr val="526273"/>
                </a:solidFill>
                <a:latin typeface="Arial"/>
                <a:ea typeface="Arial"/>
                <a:cs typeface="Arial"/>
              </a:defRPr>
            </a:lvl9pPr>
          </a:lstStyle>
          <a:p xmlns:a="http://schemas.openxmlformats.org/drawingml/2006/main">
            <a:pPr algn="l">
              <a:defRPr sz="1425" b="0">
                <a:solidFill>
                  <a:srgbClr val="526273"/>
                </a:solidFill>
                <a:latin typeface="Arial"/>
                <a:ea typeface="Arial"/>
                <a:cs typeface="Arial"/>
              </a:defRPr>
            </a:pPr>
            <a:r>
              <a:rPr sz="1425" b="0">
                <a:solidFill>
                  <a:srgbClr val="526273"/>
                </a:solidFill>
                <a:latin typeface="Arial"/>
                <a:ea typeface="Arial"/>
                <a:cs typeface="Arial"/>
              </a:rPr>
              <a:t>Prediction error describes numeric accuracy; it does not measure variable-choice quality.</a:t>
            </a:r>
          </a:p>
        </p:txBody>
      </p:sp>
    </p:spTree>
    <p:extLst>
      <p:ext uri="{BB962C8B-B14F-4D97-AF65-F5344CB8AC3E}">
        <p14:creationId xmlns:p14="http://schemas.microsoft.com/office/powerpoint/2010/main" val="33223676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8" name="slide-7-title">
            <a:extLst xmlns:a="http://schemas.openxmlformats.org/drawingml/2006/main">
              <a:ext uri="{FF2B5EF4-FFF2-40B4-BE49-F238E27FC236}">
                <a16:creationId xmlns:a16="http://schemas.microsoft.com/office/drawing/2014/main" id="{7C492703-D9D6-449A-A23E-2B8D6C886819}"/>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Same state, same mutation operator</a:t>
            </a:r>
          </a:p>
        </p:txBody>
      </p:sp>
      <p:sp>
        <p:nvSpPr>
          <p:cNvPr id="2" name="">
            <a:extLst xmlns:a="http://schemas.openxmlformats.org/drawingml/2006/main">
              <a:ext uri="{FF2B5EF4-FFF2-40B4-BE49-F238E27FC236}">
                <a16:creationId xmlns:a16="http://schemas.microsoft.com/office/drawing/2014/main" id="{C948607C-3441-4CAE-89E9-330A23860981}"/>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ACCE9E21-04D4-46C8-879B-88E7BB5ADD31}"/>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52341E2-F9C9-4393-A1CE-4B28F86822B6}"/>
              </a:ext>
            </a:extLst>
          </p:cNvPr>
          <p:cNvSpPr>
            <a:spLocks xmlns:a="http://schemas.openxmlformats.org/drawingml/2006/main" noGrp="1"/>
          </p:cNvSpPr>
          <p:nvPr/>
        </p:nvSpPr>
        <p:spPr>
          <a:xfrm xmlns:a="http://schemas.openxmlformats.org/drawingml/2006/main">
            <a:off x="78105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6273"/>
                </a:solidFill>
                <a:latin typeface="Arial"/>
                <a:ea typeface="Arial"/>
                <a:cs typeface="Arial"/>
              </a:defRPr>
            </a:defPPr>
            <a:lvl1pPr algn="l">
              <a:defRPr sz="1875" b="0">
                <a:solidFill>
                  <a:srgbClr val="526273"/>
                </a:solidFill>
                <a:latin typeface="Arial"/>
                <a:ea typeface="Arial"/>
                <a:cs typeface="Arial"/>
              </a:defRPr>
            </a:lvl1pPr>
            <a:lvl2pPr algn="l">
              <a:defRPr sz="1875" b="0">
                <a:solidFill>
                  <a:srgbClr val="526273"/>
                </a:solidFill>
                <a:latin typeface="Arial"/>
                <a:ea typeface="Arial"/>
                <a:cs typeface="Arial"/>
              </a:defRPr>
            </a:lvl2pPr>
            <a:lvl3pPr algn="l">
              <a:defRPr sz="1875" b="0">
                <a:solidFill>
                  <a:srgbClr val="526273"/>
                </a:solidFill>
                <a:latin typeface="Arial"/>
                <a:ea typeface="Arial"/>
                <a:cs typeface="Arial"/>
              </a:defRPr>
            </a:lvl3pPr>
            <a:lvl4pPr algn="l">
              <a:defRPr sz="1875" b="0">
                <a:solidFill>
                  <a:srgbClr val="526273"/>
                </a:solidFill>
                <a:latin typeface="Arial"/>
                <a:ea typeface="Arial"/>
                <a:cs typeface="Arial"/>
              </a:defRPr>
            </a:lvl4pPr>
            <a:lvl5pPr algn="l">
              <a:defRPr sz="1875" b="0">
                <a:solidFill>
                  <a:srgbClr val="526273"/>
                </a:solidFill>
                <a:latin typeface="Arial"/>
                <a:ea typeface="Arial"/>
                <a:cs typeface="Arial"/>
              </a:defRPr>
            </a:lvl5pPr>
            <a:lvl6pPr algn="l">
              <a:defRPr sz="1875" b="0">
                <a:solidFill>
                  <a:srgbClr val="526273"/>
                </a:solidFill>
                <a:latin typeface="Arial"/>
                <a:ea typeface="Arial"/>
                <a:cs typeface="Arial"/>
              </a:defRPr>
            </a:lvl6pPr>
            <a:lvl7pPr algn="l">
              <a:defRPr sz="1875" b="0">
                <a:solidFill>
                  <a:srgbClr val="526273"/>
                </a:solidFill>
                <a:latin typeface="Arial"/>
                <a:ea typeface="Arial"/>
                <a:cs typeface="Arial"/>
              </a:defRPr>
            </a:lvl7pPr>
            <a:lvl8pPr algn="l">
              <a:defRPr sz="1875" b="0">
                <a:solidFill>
                  <a:srgbClr val="526273"/>
                </a:solidFill>
                <a:latin typeface="Arial"/>
                <a:ea typeface="Arial"/>
                <a:cs typeface="Arial"/>
              </a:defRPr>
            </a:lvl8pPr>
            <a:lvl9pPr algn="l">
              <a:defRPr sz="1875" b="0">
                <a:solidFill>
                  <a:srgbClr val="526273"/>
                </a:solidFill>
                <a:latin typeface="Arial"/>
                <a:ea typeface="Arial"/>
                <a:cs typeface="Arial"/>
              </a:defRPr>
            </a:lvl9pPr>
          </a:lstStyle>
          <a:p xmlns:a="http://schemas.openxmlformats.org/drawingml/2006/main">
            <a:pPr algn="l">
              <a:defRPr sz="1875" b="0">
                <a:solidFill>
                  <a:srgbClr val="526273"/>
                </a:solidFill>
                <a:latin typeface="Arial"/>
                <a:ea typeface="Arial"/>
                <a:cs typeface="Arial"/>
              </a:defRPr>
            </a:pPr>
            <a:r>
              <a:rPr sz="1875" b="0">
                <a:solidFill>
                  <a:srgbClr val="526273"/>
                </a:solidFill>
                <a:latin typeface="Arial"/>
                <a:ea typeface="Arial"/>
                <a:cs typeface="Arial"/>
              </a:rPr>
              <a:t>Each selector starts from an independent copy of the same original assignment.</a:t>
            </a:r>
          </a:p>
        </p:txBody>
      </p:sp>
      <p:sp>
        <p:nvSpPr>
          <p:cNvPr id="5" name="">
            <a:extLst xmlns:a="http://schemas.openxmlformats.org/drawingml/2006/main">
              <a:ext uri="{FF2B5EF4-FFF2-40B4-BE49-F238E27FC236}">
                <a16:creationId xmlns:a16="http://schemas.microsoft.com/office/drawing/2014/main" id="{E2017E13-B155-4CAA-B947-4ED3F8F50196}"/>
              </a:ext>
            </a:extLst>
          </p:cNvPr>
          <p:cNvSpPr>
            <a:spLocks xmlns:a="http://schemas.openxmlformats.org/drawingml/2006/main" noGrp="1"/>
          </p:cNvSpPr>
          <p:nvPr/>
        </p:nvSpPr>
        <p:spPr>
          <a:xfrm xmlns:a="http://schemas.openxmlformats.org/drawingml/2006/main">
            <a:off x="781050" y="2428875"/>
            <a:ext cx="2428875"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4288">
            <a:solidFill>
              <a:srgbClr val="B8C5C8"/>
            </a:solidFill>
            <a:prstDash val="solid"/>
          </a:ln>
        </p:spPr>
      </p:sp>
      <p:sp>
        <p:nvSpPr>
          <p:cNvPr id="6" name="">
            <a:extLst xmlns:a="http://schemas.openxmlformats.org/drawingml/2006/main">
              <a:ext uri="{FF2B5EF4-FFF2-40B4-BE49-F238E27FC236}">
                <a16:creationId xmlns:a16="http://schemas.microsoft.com/office/drawing/2014/main" id="{EDAA9BA7-E930-43EC-B8B0-40DF07585BB0}"/>
              </a:ext>
            </a:extLst>
          </p:cNvPr>
          <p:cNvSpPr>
            <a:spLocks xmlns:a="http://schemas.openxmlformats.org/drawingml/2006/main" noGrp="1"/>
          </p:cNvSpPr>
          <p:nvPr/>
        </p:nvSpPr>
        <p:spPr>
          <a:xfrm xmlns:a="http://schemas.openxmlformats.org/drawingml/2006/main">
            <a:off x="1009650" y="26384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a:solidFill>
                  <a:srgbClr val="152536"/>
                </a:solidFill>
                <a:latin typeface="Arial"/>
                <a:ea typeface="Arial"/>
                <a:cs typeface="Arial"/>
              </a:defRPr>
            </a:defPPr>
            <a:lvl1pPr algn="ctr">
              <a:defRPr sz="1950" b="1">
                <a:solidFill>
                  <a:srgbClr val="152536"/>
                </a:solidFill>
                <a:latin typeface="Arial"/>
                <a:ea typeface="Arial"/>
                <a:cs typeface="Arial"/>
              </a:defRPr>
            </a:lvl1pPr>
            <a:lvl2pPr algn="ctr">
              <a:defRPr sz="1950" b="1">
                <a:solidFill>
                  <a:srgbClr val="152536"/>
                </a:solidFill>
                <a:latin typeface="Arial"/>
                <a:ea typeface="Arial"/>
                <a:cs typeface="Arial"/>
              </a:defRPr>
            </a:lvl2pPr>
            <a:lvl3pPr algn="ctr">
              <a:defRPr sz="1950" b="1">
                <a:solidFill>
                  <a:srgbClr val="152536"/>
                </a:solidFill>
                <a:latin typeface="Arial"/>
                <a:ea typeface="Arial"/>
                <a:cs typeface="Arial"/>
              </a:defRPr>
            </a:lvl3pPr>
            <a:lvl4pPr algn="ctr">
              <a:defRPr sz="1950" b="1">
                <a:solidFill>
                  <a:srgbClr val="152536"/>
                </a:solidFill>
                <a:latin typeface="Arial"/>
                <a:ea typeface="Arial"/>
                <a:cs typeface="Arial"/>
              </a:defRPr>
            </a:lvl4pPr>
            <a:lvl5pPr algn="ctr">
              <a:defRPr sz="1950" b="1">
                <a:solidFill>
                  <a:srgbClr val="152536"/>
                </a:solidFill>
                <a:latin typeface="Arial"/>
                <a:ea typeface="Arial"/>
                <a:cs typeface="Arial"/>
              </a:defRPr>
            </a:lvl5pPr>
            <a:lvl6pPr algn="ctr">
              <a:defRPr sz="1950" b="1">
                <a:solidFill>
                  <a:srgbClr val="152536"/>
                </a:solidFill>
                <a:latin typeface="Arial"/>
                <a:ea typeface="Arial"/>
                <a:cs typeface="Arial"/>
              </a:defRPr>
            </a:lvl6pPr>
            <a:lvl7pPr algn="ctr">
              <a:defRPr sz="1950" b="1">
                <a:solidFill>
                  <a:srgbClr val="152536"/>
                </a:solidFill>
                <a:latin typeface="Arial"/>
                <a:ea typeface="Arial"/>
                <a:cs typeface="Arial"/>
              </a:defRPr>
            </a:lvl7pPr>
            <a:lvl8pPr algn="ctr">
              <a:defRPr sz="1950" b="1">
                <a:solidFill>
                  <a:srgbClr val="152536"/>
                </a:solidFill>
                <a:latin typeface="Arial"/>
                <a:ea typeface="Arial"/>
                <a:cs typeface="Arial"/>
              </a:defRPr>
            </a:lvl8pPr>
            <a:lvl9pPr algn="ctr">
              <a:defRPr sz="1950" b="1">
                <a:solidFill>
                  <a:srgbClr val="152536"/>
                </a:solidFill>
                <a:latin typeface="Arial"/>
                <a:ea typeface="Arial"/>
                <a:cs typeface="Arial"/>
              </a:defRPr>
            </a:lvl9pPr>
          </a:lstStyle>
          <a:p xmlns:a="http://schemas.openxmlformats.org/drawingml/2006/main">
            <a:pPr algn="ctr">
              <a:defRPr sz="1950" b="1">
                <a:solidFill>
                  <a:srgbClr val="152536"/>
                </a:solidFill>
                <a:latin typeface="Arial"/>
                <a:ea typeface="Arial"/>
                <a:cs typeface="Arial"/>
              </a:defRPr>
            </a:pPr>
            <a:r>
              <a:rPr sz="1950" b="1">
                <a:solidFill>
                  <a:srgbClr val="152536"/>
                </a:solidFill>
                <a:latin typeface="Arial"/>
                <a:ea typeface="Arial"/>
                <a:cs typeface="Arial"/>
              </a:rPr>
              <a:t>Original state</a:t>
            </a:r>
          </a:p>
        </p:txBody>
      </p:sp>
      <p:sp>
        <p:nvSpPr>
          <p:cNvPr id="7" name="">
            <a:extLst xmlns:a="http://schemas.openxmlformats.org/drawingml/2006/main">
              <a:ext uri="{FF2B5EF4-FFF2-40B4-BE49-F238E27FC236}">
                <a16:creationId xmlns:a16="http://schemas.microsoft.com/office/drawing/2014/main" id="{2DA6EE2F-BB08-4138-B838-06AA549A413E}"/>
              </a:ext>
            </a:extLst>
          </p:cNvPr>
          <p:cNvSpPr>
            <a:spLocks xmlns:a="http://schemas.openxmlformats.org/drawingml/2006/main" noGrp="1"/>
          </p:cNvSpPr>
          <p:nvPr/>
        </p:nvSpPr>
        <p:spPr>
          <a:xfrm xmlns:a="http://schemas.openxmlformats.org/drawingml/2006/main">
            <a:off x="952500" y="30765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045"/>
          </a:bodyPr>
          <a:lstStyle xmlns:a="http://schemas.openxmlformats.org/drawingml/2006/main">
            <a:defPPr algn="ctr">
              <a:defRPr sz="1575" b="0">
                <a:solidFill>
                  <a:srgbClr val="526273"/>
                </a:solidFill>
                <a:latin typeface="Arial"/>
                <a:ea typeface="Arial"/>
                <a:cs typeface="Arial"/>
              </a:defRPr>
            </a:defPPr>
            <a:lvl1pPr algn="ctr">
              <a:defRPr sz="1575" b="0">
                <a:solidFill>
                  <a:srgbClr val="526273"/>
                </a:solidFill>
                <a:latin typeface="Arial"/>
                <a:ea typeface="Arial"/>
                <a:cs typeface="Arial"/>
              </a:defRPr>
            </a:lvl1pPr>
            <a:lvl2pPr algn="ctr">
              <a:defRPr sz="1575" b="0">
                <a:solidFill>
                  <a:srgbClr val="526273"/>
                </a:solidFill>
                <a:latin typeface="Arial"/>
                <a:ea typeface="Arial"/>
                <a:cs typeface="Arial"/>
              </a:defRPr>
            </a:lvl2pPr>
            <a:lvl3pPr algn="ctr">
              <a:defRPr sz="1575" b="0">
                <a:solidFill>
                  <a:srgbClr val="526273"/>
                </a:solidFill>
                <a:latin typeface="Arial"/>
                <a:ea typeface="Arial"/>
                <a:cs typeface="Arial"/>
              </a:defRPr>
            </a:lvl3pPr>
            <a:lvl4pPr algn="ctr">
              <a:defRPr sz="1575" b="0">
                <a:solidFill>
                  <a:srgbClr val="526273"/>
                </a:solidFill>
                <a:latin typeface="Arial"/>
                <a:ea typeface="Arial"/>
                <a:cs typeface="Arial"/>
              </a:defRPr>
            </a:lvl4pPr>
            <a:lvl5pPr algn="ctr">
              <a:defRPr sz="1575" b="0">
                <a:solidFill>
                  <a:srgbClr val="526273"/>
                </a:solidFill>
                <a:latin typeface="Arial"/>
                <a:ea typeface="Arial"/>
                <a:cs typeface="Arial"/>
              </a:defRPr>
            </a:lvl5pPr>
            <a:lvl6pPr algn="ctr">
              <a:defRPr sz="1575" b="0">
                <a:solidFill>
                  <a:srgbClr val="526273"/>
                </a:solidFill>
                <a:latin typeface="Arial"/>
                <a:ea typeface="Arial"/>
                <a:cs typeface="Arial"/>
              </a:defRPr>
            </a:lvl6pPr>
            <a:lvl7pPr algn="ctr">
              <a:defRPr sz="1575" b="0">
                <a:solidFill>
                  <a:srgbClr val="526273"/>
                </a:solidFill>
                <a:latin typeface="Arial"/>
                <a:ea typeface="Arial"/>
                <a:cs typeface="Arial"/>
              </a:defRPr>
            </a:lvl7pPr>
            <a:lvl8pPr algn="ctr">
              <a:defRPr sz="1575" b="0">
                <a:solidFill>
                  <a:srgbClr val="526273"/>
                </a:solidFill>
                <a:latin typeface="Arial"/>
                <a:ea typeface="Arial"/>
                <a:cs typeface="Arial"/>
              </a:defRPr>
            </a:lvl8pPr>
            <a:lvl9pPr algn="ctr">
              <a:defRPr sz="1575" b="0">
                <a:solidFill>
                  <a:srgbClr val="526273"/>
                </a:solidFill>
                <a:latin typeface="Arial"/>
                <a:ea typeface="Arial"/>
                <a:cs typeface="Arial"/>
              </a:defRPr>
            </a:lvl9pPr>
          </a:lstStyle>
          <a:p xmlns:a="http://schemas.openxmlformats.org/drawingml/2006/main">
            <a:pPr algn="ctr">
              <a:defRPr sz="1575" b="0">
                <a:solidFill>
                  <a:srgbClr val="526273"/>
                </a:solidFill>
                <a:latin typeface="Arial"/>
                <a:ea typeface="Arial"/>
                <a:cs typeface="Arial"/>
              </a:defRPr>
            </a:pPr>
            <a:r>
              <a:rPr sz="1575" b="0">
                <a:solidFill>
                  <a:srgbClr val="526273"/>
                </a:solidFill>
                <a:latin typeface="Arial"/>
                <a:ea typeface="Arial"/>
                <a:cs typeface="Arial"/>
              </a:rPr>
              <a:t>8 variables · one assignment</a:t>
            </a:r>
          </a:p>
        </p:txBody>
      </p:sp>
      <p:sp>
        <p:nvSpPr>
          <p:cNvPr id="8" name="">
            <a:extLst xmlns:a="http://schemas.openxmlformats.org/drawingml/2006/main">
              <a:ext uri="{FF2B5EF4-FFF2-40B4-BE49-F238E27FC236}">
                <a16:creationId xmlns:a16="http://schemas.microsoft.com/office/drawing/2014/main" id="{72439D96-A660-4023-8A68-C0E48CD8E5BB}"/>
              </a:ext>
            </a:extLst>
          </p:cNvPr>
          <p:cNvSpPr>
            <a:spLocks xmlns:a="http://schemas.openxmlformats.org/drawingml/2006/main" noGrp="1"/>
          </p:cNvSpPr>
          <p:nvPr/>
        </p:nvSpPr>
        <p:spPr>
          <a:xfrm xmlns:a="http://schemas.openxmlformats.org/drawingml/2006/main" flipV="0">
            <a:off x="3219450" y="3038475"/>
            <a:ext cx="1066800" cy="0"/>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9" name="">
            <a:extLst xmlns:a="http://schemas.openxmlformats.org/drawingml/2006/main">
              <a:ext uri="{FF2B5EF4-FFF2-40B4-BE49-F238E27FC236}">
                <a16:creationId xmlns:a16="http://schemas.microsoft.com/office/drawing/2014/main" id="{0A5CD171-13AE-44D4-9543-D686E36B7E9C}"/>
              </a:ext>
            </a:extLst>
          </p:cNvPr>
          <p:cNvSpPr>
            <a:spLocks xmlns:a="http://schemas.openxmlformats.org/drawingml/2006/main" noGrp="1"/>
          </p:cNvSpPr>
          <p:nvPr/>
        </p:nvSpPr>
        <p:spPr>
          <a:xfrm xmlns:a="http://schemas.openxmlformats.org/drawingml/2006/main" flipV="0">
            <a:off x="4286250" y="2333625"/>
            <a:ext cx="0" cy="704850"/>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10" name="">
            <a:extLst xmlns:a="http://schemas.openxmlformats.org/drawingml/2006/main">
              <a:ext uri="{FF2B5EF4-FFF2-40B4-BE49-F238E27FC236}">
                <a16:creationId xmlns:a16="http://schemas.microsoft.com/office/drawing/2014/main" id="{12FF8FE4-F93B-4FEF-87A7-1A947A0B788D}"/>
              </a:ext>
            </a:extLst>
          </p:cNvPr>
          <p:cNvSpPr>
            <a:spLocks xmlns:a="http://schemas.openxmlformats.org/drawingml/2006/main" noGrp="1"/>
          </p:cNvSpPr>
          <p:nvPr/>
        </p:nvSpPr>
        <p:spPr>
          <a:xfrm xmlns:a="http://schemas.openxmlformats.org/drawingml/2006/main" flipV="0">
            <a:off x="4286250" y="3038475"/>
            <a:ext cx="0" cy="942975"/>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11" name="">
            <a:extLst xmlns:a="http://schemas.openxmlformats.org/drawingml/2006/main">
              <a:ext uri="{FF2B5EF4-FFF2-40B4-BE49-F238E27FC236}">
                <a16:creationId xmlns:a16="http://schemas.microsoft.com/office/drawing/2014/main" id="{287D61B4-858F-466D-8CA8-55694EADD06A}"/>
              </a:ext>
            </a:extLst>
          </p:cNvPr>
          <p:cNvSpPr>
            <a:spLocks xmlns:a="http://schemas.openxmlformats.org/drawingml/2006/main" noGrp="1"/>
          </p:cNvSpPr>
          <p:nvPr/>
        </p:nvSpPr>
        <p:spPr>
          <a:xfrm xmlns:a="http://schemas.openxmlformats.org/drawingml/2006/main" flipV="0">
            <a:off x="4286250" y="2333625"/>
            <a:ext cx="666750" cy="0"/>
          </a:xfrm>
          <a:prstGeom xmlns:a="http://schemas.openxmlformats.org/drawingml/2006/main" prst="line">
            <a:avLst/>
          </a:prstGeom>
          <a:noFill xmlns:a="http://schemas.openxmlformats.org/drawingml/2006/main"/>
          <a:ln xmlns:a="http://schemas.openxmlformats.org/drawingml/2006/main" w="28575">
            <a:solidFill>
              <a:srgbClr val="CC6842"/>
            </a:solidFill>
            <a:prstDash val="solid"/>
          </a:ln>
        </p:spPr>
      </p:sp>
      <p:sp>
        <p:nvSpPr>
          <p:cNvPr id="12" name="">
            <a:extLst xmlns:a="http://schemas.openxmlformats.org/drawingml/2006/main">
              <a:ext uri="{FF2B5EF4-FFF2-40B4-BE49-F238E27FC236}">
                <a16:creationId xmlns:a16="http://schemas.microsoft.com/office/drawing/2014/main" id="{C9F2211F-11E4-4EBD-85AD-C6B04BB7B63F}"/>
              </a:ext>
            </a:extLst>
          </p:cNvPr>
          <p:cNvSpPr>
            <a:spLocks xmlns:a="http://schemas.openxmlformats.org/drawingml/2006/main" noGrp="1"/>
          </p:cNvSpPr>
          <p:nvPr/>
        </p:nvSpPr>
        <p:spPr>
          <a:xfrm xmlns:a="http://schemas.openxmlformats.org/drawingml/2006/main" flipV="0">
            <a:off x="4286250" y="3981450"/>
            <a:ext cx="666750" cy="0"/>
          </a:xfrm>
          <a:prstGeom xmlns:a="http://schemas.openxmlformats.org/drawingml/2006/main" prst="line">
            <a:avLst/>
          </a:prstGeom>
          <a:noFill xmlns:a="http://schemas.openxmlformats.org/drawingml/2006/main"/>
          <a:ln xmlns:a="http://schemas.openxmlformats.org/drawingml/2006/main" w="28575">
            <a:solidFill>
              <a:srgbClr val="117C7B"/>
            </a:solidFill>
            <a:prstDash val="solid"/>
          </a:ln>
        </p:spPr>
      </p:sp>
      <p:sp>
        <p:nvSpPr>
          <p:cNvPr id="13" name="">
            <a:extLst xmlns:a="http://schemas.openxmlformats.org/drawingml/2006/main">
              <a:ext uri="{FF2B5EF4-FFF2-40B4-BE49-F238E27FC236}">
                <a16:creationId xmlns:a16="http://schemas.microsoft.com/office/drawing/2014/main" id="{2E5A3BB0-E4F0-4C17-BF8E-05B588A9CE05}"/>
              </a:ext>
            </a:extLst>
          </p:cNvPr>
          <p:cNvSpPr>
            <a:spLocks xmlns:a="http://schemas.openxmlformats.org/drawingml/2006/main" noGrp="1"/>
          </p:cNvSpPr>
          <p:nvPr/>
        </p:nvSpPr>
        <p:spPr>
          <a:xfrm xmlns:a="http://schemas.openxmlformats.org/drawingml/2006/main">
            <a:off x="4953000" y="1724025"/>
            <a:ext cx="2857500" cy="1219200"/>
          </a:xfrm>
          <a:prstGeom xmlns:a="http://schemas.openxmlformats.org/drawingml/2006/main" prst="roundRect">
            <a:avLst>
              <a:gd name="adj" fmla="val 6250"/>
            </a:avLst>
          </a:prstGeom>
          <a:solidFill xmlns:a="http://schemas.openxmlformats.org/drawingml/2006/main">
            <a:srgbClr val="F4E2D8"/>
          </a:solidFill>
          <a:ln xmlns:a="http://schemas.openxmlformats.org/drawingml/2006/main" w="14288">
            <a:solidFill>
              <a:srgbClr val="CC6842"/>
            </a:solidFill>
            <a:prstDash val="solid"/>
          </a:ln>
        </p:spPr>
      </p:sp>
      <p:sp>
        <p:nvSpPr>
          <p:cNvPr id="14" name="">
            <a:extLst xmlns:a="http://schemas.openxmlformats.org/drawingml/2006/main">
              <a:ext uri="{FF2B5EF4-FFF2-40B4-BE49-F238E27FC236}">
                <a16:creationId xmlns:a16="http://schemas.microsoft.com/office/drawing/2014/main" id="{E069C3FC-59A7-4731-BED8-3258DB7EDA0A}"/>
              </a:ext>
            </a:extLst>
          </p:cNvPr>
          <p:cNvSpPr>
            <a:spLocks xmlns:a="http://schemas.openxmlformats.org/drawingml/2006/main" noGrp="1"/>
          </p:cNvSpPr>
          <p:nvPr/>
        </p:nvSpPr>
        <p:spPr>
          <a:xfrm xmlns:a="http://schemas.openxmlformats.org/drawingml/2006/main">
            <a:off x="5181600" y="1952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CC6842"/>
                </a:solidFill>
                <a:latin typeface="Arial"/>
                <a:ea typeface="Arial"/>
                <a:cs typeface="Arial"/>
              </a:defRPr>
            </a:defPPr>
            <a:lvl1pPr algn="ctr">
              <a:defRPr sz="1800" b="1">
                <a:solidFill>
                  <a:srgbClr val="CC6842"/>
                </a:solidFill>
                <a:latin typeface="Arial"/>
                <a:ea typeface="Arial"/>
                <a:cs typeface="Arial"/>
              </a:defRPr>
            </a:lvl1pPr>
            <a:lvl2pPr algn="ctr">
              <a:defRPr sz="1800" b="1">
                <a:solidFill>
                  <a:srgbClr val="CC6842"/>
                </a:solidFill>
                <a:latin typeface="Arial"/>
                <a:ea typeface="Arial"/>
                <a:cs typeface="Arial"/>
              </a:defRPr>
            </a:lvl2pPr>
            <a:lvl3pPr algn="ctr">
              <a:defRPr sz="1800" b="1">
                <a:solidFill>
                  <a:srgbClr val="CC6842"/>
                </a:solidFill>
                <a:latin typeface="Arial"/>
                <a:ea typeface="Arial"/>
                <a:cs typeface="Arial"/>
              </a:defRPr>
            </a:lvl3pPr>
            <a:lvl4pPr algn="ctr">
              <a:defRPr sz="1800" b="1">
                <a:solidFill>
                  <a:srgbClr val="CC6842"/>
                </a:solidFill>
                <a:latin typeface="Arial"/>
                <a:ea typeface="Arial"/>
                <a:cs typeface="Arial"/>
              </a:defRPr>
            </a:lvl4pPr>
            <a:lvl5pPr algn="ctr">
              <a:defRPr sz="1800" b="1">
                <a:solidFill>
                  <a:srgbClr val="CC6842"/>
                </a:solidFill>
                <a:latin typeface="Arial"/>
                <a:ea typeface="Arial"/>
                <a:cs typeface="Arial"/>
              </a:defRPr>
            </a:lvl5pPr>
            <a:lvl6pPr algn="ctr">
              <a:defRPr sz="1800" b="1">
                <a:solidFill>
                  <a:srgbClr val="CC6842"/>
                </a:solidFill>
                <a:latin typeface="Arial"/>
                <a:ea typeface="Arial"/>
                <a:cs typeface="Arial"/>
              </a:defRPr>
            </a:lvl6pPr>
            <a:lvl7pPr algn="ctr">
              <a:defRPr sz="1800" b="1">
                <a:solidFill>
                  <a:srgbClr val="CC6842"/>
                </a:solidFill>
                <a:latin typeface="Arial"/>
                <a:ea typeface="Arial"/>
                <a:cs typeface="Arial"/>
              </a:defRPr>
            </a:lvl7pPr>
            <a:lvl8pPr algn="ctr">
              <a:defRPr sz="1800" b="1">
                <a:solidFill>
                  <a:srgbClr val="CC6842"/>
                </a:solidFill>
                <a:latin typeface="Arial"/>
                <a:ea typeface="Arial"/>
                <a:cs typeface="Arial"/>
              </a:defRPr>
            </a:lvl8pPr>
            <a:lvl9pPr algn="ctr">
              <a:defRPr sz="1800" b="1">
                <a:solidFill>
                  <a:srgbClr val="CC6842"/>
                </a:solidFill>
                <a:latin typeface="Arial"/>
                <a:ea typeface="Arial"/>
                <a:cs typeface="Arial"/>
              </a:defRPr>
            </a:lvl9pPr>
          </a:lstStyle>
          <a:p xmlns:a="http://schemas.openxmlformats.org/drawingml/2006/main">
            <a:pPr algn="ctr">
              <a:defRPr sz="1800" b="1">
                <a:solidFill>
                  <a:srgbClr val="CC6842"/>
                </a:solidFill>
                <a:latin typeface="Arial"/>
                <a:ea typeface="Arial"/>
                <a:cs typeface="Arial"/>
              </a:defRPr>
            </a:pPr>
            <a:r>
              <a:rPr sz="1800" b="1">
                <a:solidFill>
                  <a:srgbClr val="CC6842"/>
                </a:solidFill>
                <a:latin typeface="Arial"/>
                <a:ea typeface="Arial"/>
                <a:cs typeface="Arial"/>
              </a:rPr>
              <a:t>Percentage heuristic</a:t>
            </a:r>
          </a:p>
        </p:txBody>
      </p:sp>
      <p:sp>
        <p:nvSpPr>
          <p:cNvPr id="15" name="">
            <a:extLst xmlns:a="http://schemas.openxmlformats.org/drawingml/2006/main">
              <a:ext uri="{FF2B5EF4-FFF2-40B4-BE49-F238E27FC236}">
                <a16:creationId xmlns:a16="http://schemas.microsoft.com/office/drawing/2014/main" id="{93B7B569-D617-4504-87C0-7702EC48BFDE}"/>
              </a:ext>
            </a:extLst>
          </p:cNvPr>
          <p:cNvSpPr>
            <a:spLocks xmlns:a="http://schemas.openxmlformats.org/drawingml/2006/main" noGrp="1"/>
          </p:cNvSpPr>
          <p:nvPr/>
        </p:nvSpPr>
        <p:spPr>
          <a:xfrm xmlns:a="http://schemas.openxmlformats.org/drawingml/2006/main">
            <a:off x="5153025" y="23907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0">
                <a:solidFill>
                  <a:srgbClr val="152536"/>
                </a:solidFill>
                <a:latin typeface="Arial"/>
                <a:ea typeface="Arial"/>
                <a:cs typeface="Arial"/>
              </a:defRPr>
            </a:defPPr>
            <a:lvl1pPr algn="ctr">
              <a:defRPr sz="1425" b="0">
                <a:solidFill>
                  <a:srgbClr val="152536"/>
                </a:solidFill>
                <a:latin typeface="Arial"/>
                <a:ea typeface="Arial"/>
                <a:cs typeface="Arial"/>
              </a:defRPr>
            </a:lvl1pPr>
            <a:lvl2pPr algn="ctr">
              <a:defRPr sz="1425" b="0">
                <a:solidFill>
                  <a:srgbClr val="152536"/>
                </a:solidFill>
                <a:latin typeface="Arial"/>
                <a:ea typeface="Arial"/>
                <a:cs typeface="Arial"/>
              </a:defRPr>
            </a:lvl2pPr>
            <a:lvl3pPr algn="ctr">
              <a:defRPr sz="1425" b="0">
                <a:solidFill>
                  <a:srgbClr val="152536"/>
                </a:solidFill>
                <a:latin typeface="Arial"/>
                <a:ea typeface="Arial"/>
                <a:cs typeface="Arial"/>
              </a:defRPr>
            </a:lvl3pPr>
            <a:lvl4pPr algn="ctr">
              <a:defRPr sz="1425" b="0">
                <a:solidFill>
                  <a:srgbClr val="152536"/>
                </a:solidFill>
                <a:latin typeface="Arial"/>
                <a:ea typeface="Arial"/>
                <a:cs typeface="Arial"/>
              </a:defRPr>
            </a:lvl4pPr>
            <a:lvl5pPr algn="ctr">
              <a:defRPr sz="1425" b="0">
                <a:solidFill>
                  <a:srgbClr val="152536"/>
                </a:solidFill>
                <a:latin typeface="Arial"/>
                <a:ea typeface="Arial"/>
                <a:cs typeface="Arial"/>
              </a:defRPr>
            </a:lvl5pPr>
            <a:lvl6pPr algn="ctr">
              <a:defRPr sz="1425" b="0">
                <a:solidFill>
                  <a:srgbClr val="152536"/>
                </a:solidFill>
                <a:latin typeface="Arial"/>
                <a:ea typeface="Arial"/>
                <a:cs typeface="Arial"/>
              </a:defRPr>
            </a:lvl6pPr>
            <a:lvl7pPr algn="ctr">
              <a:defRPr sz="1425" b="0">
                <a:solidFill>
                  <a:srgbClr val="152536"/>
                </a:solidFill>
                <a:latin typeface="Arial"/>
                <a:ea typeface="Arial"/>
                <a:cs typeface="Arial"/>
              </a:defRPr>
            </a:lvl7pPr>
            <a:lvl8pPr algn="ctr">
              <a:defRPr sz="1425" b="0">
                <a:solidFill>
                  <a:srgbClr val="152536"/>
                </a:solidFill>
                <a:latin typeface="Arial"/>
                <a:ea typeface="Arial"/>
                <a:cs typeface="Arial"/>
              </a:defRPr>
            </a:lvl8pPr>
            <a:lvl9pPr algn="ctr">
              <a:defRPr sz="1425" b="0">
                <a:solidFill>
                  <a:srgbClr val="152536"/>
                </a:solidFill>
                <a:latin typeface="Arial"/>
                <a:ea typeface="Arial"/>
                <a:cs typeface="Arial"/>
              </a:defRPr>
            </a:lvl9pPr>
          </a:lstStyle>
          <a:p xmlns:a="http://schemas.openxmlformats.org/drawingml/2006/main">
            <a:pPr algn="ctr">
              <a:defRPr sz="1425" b="0">
                <a:solidFill>
                  <a:srgbClr val="152536"/>
                </a:solidFill>
                <a:latin typeface="Arial"/>
                <a:ea typeface="Arial"/>
                <a:cs typeface="Arial"/>
              </a:defRPr>
            </a:pPr>
            <a:r>
              <a:rPr sz="1425" b="0">
                <a:solidFill>
                  <a:srgbClr val="152536"/>
                </a:solidFill>
                <a:latin typeface="Arial"/>
                <a:ea typeface="Arial"/>
                <a:cs typeface="Arial"/>
              </a:rPr>
              <a:t>Highest violation percentage</a:t>
            </a:r>
          </a:p>
        </p:txBody>
      </p:sp>
      <p:sp>
        <p:nvSpPr>
          <p:cNvPr id="16" name="">
            <a:extLst xmlns:a="http://schemas.openxmlformats.org/drawingml/2006/main">
              <a:ext uri="{FF2B5EF4-FFF2-40B4-BE49-F238E27FC236}">
                <a16:creationId xmlns:a16="http://schemas.microsoft.com/office/drawing/2014/main" id="{144D1F52-B962-4A07-A6C5-DB808A30CFB0}"/>
              </a:ext>
            </a:extLst>
          </p:cNvPr>
          <p:cNvSpPr>
            <a:spLocks xmlns:a="http://schemas.openxmlformats.org/drawingml/2006/main" noGrp="1"/>
          </p:cNvSpPr>
          <p:nvPr/>
        </p:nvSpPr>
        <p:spPr>
          <a:xfrm xmlns:a="http://schemas.openxmlformats.org/drawingml/2006/main">
            <a:off x="4953000" y="3371850"/>
            <a:ext cx="2857500" cy="1219200"/>
          </a:xfrm>
          <a:prstGeom xmlns:a="http://schemas.openxmlformats.org/drawingml/2006/main" prst="roundRect">
            <a:avLst>
              <a:gd name="adj" fmla="val 6250"/>
            </a:avLst>
          </a:prstGeom>
          <a:solidFill xmlns:a="http://schemas.openxmlformats.org/drawingml/2006/main">
            <a:srgbClr val="DCEDE9"/>
          </a:solidFill>
          <a:ln xmlns:a="http://schemas.openxmlformats.org/drawingml/2006/main" w="14288">
            <a:solidFill>
              <a:srgbClr val="117C7B"/>
            </a:solidFill>
            <a:prstDash val="solid"/>
          </a:ln>
        </p:spPr>
      </p:sp>
      <p:sp>
        <p:nvSpPr>
          <p:cNvPr id="17" name="">
            <a:extLst xmlns:a="http://schemas.openxmlformats.org/drawingml/2006/main">
              <a:ext uri="{FF2B5EF4-FFF2-40B4-BE49-F238E27FC236}">
                <a16:creationId xmlns:a16="http://schemas.microsoft.com/office/drawing/2014/main" id="{289C3797-98CE-412A-BD43-49330B7AF8FC}"/>
              </a:ext>
            </a:extLst>
          </p:cNvPr>
          <p:cNvSpPr>
            <a:spLocks xmlns:a="http://schemas.openxmlformats.org/drawingml/2006/main" noGrp="1"/>
          </p:cNvSpPr>
          <p:nvPr/>
        </p:nvSpPr>
        <p:spPr>
          <a:xfrm xmlns:a="http://schemas.openxmlformats.org/drawingml/2006/main">
            <a:off x="5181600" y="36004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117C7B"/>
                </a:solidFill>
                <a:latin typeface="Arial"/>
                <a:ea typeface="Arial"/>
                <a:cs typeface="Arial"/>
              </a:defRPr>
            </a:defPPr>
            <a:lvl1pPr algn="ctr">
              <a:defRPr sz="1875" b="1">
                <a:solidFill>
                  <a:srgbClr val="117C7B"/>
                </a:solidFill>
                <a:latin typeface="Arial"/>
                <a:ea typeface="Arial"/>
                <a:cs typeface="Arial"/>
              </a:defRPr>
            </a:lvl1pPr>
            <a:lvl2pPr algn="ctr">
              <a:defRPr sz="1875" b="1">
                <a:solidFill>
                  <a:srgbClr val="117C7B"/>
                </a:solidFill>
                <a:latin typeface="Arial"/>
                <a:ea typeface="Arial"/>
                <a:cs typeface="Arial"/>
              </a:defRPr>
            </a:lvl2pPr>
            <a:lvl3pPr algn="ctr">
              <a:defRPr sz="1875" b="1">
                <a:solidFill>
                  <a:srgbClr val="117C7B"/>
                </a:solidFill>
                <a:latin typeface="Arial"/>
                <a:ea typeface="Arial"/>
                <a:cs typeface="Arial"/>
              </a:defRPr>
            </a:lvl3pPr>
            <a:lvl4pPr algn="ctr">
              <a:defRPr sz="1875" b="1">
                <a:solidFill>
                  <a:srgbClr val="117C7B"/>
                </a:solidFill>
                <a:latin typeface="Arial"/>
                <a:ea typeface="Arial"/>
                <a:cs typeface="Arial"/>
              </a:defRPr>
            </a:lvl4pPr>
            <a:lvl5pPr algn="ctr">
              <a:defRPr sz="1875" b="1">
                <a:solidFill>
                  <a:srgbClr val="117C7B"/>
                </a:solidFill>
                <a:latin typeface="Arial"/>
                <a:ea typeface="Arial"/>
                <a:cs typeface="Arial"/>
              </a:defRPr>
            </a:lvl5pPr>
            <a:lvl6pPr algn="ctr">
              <a:defRPr sz="1875" b="1">
                <a:solidFill>
                  <a:srgbClr val="117C7B"/>
                </a:solidFill>
                <a:latin typeface="Arial"/>
                <a:ea typeface="Arial"/>
                <a:cs typeface="Arial"/>
              </a:defRPr>
            </a:lvl6pPr>
            <a:lvl7pPr algn="ctr">
              <a:defRPr sz="1875" b="1">
                <a:solidFill>
                  <a:srgbClr val="117C7B"/>
                </a:solidFill>
                <a:latin typeface="Arial"/>
                <a:ea typeface="Arial"/>
                <a:cs typeface="Arial"/>
              </a:defRPr>
            </a:lvl7pPr>
            <a:lvl8pPr algn="ctr">
              <a:defRPr sz="1875" b="1">
                <a:solidFill>
                  <a:srgbClr val="117C7B"/>
                </a:solidFill>
                <a:latin typeface="Arial"/>
                <a:ea typeface="Arial"/>
                <a:cs typeface="Arial"/>
              </a:defRPr>
            </a:lvl8pPr>
            <a:lvl9pPr algn="ctr">
              <a:defRPr sz="1875" b="1">
                <a:solidFill>
                  <a:srgbClr val="117C7B"/>
                </a:solidFill>
                <a:latin typeface="Arial"/>
                <a:ea typeface="Arial"/>
                <a:cs typeface="Arial"/>
              </a:defRPr>
            </a:lvl9pPr>
          </a:lstStyle>
          <a:p xmlns:a="http://schemas.openxmlformats.org/drawingml/2006/main">
            <a:pPr algn="ctr">
              <a:defRPr sz="1875" b="1">
                <a:solidFill>
                  <a:srgbClr val="117C7B"/>
                </a:solidFill>
                <a:latin typeface="Arial"/>
                <a:ea typeface="Arial"/>
                <a:cs typeface="Arial"/>
              </a:defRPr>
            </a:pPr>
            <a:r>
              <a:rPr sz="1875" b="1">
                <a:solidFill>
                  <a:srgbClr val="117C7B"/>
                </a:solidFill>
                <a:latin typeface="Arial"/>
                <a:ea typeface="Arial"/>
                <a:cs typeface="Arial"/>
              </a:rPr>
              <a:t>Random Forest</a:t>
            </a:r>
          </a:p>
        </p:txBody>
      </p:sp>
      <p:sp>
        <p:nvSpPr>
          <p:cNvPr id="18" name="">
            <a:extLst xmlns:a="http://schemas.openxmlformats.org/drawingml/2006/main">
              <a:ext uri="{FF2B5EF4-FFF2-40B4-BE49-F238E27FC236}">
                <a16:creationId xmlns:a16="http://schemas.microsoft.com/office/drawing/2014/main" id="{9D1FDB82-237F-41D6-868E-542967D3F831}"/>
              </a:ext>
            </a:extLst>
          </p:cNvPr>
          <p:cNvSpPr>
            <a:spLocks xmlns:a="http://schemas.openxmlformats.org/drawingml/2006/main" noGrp="1"/>
          </p:cNvSpPr>
          <p:nvPr/>
        </p:nvSpPr>
        <p:spPr>
          <a:xfrm xmlns:a="http://schemas.openxmlformats.org/drawingml/2006/main">
            <a:off x="5153025" y="40386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87"/>
          </a:bodyPr>
          <a:lstStyle xmlns:a="http://schemas.openxmlformats.org/drawingml/2006/main">
            <a:defPPr algn="ctr">
              <a:defRPr sz="1425" b="0">
                <a:solidFill>
                  <a:srgbClr val="152536"/>
                </a:solidFill>
                <a:latin typeface="Arial"/>
                <a:ea typeface="Arial"/>
                <a:cs typeface="Arial"/>
              </a:defRPr>
            </a:defPPr>
            <a:lvl1pPr algn="ctr">
              <a:defRPr sz="1425" b="0">
                <a:solidFill>
                  <a:srgbClr val="152536"/>
                </a:solidFill>
                <a:latin typeface="Arial"/>
                <a:ea typeface="Arial"/>
                <a:cs typeface="Arial"/>
              </a:defRPr>
            </a:lvl1pPr>
            <a:lvl2pPr algn="ctr">
              <a:defRPr sz="1425" b="0">
                <a:solidFill>
                  <a:srgbClr val="152536"/>
                </a:solidFill>
                <a:latin typeface="Arial"/>
                <a:ea typeface="Arial"/>
                <a:cs typeface="Arial"/>
              </a:defRPr>
            </a:lvl2pPr>
            <a:lvl3pPr algn="ctr">
              <a:defRPr sz="1425" b="0">
                <a:solidFill>
                  <a:srgbClr val="152536"/>
                </a:solidFill>
                <a:latin typeface="Arial"/>
                <a:ea typeface="Arial"/>
                <a:cs typeface="Arial"/>
              </a:defRPr>
            </a:lvl3pPr>
            <a:lvl4pPr algn="ctr">
              <a:defRPr sz="1425" b="0">
                <a:solidFill>
                  <a:srgbClr val="152536"/>
                </a:solidFill>
                <a:latin typeface="Arial"/>
                <a:ea typeface="Arial"/>
                <a:cs typeface="Arial"/>
              </a:defRPr>
            </a:lvl4pPr>
            <a:lvl5pPr algn="ctr">
              <a:defRPr sz="1425" b="0">
                <a:solidFill>
                  <a:srgbClr val="152536"/>
                </a:solidFill>
                <a:latin typeface="Arial"/>
                <a:ea typeface="Arial"/>
                <a:cs typeface="Arial"/>
              </a:defRPr>
            </a:lvl5pPr>
            <a:lvl6pPr algn="ctr">
              <a:defRPr sz="1425" b="0">
                <a:solidFill>
                  <a:srgbClr val="152536"/>
                </a:solidFill>
                <a:latin typeface="Arial"/>
                <a:ea typeface="Arial"/>
                <a:cs typeface="Arial"/>
              </a:defRPr>
            </a:lvl6pPr>
            <a:lvl7pPr algn="ctr">
              <a:defRPr sz="1425" b="0">
                <a:solidFill>
                  <a:srgbClr val="152536"/>
                </a:solidFill>
                <a:latin typeface="Arial"/>
                <a:ea typeface="Arial"/>
                <a:cs typeface="Arial"/>
              </a:defRPr>
            </a:lvl7pPr>
            <a:lvl8pPr algn="ctr">
              <a:defRPr sz="1425" b="0">
                <a:solidFill>
                  <a:srgbClr val="152536"/>
                </a:solidFill>
                <a:latin typeface="Arial"/>
                <a:ea typeface="Arial"/>
                <a:cs typeface="Arial"/>
              </a:defRPr>
            </a:lvl8pPr>
            <a:lvl9pPr algn="ctr">
              <a:defRPr sz="1425" b="0">
                <a:solidFill>
                  <a:srgbClr val="152536"/>
                </a:solidFill>
                <a:latin typeface="Arial"/>
                <a:ea typeface="Arial"/>
                <a:cs typeface="Arial"/>
              </a:defRPr>
            </a:lvl9pPr>
          </a:lstStyle>
          <a:p xmlns:a="http://schemas.openxmlformats.org/drawingml/2006/main">
            <a:pPr algn="ctr">
              <a:defRPr sz="1425" b="0">
                <a:solidFill>
                  <a:srgbClr val="152536"/>
                </a:solidFill>
                <a:latin typeface="Arial"/>
                <a:ea typeface="Arial"/>
                <a:cs typeface="Arial"/>
              </a:defRPr>
            </a:pPr>
            <a:r>
              <a:rPr sz="1425" b="0">
                <a:solidFill>
                  <a:srgbClr val="152536"/>
                </a:solidFill>
                <a:latin typeface="Arial"/>
                <a:ea typeface="Arial"/>
                <a:cs typeface="Arial"/>
              </a:rPr>
              <a:t>Highest predicted improvement</a:t>
            </a:r>
          </a:p>
        </p:txBody>
      </p:sp>
      <p:sp>
        <p:nvSpPr>
          <p:cNvPr id="19" name="">
            <a:extLst xmlns:a="http://schemas.openxmlformats.org/drawingml/2006/main">
              <a:ext uri="{FF2B5EF4-FFF2-40B4-BE49-F238E27FC236}">
                <a16:creationId xmlns:a16="http://schemas.microsoft.com/office/drawing/2014/main" id="{9132EF8D-0976-4A27-8D89-FDE114F24B70}"/>
              </a:ext>
            </a:extLst>
          </p:cNvPr>
          <p:cNvSpPr>
            <a:spLocks xmlns:a="http://schemas.openxmlformats.org/drawingml/2006/main" noGrp="1"/>
          </p:cNvSpPr>
          <p:nvPr/>
        </p:nvSpPr>
        <p:spPr>
          <a:xfrm xmlns:a="http://schemas.openxmlformats.org/drawingml/2006/main" flipV="0">
            <a:off x="7810500" y="2333625"/>
            <a:ext cx="676275" cy="0"/>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20" name="">
            <a:extLst xmlns:a="http://schemas.openxmlformats.org/drawingml/2006/main">
              <a:ext uri="{FF2B5EF4-FFF2-40B4-BE49-F238E27FC236}">
                <a16:creationId xmlns:a16="http://schemas.microsoft.com/office/drawing/2014/main" id="{F3DDF128-3769-44CF-912E-4793F0BDFA4C}"/>
              </a:ext>
            </a:extLst>
          </p:cNvPr>
          <p:cNvSpPr>
            <a:spLocks xmlns:a="http://schemas.openxmlformats.org/drawingml/2006/main" noGrp="1"/>
          </p:cNvSpPr>
          <p:nvPr/>
        </p:nvSpPr>
        <p:spPr>
          <a:xfrm xmlns:a="http://schemas.openxmlformats.org/drawingml/2006/main" flipV="0">
            <a:off x="7810500" y="3981450"/>
            <a:ext cx="676275" cy="0"/>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21" name="">
            <a:extLst xmlns:a="http://schemas.openxmlformats.org/drawingml/2006/main">
              <a:ext uri="{FF2B5EF4-FFF2-40B4-BE49-F238E27FC236}">
                <a16:creationId xmlns:a16="http://schemas.microsoft.com/office/drawing/2014/main" id="{988E888C-D2F5-4D7D-A4DC-EE5070999DA0}"/>
              </a:ext>
            </a:extLst>
          </p:cNvPr>
          <p:cNvSpPr>
            <a:spLocks xmlns:a="http://schemas.openxmlformats.org/drawingml/2006/main" noGrp="1"/>
          </p:cNvSpPr>
          <p:nvPr/>
        </p:nvSpPr>
        <p:spPr>
          <a:xfrm xmlns:a="http://schemas.openxmlformats.org/drawingml/2006/main" flipV="0">
            <a:off x="8486775" y="2333625"/>
            <a:ext cx="0" cy="704850"/>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22" name="">
            <a:extLst xmlns:a="http://schemas.openxmlformats.org/drawingml/2006/main">
              <a:ext uri="{FF2B5EF4-FFF2-40B4-BE49-F238E27FC236}">
                <a16:creationId xmlns:a16="http://schemas.microsoft.com/office/drawing/2014/main" id="{296698EF-6BDF-4FCC-9F12-CE5D78EACBB6}"/>
              </a:ext>
            </a:extLst>
          </p:cNvPr>
          <p:cNvSpPr>
            <a:spLocks xmlns:a="http://schemas.openxmlformats.org/drawingml/2006/main" noGrp="1"/>
          </p:cNvSpPr>
          <p:nvPr/>
        </p:nvSpPr>
        <p:spPr>
          <a:xfrm xmlns:a="http://schemas.openxmlformats.org/drawingml/2006/main" flipV="0">
            <a:off x="8486775" y="3038475"/>
            <a:ext cx="0" cy="942975"/>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23" name="">
            <a:extLst xmlns:a="http://schemas.openxmlformats.org/drawingml/2006/main">
              <a:ext uri="{FF2B5EF4-FFF2-40B4-BE49-F238E27FC236}">
                <a16:creationId xmlns:a16="http://schemas.microsoft.com/office/drawing/2014/main" id="{E0F07BBF-8D99-49F2-9637-CC7EFD3E12BB}"/>
              </a:ext>
            </a:extLst>
          </p:cNvPr>
          <p:cNvSpPr>
            <a:spLocks xmlns:a="http://schemas.openxmlformats.org/drawingml/2006/main" noGrp="1"/>
          </p:cNvSpPr>
          <p:nvPr/>
        </p:nvSpPr>
        <p:spPr>
          <a:xfrm xmlns:a="http://schemas.openxmlformats.org/drawingml/2006/main" flipV="0">
            <a:off x="8486775" y="3038475"/>
            <a:ext cx="542925" cy="0"/>
          </a:xfrm>
          <a:prstGeom xmlns:a="http://schemas.openxmlformats.org/drawingml/2006/main" prst="line">
            <a:avLst/>
          </a:prstGeom>
          <a:noFill xmlns:a="http://schemas.openxmlformats.org/drawingml/2006/main"/>
          <a:ln xmlns:a="http://schemas.openxmlformats.org/drawingml/2006/main" w="28575">
            <a:solidFill>
              <a:srgbClr val="152536"/>
            </a:solidFill>
            <a:prstDash val="solid"/>
          </a:ln>
        </p:spPr>
      </p:sp>
      <p:sp>
        <p:nvSpPr>
          <p:cNvPr id="24" name="">
            <a:extLst xmlns:a="http://schemas.openxmlformats.org/drawingml/2006/main">
              <a:ext uri="{FF2B5EF4-FFF2-40B4-BE49-F238E27FC236}">
                <a16:creationId xmlns:a16="http://schemas.microsoft.com/office/drawing/2014/main" id="{6A08A051-4EB8-45ED-9C6F-3E4764F9B783}"/>
              </a:ext>
            </a:extLst>
          </p:cNvPr>
          <p:cNvSpPr>
            <a:spLocks xmlns:a="http://schemas.openxmlformats.org/drawingml/2006/main" noGrp="1"/>
          </p:cNvSpPr>
          <p:nvPr/>
        </p:nvSpPr>
        <p:spPr>
          <a:xfrm xmlns:a="http://schemas.openxmlformats.org/drawingml/2006/main">
            <a:off x="9029700" y="2428875"/>
            <a:ext cx="23812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4288">
            <a:solidFill>
              <a:srgbClr val="0D2935"/>
            </a:solidFill>
            <a:prstDash val="solid"/>
          </a:ln>
        </p:spPr>
      </p:sp>
      <p:sp>
        <p:nvSpPr>
          <p:cNvPr id="25" name="">
            <a:extLst xmlns:a="http://schemas.openxmlformats.org/drawingml/2006/main">
              <a:ext uri="{FF2B5EF4-FFF2-40B4-BE49-F238E27FC236}">
                <a16:creationId xmlns:a16="http://schemas.microsoft.com/office/drawing/2014/main" id="{832E6874-0625-43AC-9810-FBCD7F7E85F5}"/>
              </a:ext>
            </a:extLst>
          </p:cNvPr>
          <p:cNvSpPr>
            <a:spLocks xmlns:a="http://schemas.openxmlformats.org/drawingml/2006/main" noGrp="1"/>
          </p:cNvSpPr>
          <p:nvPr/>
        </p:nvSpPr>
        <p:spPr>
          <a:xfrm xmlns:a="http://schemas.openxmlformats.org/drawingml/2006/main">
            <a:off x="9239250" y="2638425"/>
            <a:ext cx="19716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52536"/>
                </a:solidFill>
                <a:latin typeface="Arial"/>
                <a:ea typeface="Arial"/>
                <a:cs typeface="Arial"/>
              </a:defRPr>
            </a:defPPr>
            <a:lvl1pPr algn="ctr">
              <a:defRPr sz="1800" b="1">
                <a:solidFill>
                  <a:srgbClr val="152536"/>
                </a:solidFill>
                <a:latin typeface="Arial"/>
                <a:ea typeface="Arial"/>
                <a:cs typeface="Arial"/>
              </a:defRPr>
            </a:lvl1pPr>
            <a:lvl2pPr algn="ctr">
              <a:defRPr sz="1800" b="1">
                <a:solidFill>
                  <a:srgbClr val="152536"/>
                </a:solidFill>
                <a:latin typeface="Arial"/>
                <a:ea typeface="Arial"/>
                <a:cs typeface="Arial"/>
              </a:defRPr>
            </a:lvl2pPr>
            <a:lvl3pPr algn="ctr">
              <a:defRPr sz="1800" b="1">
                <a:solidFill>
                  <a:srgbClr val="152536"/>
                </a:solidFill>
                <a:latin typeface="Arial"/>
                <a:ea typeface="Arial"/>
                <a:cs typeface="Arial"/>
              </a:defRPr>
            </a:lvl3pPr>
            <a:lvl4pPr algn="ctr">
              <a:defRPr sz="1800" b="1">
                <a:solidFill>
                  <a:srgbClr val="152536"/>
                </a:solidFill>
                <a:latin typeface="Arial"/>
                <a:ea typeface="Arial"/>
                <a:cs typeface="Arial"/>
              </a:defRPr>
            </a:lvl4pPr>
            <a:lvl5pPr algn="ctr">
              <a:defRPr sz="1800" b="1">
                <a:solidFill>
                  <a:srgbClr val="152536"/>
                </a:solidFill>
                <a:latin typeface="Arial"/>
                <a:ea typeface="Arial"/>
                <a:cs typeface="Arial"/>
              </a:defRPr>
            </a:lvl5pPr>
            <a:lvl6pPr algn="ctr">
              <a:defRPr sz="1800" b="1">
                <a:solidFill>
                  <a:srgbClr val="152536"/>
                </a:solidFill>
                <a:latin typeface="Arial"/>
                <a:ea typeface="Arial"/>
                <a:cs typeface="Arial"/>
              </a:defRPr>
            </a:lvl6pPr>
            <a:lvl7pPr algn="ctr">
              <a:defRPr sz="1800" b="1">
                <a:solidFill>
                  <a:srgbClr val="152536"/>
                </a:solidFill>
                <a:latin typeface="Arial"/>
                <a:ea typeface="Arial"/>
                <a:cs typeface="Arial"/>
              </a:defRPr>
            </a:lvl7pPr>
            <a:lvl8pPr algn="ctr">
              <a:defRPr sz="1800" b="1">
                <a:solidFill>
                  <a:srgbClr val="152536"/>
                </a:solidFill>
                <a:latin typeface="Arial"/>
                <a:ea typeface="Arial"/>
                <a:cs typeface="Arial"/>
              </a:defRPr>
            </a:lvl8pPr>
            <a:lvl9pPr algn="ctr">
              <a:defRPr sz="1800" b="1">
                <a:solidFill>
                  <a:srgbClr val="152536"/>
                </a:solidFill>
                <a:latin typeface="Arial"/>
                <a:ea typeface="Arial"/>
                <a:cs typeface="Arial"/>
              </a:defRPr>
            </a:lvl9pPr>
          </a:lstStyle>
          <a:p xmlns:a="http://schemas.openxmlformats.org/drawingml/2006/main">
            <a:pPr algn="ctr">
              <a:defRPr sz="1800" b="1">
                <a:solidFill>
                  <a:srgbClr val="152536"/>
                </a:solidFill>
                <a:latin typeface="Arial"/>
                <a:ea typeface="Arial"/>
                <a:cs typeface="Arial"/>
              </a:defRPr>
            </a:pPr>
            <a:r>
              <a:rPr sz="1800" b="1">
                <a:solidFill>
                  <a:srgbClr val="152536"/>
                </a:solidFill>
                <a:latin typeface="Arial"/>
                <a:ea typeface="Arial"/>
                <a:cs typeface="Arial"/>
              </a:rPr>
              <a:t>Same best-value</a:t>
            </a:r>
          </a:p>
          <a:p xmlns:a="http://schemas.openxmlformats.org/drawingml/2006/main">
            <a:pPr algn="ctr">
              <a:defRPr sz="1800" b="1">
                <a:solidFill>
                  <a:srgbClr val="152536"/>
                </a:solidFill>
                <a:latin typeface="Arial"/>
                <a:ea typeface="Arial"/>
                <a:cs typeface="Arial"/>
              </a:defRPr>
            </a:pPr>
            <a:r>
              <a:rPr sz="1800" b="1">
                <a:solidFill>
                  <a:srgbClr val="152536"/>
                </a:solidFill>
                <a:latin typeface="Arial"/>
                <a:ea typeface="Arial"/>
                <a:cs typeface="Arial"/>
              </a:rPr>
              <a:t>mutation</a:t>
            </a:r>
          </a:p>
        </p:txBody>
      </p:sp>
      <p:sp>
        <p:nvSpPr>
          <p:cNvPr id="26" name="">
            <a:extLst xmlns:a="http://schemas.openxmlformats.org/drawingml/2006/main">
              <a:ext uri="{FF2B5EF4-FFF2-40B4-BE49-F238E27FC236}">
                <a16:creationId xmlns:a16="http://schemas.microsoft.com/office/drawing/2014/main" id="{93524F88-A7CF-4BE9-B09C-A5A12A7F7EB8}"/>
              </a:ext>
            </a:extLst>
          </p:cNvPr>
          <p:cNvSpPr>
            <a:spLocks xmlns:a="http://schemas.openxmlformats.org/drawingml/2006/main" noGrp="1"/>
          </p:cNvSpPr>
          <p:nvPr/>
        </p:nvSpPr>
        <p:spPr>
          <a:xfrm xmlns:a="http://schemas.openxmlformats.org/drawingml/2006/main">
            <a:off x="9172575" y="32480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526273"/>
                </a:solidFill>
                <a:latin typeface="Arial"/>
                <a:ea typeface="Arial"/>
                <a:cs typeface="Arial"/>
              </a:defRPr>
            </a:defPPr>
            <a:lvl1pPr algn="ctr">
              <a:defRPr sz="1350" b="0">
                <a:solidFill>
                  <a:srgbClr val="526273"/>
                </a:solidFill>
                <a:latin typeface="Arial"/>
                <a:ea typeface="Arial"/>
                <a:cs typeface="Arial"/>
              </a:defRPr>
            </a:lvl1pPr>
            <a:lvl2pPr algn="ctr">
              <a:defRPr sz="1350" b="0">
                <a:solidFill>
                  <a:srgbClr val="526273"/>
                </a:solidFill>
                <a:latin typeface="Arial"/>
                <a:ea typeface="Arial"/>
                <a:cs typeface="Arial"/>
              </a:defRPr>
            </a:lvl2pPr>
            <a:lvl3pPr algn="ctr">
              <a:defRPr sz="1350" b="0">
                <a:solidFill>
                  <a:srgbClr val="526273"/>
                </a:solidFill>
                <a:latin typeface="Arial"/>
                <a:ea typeface="Arial"/>
                <a:cs typeface="Arial"/>
              </a:defRPr>
            </a:lvl3pPr>
            <a:lvl4pPr algn="ctr">
              <a:defRPr sz="1350" b="0">
                <a:solidFill>
                  <a:srgbClr val="526273"/>
                </a:solidFill>
                <a:latin typeface="Arial"/>
                <a:ea typeface="Arial"/>
                <a:cs typeface="Arial"/>
              </a:defRPr>
            </a:lvl4pPr>
            <a:lvl5pPr algn="ctr">
              <a:defRPr sz="1350" b="0">
                <a:solidFill>
                  <a:srgbClr val="526273"/>
                </a:solidFill>
                <a:latin typeface="Arial"/>
                <a:ea typeface="Arial"/>
                <a:cs typeface="Arial"/>
              </a:defRPr>
            </a:lvl5pPr>
            <a:lvl6pPr algn="ctr">
              <a:defRPr sz="1350" b="0">
                <a:solidFill>
                  <a:srgbClr val="526273"/>
                </a:solidFill>
                <a:latin typeface="Arial"/>
                <a:ea typeface="Arial"/>
                <a:cs typeface="Arial"/>
              </a:defRPr>
            </a:lvl6pPr>
            <a:lvl7pPr algn="ctr">
              <a:defRPr sz="1350" b="0">
                <a:solidFill>
                  <a:srgbClr val="526273"/>
                </a:solidFill>
                <a:latin typeface="Arial"/>
                <a:ea typeface="Arial"/>
                <a:cs typeface="Arial"/>
              </a:defRPr>
            </a:lvl7pPr>
            <a:lvl8pPr algn="ctr">
              <a:defRPr sz="1350" b="0">
                <a:solidFill>
                  <a:srgbClr val="526273"/>
                </a:solidFill>
                <a:latin typeface="Arial"/>
                <a:ea typeface="Arial"/>
                <a:cs typeface="Arial"/>
              </a:defRPr>
            </a:lvl8pPr>
            <a:lvl9pPr algn="ctr">
              <a:defRPr sz="1350" b="0">
                <a:solidFill>
                  <a:srgbClr val="526273"/>
                </a:solidFill>
                <a:latin typeface="Arial"/>
                <a:ea typeface="Arial"/>
                <a:cs typeface="Arial"/>
              </a:defRPr>
            </a:lvl9pPr>
          </a:lstStyle>
          <a:p xmlns:a="http://schemas.openxmlformats.org/drawingml/2006/main">
            <a:pPr algn="ctr">
              <a:defRPr sz="1350" b="0">
                <a:solidFill>
                  <a:srgbClr val="526273"/>
                </a:solidFill>
                <a:latin typeface="Arial"/>
                <a:ea typeface="Arial"/>
                <a:cs typeface="Arial"/>
              </a:defRPr>
            </a:pPr>
            <a:r>
              <a:rPr sz="1350" b="0">
                <a:solidFill>
                  <a:srgbClr val="526273"/>
                </a:solidFill>
                <a:latin typeface="Arial"/>
                <a:ea typeface="Arial"/>
                <a:cs typeface="Arial"/>
              </a:rPr>
              <a:t>Compare actual gain</a:t>
            </a:r>
          </a:p>
        </p:txBody>
      </p:sp>
      <p:sp>
        <p:nvSpPr>
          <p:cNvPr id="27" name="">
            <a:extLst xmlns:a="http://schemas.openxmlformats.org/drawingml/2006/main">
              <a:ext uri="{FF2B5EF4-FFF2-40B4-BE49-F238E27FC236}">
                <a16:creationId xmlns:a16="http://schemas.microsoft.com/office/drawing/2014/main" id="{66BFAC3B-09A9-4B69-B06F-EA012E1545C0}"/>
              </a:ext>
            </a:extLst>
          </p:cNvPr>
          <p:cNvSpPr>
            <a:spLocks xmlns:a="http://schemas.openxmlformats.org/drawingml/2006/main" noGrp="1"/>
          </p:cNvSpPr>
          <p:nvPr/>
        </p:nvSpPr>
        <p:spPr>
          <a:xfrm xmlns:a="http://schemas.openxmlformats.org/drawingml/2006/main">
            <a:off x="781050" y="53340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26273"/>
                </a:solidFill>
                <a:latin typeface="Arial"/>
                <a:ea typeface="Arial"/>
                <a:cs typeface="Arial"/>
              </a:defRPr>
            </a:defPPr>
            <a:lvl1pPr algn="l">
              <a:defRPr sz="1500" b="0">
                <a:solidFill>
                  <a:srgbClr val="526273"/>
                </a:solidFill>
                <a:latin typeface="Arial"/>
                <a:ea typeface="Arial"/>
                <a:cs typeface="Arial"/>
              </a:defRPr>
            </a:lvl1pPr>
            <a:lvl2pPr algn="l">
              <a:defRPr sz="1500" b="0">
                <a:solidFill>
                  <a:srgbClr val="526273"/>
                </a:solidFill>
                <a:latin typeface="Arial"/>
                <a:ea typeface="Arial"/>
                <a:cs typeface="Arial"/>
              </a:defRPr>
            </a:lvl2pPr>
            <a:lvl3pPr algn="l">
              <a:defRPr sz="1500" b="0">
                <a:solidFill>
                  <a:srgbClr val="526273"/>
                </a:solidFill>
                <a:latin typeface="Arial"/>
                <a:ea typeface="Arial"/>
                <a:cs typeface="Arial"/>
              </a:defRPr>
            </a:lvl3pPr>
            <a:lvl4pPr algn="l">
              <a:defRPr sz="1500" b="0">
                <a:solidFill>
                  <a:srgbClr val="526273"/>
                </a:solidFill>
                <a:latin typeface="Arial"/>
                <a:ea typeface="Arial"/>
                <a:cs typeface="Arial"/>
              </a:defRPr>
            </a:lvl4pPr>
            <a:lvl5pPr algn="l">
              <a:defRPr sz="1500" b="0">
                <a:solidFill>
                  <a:srgbClr val="526273"/>
                </a:solidFill>
                <a:latin typeface="Arial"/>
                <a:ea typeface="Arial"/>
                <a:cs typeface="Arial"/>
              </a:defRPr>
            </a:lvl5pPr>
            <a:lvl6pPr algn="l">
              <a:defRPr sz="1500" b="0">
                <a:solidFill>
                  <a:srgbClr val="526273"/>
                </a:solidFill>
                <a:latin typeface="Arial"/>
                <a:ea typeface="Arial"/>
                <a:cs typeface="Arial"/>
              </a:defRPr>
            </a:lvl6pPr>
            <a:lvl7pPr algn="l">
              <a:defRPr sz="1500" b="0">
                <a:solidFill>
                  <a:srgbClr val="526273"/>
                </a:solidFill>
                <a:latin typeface="Arial"/>
                <a:ea typeface="Arial"/>
                <a:cs typeface="Arial"/>
              </a:defRPr>
            </a:lvl7pPr>
            <a:lvl8pPr algn="l">
              <a:defRPr sz="1500" b="0">
                <a:solidFill>
                  <a:srgbClr val="526273"/>
                </a:solidFill>
                <a:latin typeface="Arial"/>
                <a:ea typeface="Arial"/>
                <a:cs typeface="Arial"/>
              </a:defRPr>
            </a:lvl8pPr>
            <a:lvl9pPr algn="l">
              <a:defRPr sz="1500" b="0">
                <a:solidFill>
                  <a:srgbClr val="526273"/>
                </a:solidFill>
                <a:latin typeface="Arial"/>
                <a:ea typeface="Arial"/>
                <a:cs typeface="Arial"/>
              </a:defRPr>
            </a:lvl9pPr>
          </a:lstStyle>
          <a:p xmlns:a="http://schemas.openxmlformats.org/drawingml/2006/main">
            <a:pPr algn="l">
              <a:defRPr sz="1500" b="0">
                <a:solidFill>
                  <a:srgbClr val="526273"/>
                </a:solidFill>
                <a:latin typeface="Arial"/>
                <a:ea typeface="Arial"/>
                <a:cs typeface="Arial"/>
              </a:defRPr>
            </a:pPr>
            <a:r>
              <a:rPr sz="1500" b="0">
                <a:solidFill>
                  <a:srgbClr val="526273"/>
                </a:solidFill>
                <a:latin typeface="Arial"/>
                <a:ea typeface="Arial"/>
                <a:cs typeface="Arial"/>
              </a:rPr>
              <a:t>Heuristic ties: percentage → incident violations → lower index · ML ties: lower index</a:t>
            </a:r>
          </a:p>
        </p:txBody>
      </p:sp>
    </p:spTree>
    <p:extLst>
      <p:ext uri="{BB962C8B-B14F-4D97-AF65-F5344CB8AC3E}">
        <p14:creationId xmlns:p14="http://schemas.microsoft.com/office/powerpoint/2010/main" val="25545810"/>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slide-8-title">
            <a:extLst xmlns:a="http://schemas.openxmlformats.org/drawingml/2006/main">
              <a:ext uri="{FF2B5EF4-FFF2-40B4-BE49-F238E27FC236}">
                <a16:creationId xmlns:a16="http://schemas.microsoft.com/office/drawing/2014/main" id="{9DCCD255-D788-44C5-9DED-01D155462CA9}"/>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Actual one-step results</a:t>
            </a:r>
          </a:p>
        </p:txBody>
      </p:sp>
      <p:sp>
        <p:nvSpPr>
          <p:cNvPr id="2" name="">
            <a:extLst xmlns:a="http://schemas.openxmlformats.org/drawingml/2006/main">
              <a:ext uri="{FF2B5EF4-FFF2-40B4-BE49-F238E27FC236}">
                <a16:creationId xmlns:a16="http://schemas.microsoft.com/office/drawing/2014/main" id="{CC7D75AE-BD05-4FA2-AFEC-8693F9B67DD6}"/>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06B212C0-04A0-4263-AA26-009D6C922585}"/>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CA49FFC5-231D-4FAF-A764-786E5C2335E5}"/>
              </a:ext>
            </a:extLst>
          </p:cNvPr>
          <p:cNvGraphicFramePr/>
          <p:nvPr/>
        </p:nvGraphicFramePr>
        <p:xfrm>
          <a:off xmlns:a="http://schemas.openxmlformats.org/drawingml/2006/main" x="685800" y="1685925"/>
          <a:ext xmlns:a="http://schemas.openxmlformats.org/drawingml/2006/main" cx="4953000" cy="3143250"/>
        </p:xfrm>
        <a:graphic xmlns:a="http://schemas.openxmlformats.org/drawingml/2006/main">
          <a:graphicData uri="http://schemas.openxmlformats.org/drawingml/2006/chart">
            <c:chart xmlns:r="http://schemas.openxmlformats.org/officeDocument/2006/relationships" xmlns:c="http://schemas.openxmlformats.org/drawingml/2006/chart" r:id="Reec0719f70674619"/>
          </a:graphicData>
        </a:graphic>
      </p:graphicFrame>
      <p:graphicFrame>
        <p:nvGraphicFramePr>
          <p:cNvPr id="5" name="">
            <a:extLst xmlns:a="http://schemas.openxmlformats.org/drawingml/2006/main">
              <a:ext uri="{FF2B5EF4-FFF2-40B4-BE49-F238E27FC236}">
                <a16:creationId xmlns:a16="http://schemas.microsoft.com/office/drawing/2014/main" id="{DD4EA2D8-DE71-4588-9BC1-C9FEA3F4F42A}"/>
              </a:ext>
            </a:extLst>
          </p:cNvPr>
          <p:cNvGraphicFramePr/>
          <p:nvPr/>
        </p:nvGraphicFramePr>
        <p:xfrm>
          <a:off xmlns:a="http://schemas.openxmlformats.org/drawingml/2006/main" x="5981700" y="1619250"/>
          <a:ext xmlns:a="http://schemas.openxmlformats.org/drawingml/2006/main" cx="5476875" cy="2095500"/>
        </p:xfrm>
        <a:graphic xmlns:a="http://schemas.openxmlformats.org/drawingml/2006/main">
          <a:graphicData uri="http://schemas.openxmlformats.org/drawingml/2006/table">
            <a:tbl>
              <a:tblPr/>
              <a:tblGrid>
                <a:gridCol w="2571750"/>
                <a:gridCol w="1428750"/>
                <a:gridCol w="1476375"/>
              </a:tblGrid>
              <a:tr h="523875">
                <a:tc>
                  <a:txBody>
                    <a:bodyPr lIns="95250" tIns="76200" rIns="95250" bIns="76200">
                      <a:normAutofit/>
                    </a:bodyPr>
                    <a:lstStyle/>
                    <a:p>
                      <a:r>
                        <a:rPr sz="1425" b="1">
                          <a:solidFill>
                            <a:srgbClr val="FFFFFF"/>
                          </a:solidFill>
                          <a:latin typeface="Arial"/>
                          <a:ea typeface="Arial"/>
                          <a:cs typeface="Arial"/>
                        </a:rPr>
                        <a:t>Mean outcome</a:t>
                      </a:r>
                    </a:p>
                  </a:txBody>
                  <a:tcPr marL="91440" marR="91440" marT="45720" marB="45720" anchor="ctr">
                    <a:lnL w="9525">
                      <a:solidFill>
                        <a:srgbClr val="B8C5C8"/>
                      </a:solidFill>
                      <a:prstDash val="solid"/>
                    </a:lnL>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Heuristic</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Random Forest</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r>
              <a:tr h="523875">
                <a:tc>
                  <a:txBody>
                    <a:bodyPr lIns="95250" tIns="76200" rIns="95250" bIns="76200">
                      <a:normAutofit/>
                    </a:bodyPr>
                    <a:lstStyle/>
                    <a:p>
                      <a:r>
                        <a:rPr sz="1500" b="0">
                          <a:solidFill>
                            <a:srgbClr val="152536"/>
                          </a:solidFill>
                          <a:latin typeface="Arial"/>
                          <a:ea typeface="Arial"/>
                          <a:cs typeface="Arial"/>
                        </a:rPr>
                        <a:t>Gain (violations reduced)</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1.565</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1.690</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r h="523875">
                <a:tc>
                  <a:txBody>
                    <a:bodyPr lIns="95250" tIns="76200" rIns="95250" bIns="76200">
                      <a:normAutofit/>
                    </a:bodyPr>
                    <a:lstStyle/>
                    <a:p>
                      <a:r>
                        <a:rPr sz="1500" b="0">
                          <a:solidFill>
                            <a:srgbClr val="152536"/>
                          </a:solidFill>
                          <a:latin typeface="Arial"/>
                          <a:ea typeface="Arial"/>
                          <a:cs typeface="Arial"/>
                        </a:rPr>
                        <a:t>Remaining violations</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6.065</a:t>
                      </a:r>
                    </a:p>
                  </a:txBody>
                  <a:tcPr marL="91440" marR="91440" marT="45720" marB="45720" anchor="ctr">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5.940</a:t>
                      </a:r>
                    </a:p>
                  </a:txBody>
                  <a:tcPr marL="91440" marR="91440" marT="45720" marB="45720" anchor="ctr">
                    <a:lnR w="9525">
                      <a:solidFill>
                        <a:srgbClr val="B8C5C8"/>
                      </a:solidFill>
                      <a:prstDash val="solid"/>
                    </a:lnR>
                    <a:lnB w="9525">
                      <a:solidFill>
                        <a:srgbClr val="B8C5C8"/>
                      </a:solidFill>
                      <a:prstDash val="solid"/>
                    </a:lnB>
                    <a:solidFill>
                      <a:srgbClr val="EDF0EC"/>
                    </a:solidFill>
                  </a:tcPr>
                </a:tc>
              </a:tr>
              <a:tr h="523875">
                <a:tc>
                  <a:txBody>
                    <a:bodyPr lIns="95250" tIns="76200" rIns="95250" bIns="76200">
                      <a:normAutofit/>
                    </a:bodyPr>
                    <a:lstStyle/>
                    <a:p>
                      <a:r>
                        <a:rPr sz="1500" b="0">
                          <a:solidFill>
                            <a:srgbClr val="152536"/>
                          </a:solidFill>
                          <a:latin typeface="Arial"/>
                          <a:ea typeface="Arial"/>
                          <a:cs typeface="Arial"/>
                        </a:rPr>
                        <a:t>States evaluated</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200</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200</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BA9EBEF0-0453-4ECF-8D2A-61638FC9759E}"/>
              </a:ext>
            </a:extLst>
          </p:cNvPr>
          <p:cNvGraphicFramePr/>
          <p:nvPr/>
        </p:nvGraphicFramePr>
        <p:xfrm>
          <a:off xmlns:a="http://schemas.openxmlformats.org/drawingml/2006/main" x="5981700" y="3981450"/>
          <a:ext xmlns:a="http://schemas.openxmlformats.org/drawingml/2006/main" cx="5476875" cy="1828800"/>
        </p:xfrm>
        <a:graphic xmlns:a="http://schemas.openxmlformats.org/drawingml/2006/main">
          <a:graphicData uri="http://schemas.openxmlformats.org/drawingml/2006/table">
            <a:tbl>
              <a:tblPr/>
              <a:tblGrid>
                <a:gridCol w="2571750"/>
                <a:gridCol w="1428750"/>
                <a:gridCol w="1476375"/>
              </a:tblGrid>
              <a:tr h="457200">
                <a:tc>
                  <a:txBody>
                    <a:bodyPr lIns="95250" tIns="76200" rIns="95250" bIns="76200">
                      <a:normAutofit/>
                    </a:bodyPr>
                    <a:lstStyle/>
                    <a:p>
                      <a:r>
                        <a:rPr sz="1425" b="1">
                          <a:solidFill>
                            <a:srgbClr val="FFFFFF"/>
                          </a:solidFill>
                          <a:latin typeface="Arial"/>
                          <a:ea typeface="Arial"/>
                          <a:cs typeface="Arial"/>
                        </a:rPr>
                        <a:t>ML vs heuristic</a:t>
                      </a:r>
                    </a:p>
                  </a:txBody>
                  <a:tcPr marL="91440" marR="91440" marT="45720" marB="45720" anchor="ctr">
                    <a:lnL w="9525">
                      <a:solidFill>
                        <a:srgbClr val="B8C5C8"/>
                      </a:solidFill>
                      <a:prstDash val="solid"/>
                    </a:lnL>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States</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c>
                  <a:txBody>
                    <a:bodyPr lIns="95250" tIns="76200" rIns="95250" bIns="76200">
                      <a:normAutofit/>
                    </a:bodyPr>
                    <a:lstStyle/>
                    <a:p>
                      <a:r>
                        <a:rPr sz="1425" b="1">
                          <a:solidFill>
                            <a:srgbClr val="FFFFFF"/>
                          </a:solidFill>
                          <a:latin typeface="Arial"/>
                          <a:ea typeface="Arial"/>
                          <a:cs typeface="Arial"/>
                        </a:rPr>
                        <a:t>Share</a:t>
                      </a:r>
                    </a:p>
                  </a:txBody>
                  <a:tcPr marL="91440" marR="91440" marT="45720" marB="45720" anchor="ctr">
                    <a:lnR w="9525">
                      <a:solidFill>
                        <a:srgbClr val="B8C5C8"/>
                      </a:solidFill>
                      <a:prstDash val="solid"/>
                    </a:lnR>
                    <a:lnT w="9525">
                      <a:solidFill>
                        <a:srgbClr val="B8C5C8"/>
                      </a:solidFill>
                      <a:prstDash val="solid"/>
                    </a:lnT>
                    <a:lnB w="9525">
                      <a:solidFill>
                        <a:srgbClr val="B8C5C8"/>
                      </a:solidFill>
                      <a:prstDash val="solid"/>
                    </a:lnB>
                    <a:solidFill>
                      <a:srgbClr val="0D2935"/>
                    </a:solidFill>
                  </a:tcPr>
                </a:tc>
              </a:tr>
              <a:tr h="457200">
                <a:tc>
                  <a:txBody>
                    <a:bodyPr lIns="95250" tIns="76200" rIns="95250" bIns="76200">
                      <a:normAutofit/>
                    </a:bodyPr>
                    <a:lstStyle/>
                    <a:p>
                      <a:r>
                        <a:rPr sz="1500" b="0">
                          <a:solidFill>
                            <a:srgbClr val="152536"/>
                          </a:solidFill>
                          <a:latin typeface="Arial"/>
                          <a:ea typeface="Arial"/>
                          <a:cs typeface="Arial"/>
                        </a:rPr>
                        <a:t>Win</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23</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11.5%</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r h="457200">
                <a:tc>
                  <a:txBody>
                    <a:bodyPr lIns="95250" tIns="76200" rIns="95250" bIns="76200">
                      <a:normAutofit/>
                    </a:bodyPr>
                    <a:lstStyle/>
                    <a:p>
                      <a:r>
                        <a:rPr sz="1500" b="0">
                          <a:solidFill>
                            <a:srgbClr val="152536"/>
                          </a:solidFill>
                          <a:latin typeface="Arial"/>
                          <a:ea typeface="Arial"/>
                          <a:cs typeface="Arial"/>
                        </a:rPr>
                        <a:t>Tie</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172</a:t>
                      </a:r>
                    </a:p>
                  </a:txBody>
                  <a:tcPr marL="91440" marR="91440" marT="45720" marB="45720" anchor="ctr">
                    <a:lnR w="9525">
                      <a:solidFill>
                        <a:srgbClr val="B8C5C8"/>
                      </a:solidFill>
                      <a:prstDash val="solid"/>
                    </a:lnR>
                    <a:lnB w="9525">
                      <a:solidFill>
                        <a:srgbClr val="B8C5C8"/>
                      </a:solidFill>
                      <a:prstDash val="solid"/>
                    </a:lnB>
                    <a:solidFill>
                      <a:srgbClr val="EDF0EC"/>
                    </a:solidFill>
                  </a:tcPr>
                </a:tc>
                <a:tc>
                  <a:txBody>
                    <a:bodyPr lIns="95250" tIns="76200" rIns="95250" bIns="76200">
                      <a:normAutofit/>
                    </a:bodyPr>
                    <a:lstStyle/>
                    <a:p>
                      <a:r>
                        <a:rPr sz="1500" b="0">
                          <a:solidFill>
                            <a:srgbClr val="152536"/>
                          </a:solidFill>
                          <a:latin typeface="Arial"/>
                          <a:ea typeface="Arial"/>
                          <a:cs typeface="Arial"/>
                        </a:rPr>
                        <a:t>86.0%</a:t>
                      </a:r>
                    </a:p>
                  </a:txBody>
                  <a:tcPr marL="91440" marR="91440" marT="45720" marB="45720" anchor="ctr">
                    <a:lnR w="9525">
                      <a:solidFill>
                        <a:srgbClr val="B8C5C8"/>
                      </a:solidFill>
                      <a:prstDash val="solid"/>
                    </a:lnR>
                    <a:lnB w="9525">
                      <a:solidFill>
                        <a:srgbClr val="B8C5C8"/>
                      </a:solidFill>
                      <a:prstDash val="solid"/>
                    </a:lnB>
                    <a:solidFill>
                      <a:srgbClr val="EDF0EC"/>
                    </a:solidFill>
                  </a:tcPr>
                </a:tc>
              </a:tr>
              <a:tr h="457200">
                <a:tc>
                  <a:txBody>
                    <a:bodyPr lIns="95250" tIns="76200" rIns="95250" bIns="76200">
                      <a:normAutofit/>
                    </a:bodyPr>
                    <a:lstStyle/>
                    <a:p>
                      <a:r>
                        <a:rPr sz="1500" b="0">
                          <a:solidFill>
                            <a:srgbClr val="152536"/>
                          </a:solidFill>
                          <a:latin typeface="Arial"/>
                          <a:ea typeface="Arial"/>
                          <a:cs typeface="Arial"/>
                        </a:rPr>
                        <a:t>Loss</a:t>
                      </a:r>
                    </a:p>
                  </a:txBody>
                  <a:tcPr marL="91440" marR="91440" marT="45720" marB="45720" anchor="ctr">
                    <a:lnL w="9525">
                      <a:solidFill>
                        <a:srgbClr val="B8C5C8"/>
                      </a:solidFill>
                      <a:prstDash val="solid"/>
                    </a:lnL>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5</a:t>
                      </a:r>
                    </a:p>
                  </a:txBody>
                  <a:tcPr marL="91440" marR="91440" marT="45720" marB="45720" anchor="ctr">
                    <a:lnR w="9525">
                      <a:solidFill>
                        <a:srgbClr val="B8C5C8"/>
                      </a:solidFill>
                      <a:prstDash val="solid"/>
                    </a:lnR>
                    <a:lnB w="9525">
                      <a:solidFill>
                        <a:srgbClr val="B8C5C8"/>
                      </a:solidFill>
                      <a:prstDash val="solid"/>
                    </a:lnB>
                    <a:solidFill>
                      <a:srgbClr val="FFFFFF"/>
                    </a:solidFill>
                  </a:tcPr>
                </a:tc>
                <a:tc>
                  <a:txBody>
                    <a:bodyPr lIns="95250" tIns="76200" rIns="95250" bIns="76200">
                      <a:normAutofit/>
                    </a:bodyPr>
                    <a:lstStyle/>
                    <a:p>
                      <a:r>
                        <a:rPr sz="1500" b="0">
                          <a:solidFill>
                            <a:srgbClr val="152536"/>
                          </a:solidFill>
                          <a:latin typeface="Arial"/>
                          <a:ea typeface="Arial"/>
                          <a:cs typeface="Arial"/>
                        </a:rPr>
                        <a:t>2.5%</a:t>
                      </a:r>
                    </a:p>
                  </a:txBody>
                  <a:tcPr marL="91440" marR="91440" marT="45720" marB="45720" anchor="ctr">
                    <a:lnR w="9525">
                      <a:solidFill>
                        <a:srgbClr val="B8C5C8"/>
                      </a:solidFill>
                      <a:prstDash val="solid"/>
                    </a:lnR>
                    <a:lnB w="9525">
                      <a:solidFill>
                        <a:srgbClr val="B8C5C8"/>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03E4182-CCE5-4D5C-A492-B737690AF73B}"/>
              </a:ext>
            </a:extLst>
          </p:cNvPr>
          <p:cNvSpPr>
            <a:spLocks xmlns:a="http://schemas.openxmlformats.org/drawingml/2006/main" noGrp="1"/>
          </p:cNvSpPr>
          <p:nvPr/>
        </p:nvSpPr>
        <p:spPr>
          <a:xfrm xmlns:a="http://schemas.openxmlformats.org/drawingml/2006/main">
            <a:off x="781050" y="52197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33"/>
          </a:bodyPr>
          <a:lstStyle xmlns:a="http://schemas.openxmlformats.org/drawingml/2006/main">
            <a:defPPr algn="l">
              <a:defRPr sz="1875" b="1">
                <a:solidFill>
                  <a:srgbClr val="117C7B"/>
                </a:solidFill>
                <a:latin typeface="Arial"/>
                <a:ea typeface="Arial"/>
                <a:cs typeface="Arial"/>
              </a:defRPr>
            </a:defPPr>
            <a:lvl1pPr algn="l">
              <a:defRPr sz="1875" b="1">
                <a:solidFill>
                  <a:srgbClr val="117C7B"/>
                </a:solidFill>
                <a:latin typeface="Arial"/>
                <a:ea typeface="Arial"/>
                <a:cs typeface="Arial"/>
              </a:defRPr>
            </a:lvl1pPr>
            <a:lvl2pPr algn="l">
              <a:defRPr sz="1875" b="1">
                <a:solidFill>
                  <a:srgbClr val="117C7B"/>
                </a:solidFill>
                <a:latin typeface="Arial"/>
                <a:ea typeface="Arial"/>
                <a:cs typeface="Arial"/>
              </a:defRPr>
            </a:lvl2pPr>
            <a:lvl3pPr algn="l">
              <a:defRPr sz="1875" b="1">
                <a:solidFill>
                  <a:srgbClr val="117C7B"/>
                </a:solidFill>
                <a:latin typeface="Arial"/>
                <a:ea typeface="Arial"/>
                <a:cs typeface="Arial"/>
              </a:defRPr>
            </a:lvl3pPr>
            <a:lvl4pPr algn="l">
              <a:defRPr sz="1875" b="1">
                <a:solidFill>
                  <a:srgbClr val="117C7B"/>
                </a:solidFill>
                <a:latin typeface="Arial"/>
                <a:ea typeface="Arial"/>
                <a:cs typeface="Arial"/>
              </a:defRPr>
            </a:lvl4pPr>
            <a:lvl5pPr algn="l">
              <a:defRPr sz="1875" b="1">
                <a:solidFill>
                  <a:srgbClr val="117C7B"/>
                </a:solidFill>
                <a:latin typeface="Arial"/>
                <a:ea typeface="Arial"/>
                <a:cs typeface="Arial"/>
              </a:defRPr>
            </a:lvl5pPr>
            <a:lvl6pPr algn="l">
              <a:defRPr sz="1875" b="1">
                <a:solidFill>
                  <a:srgbClr val="117C7B"/>
                </a:solidFill>
                <a:latin typeface="Arial"/>
                <a:ea typeface="Arial"/>
                <a:cs typeface="Arial"/>
              </a:defRPr>
            </a:lvl6pPr>
            <a:lvl7pPr algn="l">
              <a:defRPr sz="1875" b="1">
                <a:solidFill>
                  <a:srgbClr val="117C7B"/>
                </a:solidFill>
                <a:latin typeface="Arial"/>
                <a:ea typeface="Arial"/>
                <a:cs typeface="Arial"/>
              </a:defRPr>
            </a:lvl7pPr>
            <a:lvl8pPr algn="l">
              <a:defRPr sz="1875" b="1">
                <a:solidFill>
                  <a:srgbClr val="117C7B"/>
                </a:solidFill>
                <a:latin typeface="Arial"/>
                <a:ea typeface="Arial"/>
                <a:cs typeface="Arial"/>
              </a:defRPr>
            </a:lvl8pPr>
            <a:lvl9pPr algn="l">
              <a:defRPr sz="1875" b="1">
                <a:solidFill>
                  <a:srgbClr val="117C7B"/>
                </a:solidFill>
                <a:latin typeface="Arial"/>
                <a:ea typeface="Arial"/>
                <a:cs typeface="Arial"/>
              </a:defRPr>
            </a:lvl9pPr>
          </a:lstStyle>
          <a:p xmlns:a="http://schemas.openxmlformats.org/drawingml/2006/main">
            <a:pPr algn="l">
              <a:defRPr sz="1875" b="1">
                <a:solidFill>
                  <a:srgbClr val="117C7B"/>
                </a:solidFill>
                <a:latin typeface="Arial"/>
                <a:ea typeface="Arial"/>
                <a:cs typeface="Arial"/>
              </a:defRPr>
            </a:pPr>
            <a:r>
              <a:rPr sz="1875" b="1">
                <a:solidFill>
                  <a:srgbClr val="117C7B"/>
                </a:solidFill>
                <a:latin typeface="Arial"/>
                <a:ea typeface="Arial"/>
                <a:cs typeface="Arial"/>
              </a:rPr>
              <a:t>+0.125 violations gained per state (8.0% relative)</a:t>
            </a:r>
          </a:p>
        </p:txBody>
      </p:sp>
      <p:sp>
        <p:nvSpPr>
          <p:cNvPr id="8" name="">
            <a:extLst xmlns:a="http://schemas.openxmlformats.org/drawingml/2006/main">
              <a:ext uri="{FF2B5EF4-FFF2-40B4-BE49-F238E27FC236}">
                <a16:creationId xmlns:a16="http://schemas.microsoft.com/office/drawing/2014/main" id="{610C0F4F-0A17-43C5-87C6-7DE36BA25F47}"/>
              </a:ext>
            </a:extLst>
          </p:cNvPr>
          <p:cNvSpPr>
            <a:spLocks xmlns:a="http://schemas.openxmlformats.org/drawingml/2006/main" noGrp="1"/>
          </p:cNvSpPr>
          <p:nvPr/>
        </p:nvSpPr>
        <p:spPr>
          <a:xfrm xmlns:a="http://schemas.openxmlformats.org/drawingml/2006/main">
            <a:off x="781050" y="585787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26273"/>
                </a:solidFill>
                <a:latin typeface="Arial"/>
                <a:ea typeface="Arial"/>
                <a:cs typeface="Arial"/>
              </a:defRPr>
            </a:defPPr>
            <a:lvl1pPr algn="l">
              <a:defRPr sz="1500" b="0">
                <a:solidFill>
                  <a:srgbClr val="526273"/>
                </a:solidFill>
                <a:latin typeface="Arial"/>
                <a:ea typeface="Arial"/>
                <a:cs typeface="Arial"/>
              </a:defRPr>
            </a:lvl1pPr>
            <a:lvl2pPr algn="l">
              <a:defRPr sz="1500" b="0">
                <a:solidFill>
                  <a:srgbClr val="526273"/>
                </a:solidFill>
                <a:latin typeface="Arial"/>
                <a:ea typeface="Arial"/>
                <a:cs typeface="Arial"/>
              </a:defRPr>
            </a:lvl2pPr>
            <a:lvl3pPr algn="l">
              <a:defRPr sz="1500" b="0">
                <a:solidFill>
                  <a:srgbClr val="526273"/>
                </a:solidFill>
                <a:latin typeface="Arial"/>
                <a:ea typeface="Arial"/>
                <a:cs typeface="Arial"/>
              </a:defRPr>
            </a:lvl3pPr>
            <a:lvl4pPr algn="l">
              <a:defRPr sz="1500" b="0">
                <a:solidFill>
                  <a:srgbClr val="526273"/>
                </a:solidFill>
                <a:latin typeface="Arial"/>
                <a:ea typeface="Arial"/>
                <a:cs typeface="Arial"/>
              </a:defRPr>
            </a:lvl4pPr>
            <a:lvl5pPr algn="l">
              <a:defRPr sz="1500" b="0">
                <a:solidFill>
                  <a:srgbClr val="526273"/>
                </a:solidFill>
                <a:latin typeface="Arial"/>
                <a:ea typeface="Arial"/>
                <a:cs typeface="Arial"/>
              </a:defRPr>
            </a:lvl5pPr>
            <a:lvl6pPr algn="l">
              <a:defRPr sz="1500" b="0">
                <a:solidFill>
                  <a:srgbClr val="526273"/>
                </a:solidFill>
                <a:latin typeface="Arial"/>
                <a:ea typeface="Arial"/>
                <a:cs typeface="Arial"/>
              </a:defRPr>
            </a:lvl6pPr>
            <a:lvl7pPr algn="l">
              <a:defRPr sz="1500" b="0">
                <a:solidFill>
                  <a:srgbClr val="526273"/>
                </a:solidFill>
                <a:latin typeface="Arial"/>
                <a:ea typeface="Arial"/>
                <a:cs typeface="Arial"/>
              </a:defRPr>
            </a:lvl7pPr>
            <a:lvl8pPr algn="l">
              <a:defRPr sz="1500" b="0">
                <a:solidFill>
                  <a:srgbClr val="526273"/>
                </a:solidFill>
                <a:latin typeface="Arial"/>
                <a:ea typeface="Arial"/>
                <a:cs typeface="Arial"/>
              </a:defRPr>
            </a:lvl8pPr>
            <a:lvl9pPr algn="l">
              <a:defRPr sz="1500" b="0">
                <a:solidFill>
                  <a:srgbClr val="526273"/>
                </a:solidFill>
                <a:latin typeface="Arial"/>
                <a:ea typeface="Arial"/>
                <a:cs typeface="Arial"/>
              </a:defRPr>
            </a:lvl9pPr>
          </a:lstStyle>
          <a:p xmlns:a="http://schemas.openxmlformats.org/drawingml/2006/main">
            <a:pPr algn="l">
              <a:defRPr sz="1500" b="0">
                <a:solidFill>
                  <a:srgbClr val="526273"/>
                </a:solidFill>
                <a:latin typeface="Arial"/>
                <a:ea typeface="Arial"/>
                <a:cs typeface="Arial"/>
              </a:defRPr>
            </a:pPr>
            <a:r>
              <a:rPr sz="1500" b="0">
                <a:solidFill>
                  <a:srgbClr val="526273"/>
                </a:solidFill>
                <a:latin typeface="Arial"/>
                <a:ea typeface="Arial"/>
                <a:cs typeface="Arial"/>
              </a:rPr>
              <a:t>40/200 states selected different variables</a:t>
            </a:r>
          </a:p>
        </p:txBody>
      </p:sp>
    </p:spTree>
    <p:extLst>
      <p:ext uri="{BB962C8B-B14F-4D97-AF65-F5344CB8AC3E}">
        <p14:creationId xmlns:p14="http://schemas.microsoft.com/office/powerpoint/2010/main" val="155538012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lide-9-title">
            <a:extLst xmlns:a="http://schemas.openxmlformats.org/drawingml/2006/main">
              <a:ext uri="{FF2B5EF4-FFF2-40B4-BE49-F238E27FC236}">
                <a16:creationId xmlns:a16="http://schemas.microsoft.com/office/drawing/2014/main" id="{B56CB788-5DD8-4D39-B0AB-037B0D48A563}"/>
              </a:ext>
            </a:extLst>
          </p:cNvPr>
          <p:cNvSpPr>
            <a:spLocks xmlns:a="http://schemas.openxmlformats.org/drawingml/2006/main" noGrp="1"/>
          </p:cNvSpPr>
          <p:nvPr/>
        </p:nvSpPr>
        <p:spPr>
          <a:xfrm xmlns:a="http://schemas.openxmlformats.org/drawingml/2006/main">
            <a:off x="685800" y="38100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D2935"/>
                </a:solidFill>
                <a:latin typeface="Arial"/>
                <a:ea typeface="Arial"/>
                <a:cs typeface="Arial"/>
              </a:defRPr>
            </a:defPPr>
            <a:lvl1pPr algn="l">
              <a:defRPr sz="3300" b="1">
                <a:solidFill>
                  <a:srgbClr val="0D2935"/>
                </a:solidFill>
                <a:latin typeface="Arial"/>
                <a:ea typeface="Arial"/>
                <a:cs typeface="Arial"/>
              </a:defRPr>
            </a:lvl1pPr>
            <a:lvl2pPr algn="l">
              <a:defRPr sz="3300" b="1">
                <a:solidFill>
                  <a:srgbClr val="0D2935"/>
                </a:solidFill>
                <a:latin typeface="Arial"/>
                <a:ea typeface="Arial"/>
                <a:cs typeface="Arial"/>
              </a:defRPr>
            </a:lvl2pPr>
            <a:lvl3pPr algn="l">
              <a:defRPr sz="3300" b="1">
                <a:solidFill>
                  <a:srgbClr val="0D2935"/>
                </a:solidFill>
                <a:latin typeface="Arial"/>
                <a:ea typeface="Arial"/>
                <a:cs typeface="Arial"/>
              </a:defRPr>
            </a:lvl3pPr>
            <a:lvl4pPr algn="l">
              <a:defRPr sz="3300" b="1">
                <a:solidFill>
                  <a:srgbClr val="0D2935"/>
                </a:solidFill>
                <a:latin typeface="Arial"/>
                <a:ea typeface="Arial"/>
                <a:cs typeface="Arial"/>
              </a:defRPr>
            </a:lvl4pPr>
            <a:lvl5pPr algn="l">
              <a:defRPr sz="3300" b="1">
                <a:solidFill>
                  <a:srgbClr val="0D2935"/>
                </a:solidFill>
                <a:latin typeface="Arial"/>
                <a:ea typeface="Arial"/>
                <a:cs typeface="Arial"/>
              </a:defRPr>
            </a:lvl5pPr>
            <a:lvl6pPr algn="l">
              <a:defRPr sz="3300" b="1">
                <a:solidFill>
                  <a:srgbClr val="0D2935"/>
                </a:solidFill>
                <a:latin typeface="Arial"/>
                <a:ea typeface="Arial"/>
                <a:cs typeface="Arial"/>
              </a:defRPr>
            </a:lvl6pPr>
            <a:lvl7pPr algn="l">
              <a:defRPr sz="3300" b="1">
                <a:solidFill>
                  <a:srgbClr val="0D2935"/>
                </a:solidFill>
                <a:latin typeface="Arial"/>
                <a:ea typeface="Arial"/>
                <a:cs typeface="Arial"/>
              </a:defRPr>
            </a:lvl7pPr>
            <a:lvl8pPr algn="l">
              <a:defRPr sz="3300" b="1">
                <a:solidFill>
                  <a:srgbClr val="0D2935"/>
                </a:solidFill>
                <a:latin typeface="Arial"/>
                <a:ea typeface="Arial"/>
                <a:cs typeface="Arial"/>
              </a:defRPr>
            </a:lvl8pPr>
            <a:lvl9pPr algn="l">
              <a:defRPr sz="3300" b="1">
                <a:solidFill>
                  <a:srgbClr val="0D2935"/>
                </a:solidFill>
                <a:latin typeface="Arial"/>
                <a:ea typeface="Arial"/>
                <a:cs typeface="Arial"/>
              </a:defRPr>
            </a:lvl9pPr>
          </a:lstStyle>
          <a:p xmlns:a="http://schemas.openxmlformats.org/drawingml/2006/main">
            <a:pPr algn="l">
              <a:defRPr sz="3300" b="1">
                <a:solidFill>
                  <a:srgbClr val="0D2935"/>
                </a:solidFill>
                <a:latin typeface="Arial"/>
                <a:ea typeface="Arial"/>
                <a:cs typeface="Arial"/>
              </a:defRPr>
            </a:pPr>
            <a:r>
              <a:rPr sz="3300" b="1">
                <a:solidFill>
                  <a:srgbClr val="0D2935"/>
                </a:solidFill>
                <a:latin typeface="Arial"/>
                <a:ea typeface="Arial"/>
                <a:cs typeface="Arial"/>
              </a:rPr>
              <a:t>Conclusion and scope</a:t>
            </a:r>
          </a:p>
        </p:txBody>
      </p:sp>
      <p:sp>
        <p:nvSpPr>
          <p:cNvPr id="2" name="">
            <a:extLst xmlns:a="http://schemas.openxmlformats.org/drawingml/2006/main">
              <a:ext uri="{FF2B5EF4-FFF2-40B4-BE49-F238E27FC236}">
                <a16:creationId xmlns:a16="http://schemas.microsoft.com/office/drawing/2014/main" id="{7BC61CA1-3627-4174-8F57-3A609C7D006D}"/>
              </a:ext>
            </a:extLst>
          </p:cNvPr>
          <p:cNvSpPr>
            <a:spLocks xmlns:a="http://schemas.openxmlformats.org/drawingml/2006/main" noGrp="1"/>
          </p:cNvSpPr>
          <p:nvPr/>
        </p:nvSpPr>
        <p:spPr>
          <a:xfrm xmlns:a="http://schemas.openxmlformats.org/drawingml/2006/main" flipV="0">
            <a:off x="685800" y="1066800"/>
            <a:ext cx="10820400" cy="0"/>
          </a:xfrm>
          <a:prstGeom xmlns:a="http://schemas.openxmlformats.org/drawingml/2006/main" prst="line">
            <a:avLst/>
          </a:prstGeom>
          <a:noFill xmlns:a="http://schemas.openxmlformats.org/drawingml/2006/main"/>
          <a:ln xmlns:a="http://schemas.openxmlformats.org/drawingml/2006/main" w="11906">
            <a:solidFill>
              <a:srgbClr val="B8C5C8"/>
            </a:solidFill>
            <a:prstDash val="solid"/>
          </a:ln>
        </p:spPr>
      </p:sp>
      <p:sp>
        <p:nvSpPr>
          <p:cNvPr id="3" name="">
            <a:extLst xmlns:a="http://schemas.openxmlformats.org/drawingml/2006/main">
              <a:ext uri="{FF2B5EF4-FFF2-40B4-BE49-F238E27FC236}">
                <a16:creationId xmlns:a16="http://schemas.microsoft.com/office/drawing/2014/main" id="{EC38054D-2350-4EF3-9243-DAE439A21C1F}"/>
              </a:ext>
            </a:extLst>
          </p:cNvPr>
          <p:cNvSpPr>
            <a:spLocks xmlns:a="http://schemas.openxmlformats.org/drawingml/2006/main" noGrp="1"/>
          </p:cNvSpPr>
          <p:nvPr/>
        </p:nvSpPr>
        <p:spPr>
          <a:xfrm xmlns:a="http://schemas.openxmlformats.org/drawingml/2006/main">
            <a:off x="11182350" y="6477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273"/>
                </a:solidFill>
                <a:latin typeface="Arial"/>
                <a:ea typeface="Arial"/>
                <a:cs typeface="Arial"/>
              </a:defRPr>
            </a:defPPr>
            <a:lvl1pPr algn="r">
              <a:defRPr sz="1050" b="0">
                <a:solidFill>
                  <a:srgbClr val="526273"/>
                </a:solidFill>
                <a:latin typeface="Arial"/>
                <a:ea typeface="Arial"/>
                <a:cs typeface="Arial"/>
              </a:defRPr>
            </a:lvl1pPr>
            <a:lvl2pPr algn="r">
              <a:defRPr sz="1050" b="0">
                <a:solidFill>
                  <a:srgbClr val="526273"/>
                </a:solidFill>
                <a:latin typeface="Arial"/>
                <a:ea typeface="Arial"/>
                <a:cs typeface="Arial"/>
              </a:defRPr>
            </a:lvl2pPr>
            <a:lvl3pPr algn="r">
              <a:defRPr sz="1050" b="0">
                <a:solidFill>
                  <a:srgbClr val="526273"/>
                </a:solidFill>
                <a:latin typeface="Arial"/>
                <a:ea typeface="Arial"/>
                <a:cs typeface="Arial"/>
              </a:defRPr>
            </a:lvl3pPr>
            <a:lvl4pPr algn="r">
              <a:defRPr sz="1050" b="0">
                <a:solidFill>
                  <a:srgbClr val="526273"/>
                </a:solidFill>
                <a:latin typeface="Arial"/>
                <a:ea typeface="Arial"/>
                <a:cs typeface="Arial"/>
              </a:defRPr>
            </a:lvl4pPr>
            <a:lvl5pPr algn="r">
              <a:defRPr sz="1050" b="0">
                <a:solidFill>
                  <a:srgbClr val="526273"/>
                </a:solidFill>
                <a:latin typeface="Arial"/>
                <a:ea typeface="Arial"/>
                <a:cs typeface="Arial"/>
              </a:defRPr>
            </a:lvl5pPr>
            <a:lvl6pPr algn="r">
              <a:defRPr sz="1050" b="0">
                <a:solidFill>
                  <a:srgbClr val="526273"/>
                </a:solidFill>
                <a:latin typeface="Arial"/>
                <a:ea typeface="Arial"/>
                <a:cs typeface="Arial"/>
              </a:defRPr>
            </a:lvl6pPr>
            <a:lvl7pPr algn="r">
              <a:defRPr sz="1050" b="0">
                <a:solidFill>
                  <a:srgbClr val="526273"/>
                </a:solidFill>
                <a:latin typeface="Arial"/>
                <a:ea typeface="Arial"/>
                <a:cs typeface="Arial"/>
              </a:defRPr>
            </a:lvl7pPr>
            <a:lvl8pPr algn="r">
              <a:defRPr sz="1050" b="0">
                <a:solidFill>
                  <a:srgbClr val="526273"/>
                </a:solidFill>
                <a:latin typeface="Arial"/>
                <a:ea typeface="Arial"/>
                <a:cs typeface="Arial"/>
              </a:defRPr>
            </a:lvl8pPr>
            <a:lvl9pPr algn="r">
              <a:defRPr sz="1050" b="0">
                <a:solidFill>
                  <a:srgbClr val="526273"/>
                </a:solidFill>
                <a:latin typeface="Arial"/>
                <a:ea typeface="Arial"/>
                <a:cs typeface="Arial"/>
              </a:defRPr>
            </a:lvl9pPr>
          </a:lstStyle>
          <a:p xmlns:a="http://schemas.openxmlformats.org/drawingml/2006/main">
            <a:pPr algn="r">
              <a:defRPr sz="1050" b="0">
                <a:solidFill>
                  <a:srgbClr val="526273"/>
                </a:solidFill>
                <a:latin typeface="Arial"/>
                <a:ea typeface="Arial"/>
                <a:cs typeface="Arial"/>
              </a:defRPr>
            </a:pPr>
            <a:r>
              <a:rPr sz="1050" b="0">
                <a:solidFill>
                  <a:srgbClr val="526273"/>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2085C43-BF44-4136-8FBC-743426CF1C60}"/>
              </a:ext>
            </a:extLst>
          </p:cNvPr>
          <p:cNvSpPr>
            <a:spLocks xmlns:a="http://schemas.openxmlformats.org/drawingml/2006/main" noGrp="1"/>
          </p:cNvSpPr>
          <p:nvPr/>
        </p:nvSpPr>
        <p:spPr>
          <a:xfrm xmlns:a="http://schemas.openxmlformats.org/drawingml/2006/main">
            <a:off x="781050" y="136207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17C7B"/>
                </a:solidFill>
                <a:latin typeface="Arial"/>
                <a:ea typeface="Arial"/>
                <a:cs typeface="Arial"/>
              </a:defRPr>
            </a:defPPr>
            <a:lvl1pPr algn="l">
              <a:defRPr sz="2175" b="1">
                <a:solidFill>
                  <a:srgbClr val="117C7B"/>
                </a:solidFill>
                <a:latin typeface="Arial"/>
                <a:ea typeface="Arial"/>
                <a:cs typeface="Arial"/>
              </a:defRPr>
            </a:lvl1pPr>
            <a:lvl2pPr algn="l">
              <a:defRPr sz="2175" b="1">
                <a:solidFill>
                  <a:srgbClr val="117C7B"/>
                </a:solidFill>
                <a:latin typeface="Arial"/>
                <a:ea typeface="Arial"/>
                <a:cs typeface="Arial"/>
              </a:defRPr>
            </a:lvl2pPr>
            <a:lvl3pPr algn="l">
              <a:defRPr sz="2175" b="1">
                <a:solidFill>
                  <a:srgbClr val="117C7B"/>
                </a:solidFill>
                <a:latin typeface="Arial"/>
                <a:ea typeface="Arial"/>
                <a:cs typeface="Arial"/>
              </a:defRPr>
            </a:lvl3pPr>
            <a:lvl4pPr algn="l">
              <a:defRPr sz="2175" b="1">
                <a:solidFill>
                  <a:srgbClr val="117C7B"/>
                </a:solidFill>
                <a:latin typeface="Arial"/>
                <a:ea typeface="Arial"/>
                <a:cs typeface="Arial"/>
              </a:defRPr>
            </a:lvl4pPr>
            <a:lvl5pPr algn="l">
              <a:defRPr sz="2175" b="1">
                <a:solidFill>
                  <a:srgbClr val="117C7B"/>
                </a:solidFill>
                <a:latin typeface="Arial"/>
                <a:ea typeface="Arial"/>
                <a:cs typeface="Arial"/>
              </a:defRPr>
            </a:lvl5pPr>
            <a:lvl6pPr algn="l">
              <a:defRPr sz="2175" b="1">
                <a:solidFill>
                  <a:srgbClr val="117C7B"/>
                </a:solidFill>
                <a:latin typeface="Arial"/>
                <a:ea typeface="Arial"/>
                <a:cs typeface="Arial"/>
              </a:defRPr>
            </a:lvl6pPr>
            <a:lvl7pPr algn="l">
              <a:defRPr sz="2175" b="1">
                <a:solidFill>
                  <a:srgbClr val="117C7B"/>
                </a:solidFill>
                <a:latin typeface="Arial"/>
                <a:ea typeface="Arial"/>
                <a:cs typeface="Arial"/>
              </a:defRPr>
            </a:lvl7pPr>
            <a:lvl8pPr algn="l">
              <a:defRPr sz="2175" b="1">
                <a:solidFill>
                  <a:srgbClr val="117C7B"/>
                </a:solidFill>
                <a:latin typeface="Arial"/>
                <a:ea typeface="Arial"/>
                <a:cs typeface="Arial"/>
              </a:defRPr>
            </a:lvl8pPr>
            <a:lvl9pPr algn="l">
              <a:defRPr sz="2175" b="1">
                <a:solidFill>
                  <a:srgbClr val="117C7B"/>
                </a:solidFill>
                <a:latin typeface="Arial"/>
                <a:ea typeface="Arial"/>
                <a:cs typeface="Arial"/>
              </a:defRPr>
            </a:lvl9pPr>
          </a:lstStyle>
          <a:p xmlns:a="http://schemas.openxmlformats.org/drawingml/2006/main">
            <a:pPr algn="l">
              <a:defRPr sz="2175" b="1">
                <a:solidFill>
                  <a:srgbClr val="117C7B"/>
                </a:solidFill>
                <a:latin typeface="Arial"/>
                <a:ea typeface="Arial"/>
                <a:cs typeface="Arial"/>
              </a:defRPr>
            </a:pPr>
            <a:r>
              <a:rPr sz="2175" b="1">
                <a:solidFill>
                  <a:srgbClr val="117C7B"/>
                </a:solidFill>
                <a:latin typeface="Arial"/>
                <a:ea typeface="Arial"/>
                <a:cs typeface="Arial"/>
              </a:rPr>
              <a:t>A modest average gain in this synthetic one-step setting</a:t>
            </a:r>
          </a:p>
        </p:txBody>
      </p:sp>
      <p:sp>
        <p:nvSpPr>
          <p:cNvPr id="5" name="">
            <a:extLst xmlns:a="http://schemas.openxmlformats.org/drawingml/2006/main">
              <a:ext uri="{FF2B5EF4-FFF2-40B4-BE49-F238E27FC236}">
                <a16:creationId xmlns:a16="http://schemas.microsoft.com/office/drawing/2014/main" id="{7FB89EB1-5DC5-4A32-A794-9621485F2BC2}"/>
              </a:ext>
            </a:extLst>
          </p:cNvPr>
          <p:cNvSpPr>
            <a:spLocks xmlns:a="http://schemas.openxmlformats.org/drawingml/2006/main" noGrp="1"/>
          </p:cNvSpPr>
          <p:nvPr/>
        </p:nvSpPr>
        <p:spPr>
          <a:xfrm xmlns:a="http://schemas.openxmlformats.org/drawingml/2006/main">
            <a:off x="781050" y="19716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52536"/>
                </a:solidFill>
                <a:latin typeface="Arial"/>
                <a:ea typeface="Arial"/>
                <a:cs typeface="Arial"/>
              </a:defRPr>
            </a:defPPr>
            <a:lvl1pPr algn="l">
              <a:defRPr sz="1950" b="0">
                <a:solidFill>
                  <a:srgbClr val="152536"/>
                </a:solidFill>
                <a:latin typeface="Arial"/>
                <a:ea typeface="Arial"/>
                <a:cs typeface="Arial"/>
              </a:defRPr>
            </a:lvl1pPr>
            <a:lvl2pPr algn="l">
              <a:defRPr sz="1950" b="0">
                <a:solidFill>
                  <a:srgbClr val="152536"/>
                </a:solidFill>
                <a:latin typeface="Arial"/>
                <a:ea typeface="Arial"/>
                <a:cs typeface="Arial"/>
              </a:defRPr>
            </a:lvl2pPr>
            <a:lvl3pPr algn="l">
              <a:defRPr sz="1950" b="0">
                <a:solidFill>
                  <a:srgbClr val="152536"/>
                </a:solidFill>
                <a:latin typeface="Arial"/>
                <a:ea typeface="Arial"/>
                <a:cs typeface="Arial"/>
              </a:defRPr>
            </a:lvl3pPr>
            <a:lvl4pPr algn="l">
              <a:defRPr sz="1950" b="0">
                <a:solidFill>
                  <a:srgbClr val="152536"/>
                </a:solidFill>
                <a:latin typeface="Arial"/>
                <a:ea typeface="Arial"/>
                <a:cs typeface="Arial"/>
              </a:defRPr>
            </a:lvl4pPr>
            <a:lvl5pPr algn="l">
              <a:defRPr sz="1950" b="0">
                <a:solidFill>
                  <a:srgbClr val="152536"/>
                </a:solidFill>
                <a:latin typeface="Arial"/>
                <a:ea typeface="Arial"/>
                <a:cs typeface="Arial"/>
              </a:defRPr>
            </a:lvl5pPr>
            <a:lvl6pPr algn="l">
              <a:defRPr sz="1950" b="0">
                <a:solidFill>
                  <a:srgbClr val="152536"/>
                </a:solidFill>
                <a:latin typeface="Arial"/>
                <a:ea typeface="Arial"/>
                <a:cs typeface="Arial"/>
              </a:defRPr>
            </a:lvl6pPr>
            <a:lvl7pPr algn="l">
              <a:defRPr sz="1950" b="0">
                <a:solidFill>
                  <a:srgbClr val="152536"/>
                </a:solidFill>
                <a:latin typeface="Arial"/>
                <a:ea typeface="Arial"/>
                <a:cs typeface="Arial"/>
              </a:defRPr>
            </a:lvl7pPr>
            <a:lvl8pPr algn="l">
              <a:defRPr sz="1950" b="0">
                <a:solidFill>
                  <a:srgbClr val="152536"/>
                </a:solidFill>
                <a:latin typeface="Arial"/>
                <a:ea typeface="Arial"/>
                <a:cs typeface="Arial"/>
              </a:defRPr>
            </a:lvl8pPr>
            <a:lvl9pPr algn="l">
              <a:defRPr sz="1950" b="0">
                <a:solidFill>
                  <a:srgbClr val="152536"/>
                </a:solidFill>
                <a:latin typeface="Arial"/>
                <a:ea typeface="Arial"/>
                <a:cs typeface="Arial"/>
              </a:defRPr>
            </a:lvl9pPr>
          </a:lstStyle>
          <a:p xmlns:a="http://schemas.openxmlformats.org/drawingml/2006/main">
            <a:pPr algn="l">
              <a:defRPr sz="1950" b="0">
                <a:solidFill>
                  <a:srgbClr val="152536"/>
                </a:solidFill>
                <a:latin typeface="Arial"/>
                <a:ea typeface="Arial"/>
                <a:cs typeface="Arial"/>
              </a:defRPr>
            </a:pPr>
            <a:r>
              <a:rPr sz="1950" b="0">
                <a:solidFill>
                  <a:srgbClr val="152536"/>
                </a:solidFill>
                <a:latin typeface="Arial"/>
                <a:ea typeface="Arial"/>
                <a:cs typeface="Arial"/>
              </a:rPr>
              <a:t>Random Forest raised mean actual gain by 0.125 violations per state: 1.690 vs 1.565.</a:t>
            </a:r>
          </a:p>
        </p:txBody>
      </p:sp>
      <p:sp>
        <p:nvSpPr>
          <p:cNvPr id="6" name="">
            <a:extLst xmlns:a="http://schemas.openxmlformats.org/drawingml/2006/main">
              <a:ext uri="{FF2B5EF4-FFF2-40B4-BE49-F238E27FC236}">
                <a16:creationId xmlns:a16="http://schemas.microsoft.com/office/drawing/2014/main" id="{F1403AB1-3BC4-4B9B-87EE-DC81280838BB}"/>
              </a:ext>
            </a:extLst>
          </p:cNvPr>
          <p:cNvSpPr>
            <a:spLocks xmlns:a="http://schemas.openxmlformats.org/drawingml/2006/main" noGrp="1"/>
          </p:cNvSpPr>
          <p:nvPr/>
        </p:nvSpPr>
        <p:spPr>
          <a:xfrm xmlns:a="http://schemas.openxmlformats.org/drawingml/2006/main" flipV="0">
            <a:off x="781050" y="2895600"/>
            <a:ext cx="10534650" cy="0"/>
          </a:xfrm>
          <a:prstGeom xmlns:a="http://schemas.openxmlformats.org/drawingml/2006/main" prst="line">
            <a:avLst/>
          </a:prstGeom>
          <a:noFill xmlns:a="http://schemas.openxmlformats.org/drawingml/2006/main"/>
          <a:ln xmlns:a="http://schemas.openxmlformats.org/drawingml/2006/main" w="14288">
            <a:solidFill>
              <a:srgbClr val="B8C5C8"/>
            </a:solidFill>
            <a:prstDash val="solid"/>
          </a:ln>
        </p:spPr>
      </p:sp>
      <p:sp>
        <p:nvSpPr>
          <p:cNvPr id="7" name="">
            <a:extLst xmlns:a="http://schemas.openxmlformats.org/drawingml/2006/main">
              <a:ext uri="{FF2B5EF4-FFF2-40B4-BE49-F238E27FC236}">
                <a16:creationId xmlns:a16="http://schemas.microsoft.com/office/drawing/2014/main" id="{2EA29A9F-6252-49F6-8E1F-94BE327851A5}"/>
              </a:ext>
            </a:extLst>
          </p:cNvPr>
          <p:cNvSpPr>
            <a:spLocks xmlns:a="http://schemas.openxmlformats.org/drawingml/2006/main" noGrp="1"/>
          </p:cNvSpPr>
          <p:nvPr/>
        </p:nvSpPr>
        <p:spPr>
          <a:xfrm xmlns:a="http://schemas.openxmlformats.org/drawingml/2006/main">
            <a:off x="781050" y="324802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D2935"/>
                </a:solidFill>
                <a:latin typeface="Arial"/>
                <a:ea typeface="Arial"/>
                <a:cs typeface="Arial"/>
              </a:defRPr>
            </a:defPPr>
            <a:lvl1pPr algn="l">
              <a:defRPr sz="1875" b="1">
                <a:solidFill>
                  <a:srgbClr val="0D2935"/>
                </a:solidFill>
                <a:latin typeface="Arial"/>
                <a:ea typeface="Arial"/>
                <a:cs typeface="Arial"/>
              </a:defRPr>
            </a:lvl1pPr>
            <a:lvl2pPr algn="l">
              <a:defRPr sz="1875" b="1">
                <a:solidFill>
                  <a:srgbClr val="0D2935"/>
                </a:solidFill>
                <a:latin typeface="Arial"/>
                <a:ea typeface="Arial"/>
                <a:cs typeface="Arial"/>
              </a:defRPr>
            </a:lvl2pPr>
            <a:lvl3pPr algn="l">
              <a:defRPr sz="1875" b="1">
                <a:solidFill>
                  <a:srgbClr val="0D2935"/>
                </a:solidFill>
                <a:latin typeface="Arial"/>
                <a:ea typeface="Arial"/>
                <a:cs typeface="Arial"/>
              </a:defRPr>
            </a:lvl3pPr>
            <a:lvl4pPr algn="l">
              <a:defRPr sz="1875" b="1">
                <a:solidFill>
                  <a:srgbClr val="0D2935"/>
                </a:solidFill>
                <a:latin typeface="Arial"/>
                <a:ea typeface="Arial"/>
                <a:cs typeface="Arial"/>
              </a:defRPr>
            </a:lvl4pPr>
            <a:lvl5pPr algn="l">
              <a:defRPr sz="1875" b="1">
                <a:solidFill>
                  <a:srgbClr val="0D2935"/>
                </a:solidFill>
                <a:latin typeface="Arial"/>
                <a:ea typeface="Arial"/>
                <a:cs typeface="Arial"/>
              </a:defRPr>
            </a:lvl5pPr>
            <a:lvl6pPr algn="l">
              <a:defRPr sz="1875" b="1">
                <a:solidFill>
                  <a:srgbClr val="0D2935"/>
                </a:solidFill>
                <a:latin typeface="Arial"/>
                <a:ea typeface="Arial"/>
                <a:cs typeface="Arial"/>
              </a:defRPr>
            </a:lvl6pPr>
            <a:lvl7pPr algn="l">
              <a:defRPr sz="1875" b="1">
                <a:solidFill>
                  <a:srgbClr val="0D2935"/>
                </a:solidFill>
                <a:latin typeface="Arial"/>
                <a:ea typeface="Arial"/>
                <a:cs typeface="Arial"/>
              </a:defRPr>
            </a:lvl7pPr>
            <a:lvl8pPr algn="l">
              <a:defRPr sz="1875" b="1">
                <a:solidFill>
                  <a:srgbClr val="0D2935"/>
                </a:solidFill>
                <a:latin typeface="Arial"/>
                <a:ea typeface="Arial"/>
                <a:cs typeface="Arial"/>
              </a:defRPr>
            </a:lvl8pPr>
            <a:lvl9pPr algn="l">
              <a:defRPr sz="1875" b="1">
                <a:solidFill>
                  <a:srgbClr val="0D2935"/>
                </a:solidFill>
                <a:latin typeface="Arial"/>
                <a:ea typeface="Arial"/>
                <a:cs typeface="Arial"/>
              </a:defRPr>
            </a:lvl9pPr>
          </a:lstStyle>
          <a:p xmlns:a="http://schemas.openxmlformats.org/drawingml/2006/main">
            <a:pPr algn="l">
              <a:defRPr sz="1875" b="1">
                <a:solidFill>
                  <a:srgbClr val="0D2935"/>
                </a:solidFill>
                <a:latin typeface="Arial"/>
                <a:ea typeface="Arial"/>
                <a:cs typeface="Arial"/>
              </a:defRPr>
            </a:pPr>
            <a:r>
              <a:rPr sz="1875" b="1">
                <a:solidFill>
                  <a:srgbClr val="0D2935"/>
                </a:solidFill>
                <a:latin typeface="Arial"/>
                <a:ea typeface="Arial"/>
                <a:cs typeface="Arial"/>
              </a:rPr>
              <a:t>What this result covers</a:t>
            </a:r>
          </a:p>
        </p:txBody>
      </p:sp>
      <p:sp>
        <p:nvSpPr>
          <p:cNvPr id="8" name="">
            <a:extLst xmlns:a="http://schemas.openxmlformats.org/drawingml/2006/main">
              <a:ext uri="{FF2B5EF4-FFF2-40B4-BE49-F238E27FC236}">
                <a16:creationId xmlns:a16="http://schemas.microsoft.com/office/drawing/2014/main" id="{7AF8DFC2-F215-490F-81FB-85ABD97F9767}"/>
              </a:ext>
            </a:extLst>
          </p:cNvPr>
          <p:cNvSpPr>
            <a:spLocks xmlns:a="http://schemas.openxmlformats.org/drawingml/2006/main" noGrp="1"/>
          </p:cNvSpPr>
          <p:nvPr/>
        </p:nvSpPr>
        <p:spPr>
          <a:xfrm xmlns:a="http://schemas.openxmlformats.org/drawingml/2006/main">
            <a:off x="781050" y="3705225"/>
            <a:ext cx="4762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26273"/>
                </a:solidFill>
                <a:latin typeface="Arial"/>
                <a:ea typeface="Arial"/>
                <a:cs typeface="Arial"/>
              </a:defRPr>
            </a:defPPr>
            <a:lvl1pPr algn="l">
              <a:defRPr sz="1725" b="0">
                <a:solidFill>
                  <a:srgbClr val="526273"/>
                </a:solidFill>
                <a:latin typeface="Arial"/>
                <a:ea typeface="Arial"/>
                <a:cs typeface="Arial"/>
              </a:defRPr>
            </a:lvl1pPr>
            <a:lvl2pPr algn="l">
              <a:defRPr sz="1725" b="0">
                <a:solidFill>
                  <a:srgbClr val="526273"/>
                </a:solidFill>
                <a:latin typeface="Arial"/>
                <a:ea typeface="Arial"/>
                <a:cs typeface="Arial"/>
              </a:defRPr>
            </a:lvl2pPr>
            <a:lvl3pPr algn="l">
              <a:defRPr sz="1725" b="0">
                <a:solidFill>
                  <a:srgbClr val="526273"/>
                </a:solidFill>
                <a:latin typeface="Arial"/>
                <a:ea typeface="Arial"/>
                <a:cs typeface="Arial"/>
              </a:defRPr>
            </a:lvl3pPr>
            <a:lvl4pPr algn="l">
              <a:defRPr sz="1725" b="0">
                <a:solidFill>
                  <a:srgbClr val="526273"/>
                </a:solidFill>
                <a:latin typeface="Arial"/>
                <a:ea typeface="Arial"/>
                <a:cs typeface="Arial"/>
              </a:defRPr>
            </a:lvl4pPr>
            <a:lvl5pPr algn="l">
              <a:defRPr sz="1725" b="0">
                <a:solidFill>
                  <a:srgbClr val="526273"/>
                </a:solidFill>
                <a:latin typeface="Arial"/>
                <a:ea typeface="Arial"/>
                <a:cs typeface="Arial"/>
              </a:defRPr>
            </a:lvl5pPr>
            <a:lvl6pPr algn="l">
              <a:defRPr sz="1725" b="0">
                <a:solidFill>
                  <a:srgbClr val="526273"/>
                </a:solidFill>
                <a:latin typeface="Arial"/>
                <a:ea typeface="Arial"/>
                <a:cs typeface="Arial"/>
              </a:defRPr>
            </a:lvl6pPr>
            <a:lvl7pPr algn="l">
              <a:defRPr sz="1725" b="0">
                <a:solidFill>
                  <a:srgbClr val="526273"/>
                </a:solidFill>
                <a:latin typeface="Arial"/>
                <a:ea typeface="Arial"/>
                <a:cs typeface="Arial"/>
              </a:defRPr>
            </a:lvl7pPr>
            <a:lvl8pPr algn="l">
              <a:defRPr sz="1725" b="0">
                <a:solidFill>
                  <a:srgbClr val="526273"/>
                </a:solidFill>
                <a:latin typeface="Arial"/>
                <a:ea typeface="Arial"/>
                <a:cs typeface="Arial"/>
              </a:defRPr>
            </a:lvl8pPr>
            <a:lvl9pPr algn="l">
              <a:defRPr sz="1725" b="0">
                <a:solidFill>
                  <a:srgbClr val="526273"/>
                </a:solidFill>
                <a:latin typeface="Arial"/>
                <a:ea typeface="Arial"/>
                <a:cs typeface="Arial"/>
              </a:defRPr>
            </a:lvl9pPr>
          </a:lstStyle>
          <a:p xmlns:a="http://schemas.openxmlformats.org/drawingml/2006/main">
            <a:pPr algn="l">
              <a:defRPr sz="1725" b="0">
                <a:solidFill>
                  <a:srgbClr val="526273"/>
                </a:solidFill>
                <a:latin typeface="Arial"/>
                <a:ea typeface="Arial"/>
                <a:cs typeface="Arial"/>
              </a:defRPr>
            </a:pPr>
            <a:r>
              <a:rPr sz="1725" b="0">
                <a:solidFill>
                  <a:srgbClr val="526273"/>
                </a:solidFill>
                <a:latin typeface="Arial"/>
                <a:ea typeface="Arial"/>
                <a:cs typeface="Arial"/>
              </a:rPr>
              <a:t>200 held-out states · 40 synthetic instances</a:t>
            </a:r>
          </a:p>
          <a:p xmlns:a="http://schemas.openxmlformats.org/drawingml/2006/main">
            <a:pPr algn="l">
              <a:defRPr sz="1725" b="0">
                <a:solidFill>
                  <a:srgbClr val="526273"/>
                </a:solidFill>
                <a:latin typeface="Arial"/>
                <a:ea typeface="Arial"/>
                <a:cs typeface="Arial"/>
              </a:defRPr>
            </a:pPr>
            <a:r>
              <a:rPr sz="1725" b="0">
                <a:solidFill>
                  <a:srgbClr val="526273"/>
                </a:solidFill>
                <a:latin typeface="Arial"/>
                <a:ea typeface="Arial"/>
                <a:cs typeface="Arial"/>
              </a:rPr>
              <a:t>One selected variable · one best-value mutation</a:t>
            </a:r>
          </a:p>
        </p:txBody>
      </p:sp>
      <p:sp>
        <p:nvSpPr>
          <p:cNvPr id="9" name="">
            <a:extLst xmlns:a="http://schemas.openxmlformats.org/drawingml/2006/main">
              <a:ext uri="{FF2B5EF4-FFF2-40B4-BE49-F238E27FC236}">
                <a16:creationId xmlns:a16="http://schemas.microsoft.com/office/drawing/2014/main" id="{53701725-4155-41B3-B4B7-0C1773E4FFB2}"/>
              </a:ext>
            </a:extLst>
          </p:cNvPr>
          <p:cNvSpPr>
            <a:spLocks xmlns:a="http://schemas.openxmlformats.org/drawingml/2006/main" noGrp="1"/>
          </p:cNvSpPr>
          <p:nvPr/>
        </p:nvSpPr>
        <p:spPr>
          <a:xfrm xmlns:a="http://schemas.openxmlformats.org/drawingml/2006/main">
            <a:off x="6191250" y="324802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D2935"/>
                </a:solidFill>
                <a:latin typeface="Arial"/>
                <a:ea typeface="Arial"/>
                <a:cs typeface="Arial"/>
              </a:defRPr>
            </a:defPPr>
            <a:lvl1pPr algn="l">
              <a:defRPr sz="1875" b="1">
                <a:solidFill>
                  <a:srgbClr val="0D2935"/>
                </a:solidFill>
                <a:latin typeface="Arial"/>
                <a:ea typeface="Arial"/>
                <a:cs typeface="Arial"/>
              </a:defRPr>
            </a:lvl1pPr>
            <a:lvl2pPr algn="l">
              <a:defRPr sz="1875" b="1">
                <a:solidFill>
                  <a:srgbClr val="0D2935"/>
                </a:solidFill>
                <a:latin typeface="Arial"/>
                <a:ea typeface="Arial"/>
                <a:cs typeface="Arial"/>
              </a:defRPr>
            </a:lvl2pPr>
            <a:lvl3pPr algn="l">
              <a:defRPr sz="1875" b="1">
                <a:solidFill>
                  <a:srgbClr val="0D2935"/>
                </a:solidFill>
                <a:latin typeface="Arial"/>
                <a:ea typeface="Arial"/>
                <a:cs typeface="Arial"/>
              </a:defRPr>
            </a:lvl3pPr>
            <a:lvl4pPr algn="l">
              <a:defRPr sz="1875" b="1">
                <a:solidFill>
                  <a:srgbClr val="0D2935"/>
                </a:solidFill>
                <a:latin typeface="Arial"/>
                <a:ea typeface="Arial"/>
                <a:cs typeface="Arial"/>
              </a:defRPr>
            </a:lvl4pPr>
            <a:lvl5pPr algn="l">
              <a:defRPr sz="1875" b="1">
                <a:solidFill>
                  <a:srgbClr val="0D2935"/>
                </a:solidFill>
                <a:latin typeface="Arial"/>
                <a:ea typeface="Arial"/>
                <a:cs typeface="Arial"/>
              </a:defRPr>
            </a:lvl5pPr>
            <a:lvl6pPr algn="l">
              <a:defRPr sz="1875" b="1">
                <a:solidFill>
                  <a:srgbClr val="0D2935"/>
                </a:solidFill>
                <a:latin typeface="Arial"/>
                <a:ea typeface="Arial"/>
                <a:cs typeface="Arial"/>
              </a:defRPr>
            </a:lvl6pPr>
            <a:lvl7pPr algn="l">
              <a:defRPr sz="1875" b="1">
                <a:solidFill>
                  <a:srgbClr val="0D2935"/>
                </a:solidFill>
                <a:latin typeface="Arial"/>
                <a:ea typeface="Arial"/>
                <a:cs typeface="Arial"/>
              </a:defRPr>
            </a:lvl7pPr>
            <a:lvl8pPr algn="l">
              <a:defRPr sz="1875" b="1">
                <a:solidFill>
                  <a:srgbClr val="0D2935"/>
                </a:solidFill>
                <a:latin typeface="Arial"/>
                <a:ea typeface="Arial"/>
                <a:cs typeface="Arial"/>
              </a:defRPr>
            </a:lvl8pPr>
            <a:lvl9pPr algn="l">
              <a:defRPr sz="1875" b="1">
                <a:solidFill>
                  <a:srgbClr val="0D2935"/>
                </a:solidFill>
                <a:latin typeface="Arial"/>
                <a:ea typeface="Arial"/>
                <a:cs typeface="Arial"/>
              </a:defRPr>
            </a:lvl9pPr>
          </a:lstStyle>
          <a:p xmlns:a="http://schemas.openxmlformats.org/drawingml/2006/main">
            <a:pPr algn="l">
              <a:defRPr sz="1875" b="1">
                <a:solidFill>
                  <a:srgbClr val="0D2935"/>
                </a:solidFill>
                <a:latin typeface="Arial"/>
                <a:ea typeface="Arial"/>
                <a:cs typeface="Arial"/>
              </a:defRPr>
            </a:pPr>
            <a:r>
              <a:rPr sz="1875" b="1">
                <a:solidFill>
                  <a:srgbClr val="0D2935"/>
                </a:solidFill>
                <a:latin typeface="Arial"/>
                <a:ea typeface="Arial"/>
                <a:cs typeface="Arial"/>
              </a:rPr>
              <a:t>What it does not establish</a:t>
            </a:r>
          </a:p>
        </p:txBody>
      </p:sp>
      <p:sp>
        <p:nvSpPr>
          <p:cNvPr id="10" name="">
            <a:extLst xmlns:a="http://schemas.openxmlformats.org/drawingml/2006/main">
              <a:ext uri="{FF2B5EF4-FFF2-40B4-BE49-F238E27FC236}">
                <a16:creationId xmlns:a16="http://schemas.microsoft.com/office/drawing/2014/main" id="{38B494F0-CC4C-4E76-BA79-B69707849675}"/>
              </a:ext>
            </a:extLst>
          </p:cNvPr>
          <p:cNvSpPr>
            <a:spLocks xmlns:a="http://schemas.openxmlformats.org/drawingml/2006/main" noGrp="1"/>
          </p:cNvSpPr>
          <p:nvPr/>
        </p:nvSpPr>
        <p:spPr>
          <a:xfrm xmlns:a="http://schemas.openxmlformats.org/drawingml/2006/main">
            <a:off x="6191250" y="370522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26273"/>
                </a:solidFill>
                <a:latin typeface="Arial"/>
                <a:ea typeface="Arial"/>
                <a:cs typeface="Arial"/>
              </a:defRPr>
            </a:defPPr>
            <a:lvl1pPr algn="l">
              <a:defRPr sz="1725" b="0">
                <a:solidFill>
                  <a:srgbClr val="526273"/>
                </a:solidFill>
                <a:latin typeface="Arial"/>
                <a:ea typeface="Arial"/>
                <a:cs typeface="Arial"/>
              </a:defRPr>
            </a:lvl1pPr>
            <a:lvl2pPr algn="l">
              <a:defRPr sz="1725" b="0">
                <a:solidFill>
                  <a:srgbClr val="526273"/>
                </a:solidFill>
                <a:latin typeface="Arial"/>
                <a:ea typeface="Arial"/>
                <a:cs typeface="Arial"/>
              </a:defRPr>
            </a:lvl2pPr>
            <a:lvl3pPr algn="l">
              <a:defRPr sz="1725" b="0">
                <a:solidFill>
                  <a:srgbClr val="526273"/>
                </a:solidFill>
                <a:latin typeface="Arial"/>
                <a:ea typeface="Arial"/>
                <a:cs typeface="Arial"/>
              </a:defRPr>
            </a:lvl3pPr>
            <a:lvl4pPr algn="l">
              <a:defRPr sz="1725" b="0">
                <a:solidFill>
                  <a:srgbClr val="526273"/>
                </a:solidFill>
                <a:latin typeface="Arial"/>
                <a:ea typeface="Arial"/>
                <a:cs typeface="Arial"/>
              </a:defRPr>
            </a:lvl4pPr>
            <a:lvl5pPr algn="l">
              <a:defRPr sz="1725" b="0">
                <a:solidFill>
                  <a:srgbClr val="526273"/>
                </a:solidFill>
                <a:latin typeface="Arial"/>
                <a:ea typeface="Arial"/>
                <a:cs typeface="Arial"/>
              </a:defRPr>
            </a:lvl5pPr>
            <a:lvl6pPr algn="l">
              <a:defRPr sz="1725" b="0">
                <a:solidFill>
                  <a:srgbClr val="526273"/>
                </a:solidFill>
                <a:latin typeface="Arial"/>
                <a:ea typeface="Arial"/>
                <a:cs typeface="Arial"/>
              </a:defRPr>
            </a:lvl6pPr>
            <a:lvl7pPr algn="l">
              <a:defRPr sz="1725" b="0">
                <a:solidFill>
                  <a:srgbClr val="526273"/>
                </a:solidFill>
                <a:latin typeface="Arial"/>
                <a:ea typeface="Arial"/>
                <a:cs typeface="Arial"/>
              </a:defRPr>
            </a:lvl7pPr>
            <a:lvl8pPr algn="l">
              <a:defRPr sz="1725" b="0">
                <a:solidFill>
                  <a:srgbClr val="526273"/>
                </a:solidFill>
                <a:latin typeface="Arial"/>
                <a:ea typeface="Arial"/>
                <a:cs typeface="Arial"/>
              </a:defRPr>
            </a:lvl8pPr>
            <a:lvl9pPr algn="l">
              <a:defRPr sz="1725" b="0">
                <a:solidFill>
                  <a:srgbClr val="526273"/>
                </a:solidFill>
                <a:latin typeface="Arial"/>
                <a:ea typeface="Arial"/>
                <a:cs typeface="Arial"/>
              </a:defRPr>
            </a:lvl9pPr>
          </a:lstStyle>
          <a:p xmlns:a="http://schemas.openxmlformats.org/drawingml/2006/main">
            <a:pPr algn="l">
              <a:defRPr sz="1725" b="0">
                <a:solidFill>
                  <a:srgbClr val="526273"/>
                </a:solidFill>
                <a:latin typeface="Arial"/>
                <a:ea typeface="Arial"/>
                <a:cs typeface="Arial"/>
              </a:defRPr>
            </a:pPr>
            <a:r>
              <a:rPr sz="1725" b="0">
                <a:solidFill>
                  <a:srgbClr val="526273"/>
                </a:solidFill>
                <a:latin typeface="Arial"/>
                <a:ea typeface="Arial"/>
                <a:cs typeface="Arial"/>
              </a:rPr>
              <a:t>A complete GA result, runtime advantage, or performance on the paper’s instances.</a:t>
            </a:r>
          </a:p>
        </p:txBody>
      </p:sp>
      <p:sp>
        <p:nvSpPr>
          <p:cNvPr id="11" name="">
            <a:extLst xmlns:a="http://schemas.openxmlformats.org/drawingml/2006/main">
              <a:ext uri="{FF2B5EF4-FFF2-40B4-BE49-F238E27FC236}">
                <a16:creationId xmlns:a16="http://schemas.microsoft.com/office/drawing/2014/main" id="{8B9B12C1-590C-4C89-9EB5-6659314458CF}"/>
              </a:ext>
            </a:extLst>
          </p:cNvPr>
          <p:cNvSpPr>
            <a:spLocks xmlns:a="http://schemas.openxmlformats.org/drawingml/2006/main" noGrp="1"/>
          </p:cNvSpPr>
          <p:nvPr/>
        </p:nvSpPr>
        <p:spPr>
          <a:xfrm xmlns:a="http://schemas.openxmlformats.org/drawingml/2006/main">
            <a:off x="781050" y="49339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D2935"/>
                </a:solidFill>
                <a:latin typeface="Arial"/>
                <a:ea typeface="Arial"/>
                <a:cs typeface="Arial"/>
              </a:defRPr>
            </a:defPPr>
            <a:lvl1pPr algn="l">
              <a:defRPr sz="1650" b="1">
                <a:solidFill>
                  <a:srgbClr val="0D2935"/>
                </a:solidFill>
                <a:latin typeface="Arial"/>
                <a:ea typeface="Arial"/>
                <a:cs typeface="Arial"/>
              </a:defRPr>
            </a:lvl1pPr>
            <a:lvl2pPr algn="l">
              <a:defRPr sz="1650" b="1">
                <a:solidFill>
                  <a:srgbClr val="0D2935"/>
                </a:solidFill>
                <a:latin typeface="Arial"/>
                <a:ea typeface="Arial"/>
                <a:cs typeface="Arial"/>
              </a:defRPr>
            </a:lvl2pPr>
            <a:lvl3pPr algn="l">
              <a:defRPr sz="1650" b="1">
                <a:solidFill>
                  <a:srgbClr val="0D2935"/>
                </a:solidFill>
                <a:latin typeface="Arial"/>
                <a:ea typeface="Arial"/>
                <a:cs typeface="Arial"/>
              </a:defRPr>
            </a:lvl3pPr>
            <a:lvl4pPr algn="l">
              <a:defRPr sz="1650" b="1">
                <a:solidFill>
                  <a:srgbClr val="0D2935"/>
                </a:solidFill>
                <a:latin typeface="Arial"/>
                <a:ea typeface="Arial"/>
                <a:cs typeface="Arial"/>
              </a:defRPr>
            </a:lvl4pPr>
            <a:lvl5pPr algn="l">
              <a:defRPr sz="1650" b="1">
                <a:solidFill>
                  <a:srgbClr val="0D2935"/>
                </a:solidFill>
                <a:latin typeface="Arial"/>
                <a:ea typeface="Arial"/>
                <a:cs typeface="Arial"/>
              </a:defRPr>
            </a:lvl5pPr>
            <a:lvl6pPr algn="l">
              <a:defRPr sz="1650" b="1">
                <a:solidFill>
                  <a:srgbClr val="0D2935"/>
                </a:solidFill>
                <a:latin typeface="Arial"/>
                <a:ea typeface="Arial"/>
                <a:cs typeface="Arial"/>
              </a:defRPr>
            </a:lvl6pPr>
            <a:lvl7pPr algn="l">
              <a:defRPr sz="1650" b="1">
                <a:solidFill>
                  <a:srgbClr val="0D2935"/>
                </a:solidFill>
                <a:latin typeface="Arial"/>
                <a:ea typeface="Arial"/>
                <a:cs typeface="Arial"/>
              </a:defRPr>
            </a:lvl7pPr>
            <a:lvl8pPr algn="l">
              <a:defRPr sz="1650" b="1">
                <a:solidFill>
                  <a:srgbClr val="0D2935"/>
                </a:solidFill>
                <a:latin typeface="Arial"/>
                <a:ea typeface="Arial"/>
                <a:cs typeface="Arial"/>
              </a:defRPr>
            </a:lvl8pPr>
            <a:lvl9pPr algn="l">
              <a:defRPr sz="1650" b="1">
                <a:solidFill>
                  <a:srgbClr val="0D2935"/>
                </a:solidFill>
                <a:latin typeface="Arial"/>
                <a:ea typeface="Arial"/>
                <a:cs typeface="Arial"/>
              </a:defRPr>
            </a:lvl9pPr>
          </a:lstStyle>
          <a:p xmlns:a="http://schemas.openxmlformats.org/drawingml/2006/main">
            <a:pPr algn="l">
              <a:defRPr sz="1650" b="1">
                <a:solidFill>
                  <a:srgbClr val="0D2935"/>
                </a:solidFill>
                <a:latin typeface="Arial"/>
                <a:ea typeface="Arial"/>
                <a:cs typeface="Arial"/>
              </a:defRPr>
            </a:pPr>
            <a:r>
              <a:rPr sz="1650" b="1">
                <a:solidFill>
                  <a:srgbClr val="0D2935"/>
                </a:solidFill>
                <a:latin typeface="Arial"/>
                <a:ea typeface="Arial"/>
                <a:cs typeface="Arial"/>
              </a:rPr>
              <a:t>Presentation roles</a:t>
            </a:r>
          </a:p>
        </p:txBody>
      </p:sp>
      <p:sp>
        <p:nvSpPr>
          <p:cNvPr id="12" name="">
            <a:extLst xmlns:a="http://schemas.openxmlformats.org/drawingml/2006/main">
              <a:ext uri="{FF2B5EF4-FFF2-40B4-BE49-F238E27FC236}">
                <a16:creationId xmlns:a16="http://schemas.microsoft.com/office/drawing/2014/main" id="{83801B94-46CB-41CB-B561-D5BCE2ACC9C8}"/>
              </a:ext>
            </a:extLst>
          </p:cNvPr>
          <p:cNvSpPr>
            <a:spLocks xmlns:a="http://schemas.openxmlformats.org/drawingml/2006/main" noGrp="1"/>
          </p:cNvSpPr>
          <p:nvPr/>
        </p:nvSpPr>
        <p:spPr>
          <a:xfrm xmlns:a="http://schemas.openxmlformats.org/drawingml/2006/main">
            <a:off x="781050" y="5314950"/>
            <a:ext cx="10382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26273"/>
                </a:solidFill>
                <a:latin typeface="Arial"/>
                <a:ea typeface="Arial"/>
                <a:cs typeface="Arial"/>
              </a:defRPr>
            </a:defPPr>
            <a:lvl1pPr algn="l">
              <a:defRPr sz="1425" b="0">
                <a:solidFill>
                  <a:srgbClr val="526273"/>
                </a:solidFill>
                <a:latin typeface="Arial"/>
                <a:ea typeface="Arial"/>
                <a:cs typeface="Arial"/>
              </a:defRPr>
            </a:lvl1pPr>
            <a:lvl2pPr algn="l">
              <a:defRPr sz="1425" b="0">
                <a:solidFill>
                  <a:srgbClr val="526273"/>
                </a:solidFill>
                <a:latin typeface="Arial"/>
                <a:ea typeface="Arial"/>
                <a:cs typeface="Arial"/>
              </a:defRPr>
            </a:lvl2pPr>
            <a:lvl3pPr algn="l">
              <a:defRPr sz="1425" b="0">
                <a:solidFill>
                  <a:srgbClr val="526273"/>
                </a:solidFill>
                <a:latin typeface="Arial"/>
                <a:ea typeface="Arial"/>
                <a:cs typeface="Arial"/>
              </a:defRPr>
            </a:lvl3pPr>
            <a:lvl4pPr algn="l">
              <a:defRPr sz="1425" b="0">
                <a:solidFill>
                  <a:srgbClr val="526273"/>
                </a:solidFill>
                <a:latin typeface="Arial"/>
                <a:ea typeface="Arial"/>
                <a:cs typeface="Arial"/>
              </a:defRPr>
            </a:lvl4pPr>
            <a:lvl5pPr algn="l">
              <a:defRPr sz="1425" b="0">
                <a:solidFill>
                  <a:srgbClr val="526273"/>
                </a:solidFill>
                <a:latin typeface="Arial"/>
                <a:ea typeface="Arial"/>
                <a:cs typeface="Arial"/>
              </a:defRPr>
            </a:lvl5pPr>
            <a:lvl6pPr algn="l">
              <a:defRPr sz="1425" b="0">
                <a:solidFill>
                  <a:srgbClr val="526273"/>
                </a:solidFill>
                <a:latin typeface="Arial"/>
                <a:ea typeface="Arial"/>
                <a:cs typeface="Arial"/>
              </a:defRPr>
            </a:lvl6pPr>
            <a:lvl7pPr algn="l">
              <a:defRPr sz="1425" b="0">
                <a:solidFill>
                  <a:srgbClr val="526273"/>
                </a:solidFill>
                <a:latin typeface="Arial"/>
                <a:ea typeface="Arial"/>
                <a:cs typeface="Arial"/>
              </a:defRPr>
            </a:lvl7pPr>
            <a:lvl8pPr algn="l">
              <a:defRPr sz="1425" b="0">
                <a:solidFill>
                  <a:srgbClr val="526273"/>
                </a:solidFill>
                <a:latin typeface="Arial"/>
                <a:ea typeface="Arial"/>
                <a:cs typeface="Arial"/>
              </a:defRPr>
            </a:lvl8pPr>
            <a:lvl9pPr algn="l">
              <a:defRPr sz="1425" b="0">
                <a:solidFill>
                  <a:srgbClr val="526273"/>
                </a:solidFill>
                <a:latin typeface="Arial"/>
                <a:ea typeface="Arial"/>
                <a:cs typeface="Arial"/>
              </a:defRPr>
            </a:lvl9pPr>
          </a:lstStyle>
          <a:p xmlns:a="http://schemas.openxmlformats.org/drawingml/2006/main">
            <a:pPr algn="l">
              <a:defRPr sz="1425" b="0">
                <a:solidFill>
                  <a:srgbClr val="526273"/>
                </a:solidFill>
                <a:latin typeface="Arial"/>
                <a:ea typeface="Arial"/>
                <a:cs typeface="Arial"/>
              </a:defRPr>
            </a:pPr>
            <a:r>
              <a:rPr sz="1425" b="0">
                <a:solidFill>
                  <a:srgbClr val="526273"/>
                </a:solidFill>
                <a:latin typeface="Arial"/>
                <a:ea typeface="Arial"/>
                <a:cs typeface="Arial"/>
              </a:rPr>
              <a:t>Student 1: context and data   ·   Student 2: validation and models</a:t>
            </a:r>
          </a:p>
          <a:p xmlns:a="http://schemas.openxmlformats.org/drawingml/2006/main">
            <a:pPr algn="l">
              <a:defRPr sz="1425" b="0">
                <a:solidFill>
                  <a:srgbClr val="526273"/>
                </a:solidFill>
                <a:latin typeface="Arial"/>
                <a:ea typeface="Arial"/>
                <a:cs typeface="Arial"/>
              </a:defRPr>
            </a:pPr>
            <a:r>
              <a:rPr sz="1425" b="0">
                <a:solidFill>
                  <a:srgbClr val="526273"/>
                </a:solidFill>
                <a:latin typeface="Arial"/>
                <a:ea typeface="Arial"/>
                <a:cs typeface="Arial"/>
              </a:rPr>
              <a:t>Student 3: selection comparison   ·   Student 4: conclusion and questions</a:t>
            </a:r>
          </a:p>
        </p:txBody>
      </p:sp>
      <p:sp>
        <p:nvSpPr>
          <p:cNvPr id="13" name="">
            <a:extLst xmlns:a="http://schemas.openxmlformats.org/drawingml/2006/main">
              <a:ext uri="{FF2B5EF4-FFF2-40B4-BE49-F238E27FC236}">
                <a16:creationId xmlns:a16="http://schemas.microsoft.com/office/drawing/2014/main" id="{9BC90692-C489-4609-A282-E1D026B0C015}"/>
              </a:ext>
            </a:extLst>
          </p:cNvPr>
          <p:cNvSpPr>
            <a:spLocks xmlns:a="http://schemas.openxmlformats.org/drawingml/2006/main" noGrp="1"/>
          </p:cNvSpPr>
          <p:nvPr/>
        </p:nvSpPr>
        <p:spPr>
          <a:xfrm xmlns:a="http://schemas.openxmlformats.org/drawingml/2006/main">
            <a:off x="781050" y="6029325"/>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CC6842"/>
                </a:solidFill>
                <a:latin typeface="Arial"/>
                <a:ea typeface="Arial"/>
                <a:cs typeface="Arial"/>
              </a:defRPr>
            </a:defPPr>
            <a:lvl1pPr algn="l">
              <a:defRPr sz="1800" b="1">
                <a:solidFill>
                  <a:srgbClr val="CC6842"/>
                </a:solidFill>
                <a:latin typeface="Arial"/>
                <a:ea typeface="Arial"/>
                <a:cs typeface="Arial"/>
              </a:defRPr>
            </a:lvl1pPr>
            <a:lvl2pPr algn="l">
              <a:defRPr sz="1800" b="1">
                <a:solidFill>
                  <a:srgbClr val="CC6842"/>
                </a:solidFill>
                <a:latin typeface="Arial"/>
                <a:ea typeface="Arial"/>
                <a:cs typeface="Arial"/>
              </a:defRPr>
            </a:lvl2pPr>
            <a:lvl3pPr algn="l">
              <a:defRPr sz="1800" b="1">
                <a:solidFill>
                  <a:srgbClr val="CC6842"/>
                </a:solidFill>
                <a:latin typeface="Arial"/>
                <a:ea typeface="Arial"/>
                <a:cs typeface="Arial"/>
              </a:defRPr>
            </a:lvl3pPr>
            <a:lvl4pPr algn="l">
              <a:defRPr sz="1800" b="1">
                <a:solidFill>
                  <a:srgbClr val="CC6842"/>
                </a:solidFill>
                <a:latin typeface="Arial"/>
                <a:ea typeface="Arial"/>
                <a:cs typeface="Arial"/>
              </a:defRPr>
            </a:lvl4pPr>
            <a:lvl5pPr algn="l">
              <a:defRPr sz="1800" b="1">
                <a:solidFill>
                  <a:srgbClr val="CC6842"/>
                </a:solidFill>
                <a:latin typeface="Arial"/>
                <a:ea typeface="Arial"/>
                <a:cs typeface="Arial"/>
              </a:defRPr>
            </a:lvl5pPr>
            <a:lvl6pPr algn="l">
              <a:defRPr sz="1800" b="1">
                <a:solidFill>
                  <a:srgbClr val="CC6842"/>
                </a:solidFill>
                <a:latin typeface="Arial"/>
                <a:ea typeface="Arial"/>
                <a:cs typeface="Arial"/>
              </a:defRPr>
            </a:lvl6pPr>
            <a:lvl7pPr algn="l">
              <a:defRPr sz="1800" b="1">
                <a:solidFill>
                  <a:srgbClr val="CC6842"/>
                </a:solidFill>
                <a:latin typeface="Arial"/>
                <a:ea typeface="Arial"/>
                <a:cs typeface="Arial"/>
              </a:defRPr>
            </a:lvl7pPr>
            <a:lvl8pPr algn="l">
              <a:defRPr sz="1800" b="1">
                <a:solidFill>
                  <a:srgbClr val="CC6842"/>
                </a:solidFill>
                <a:latin typeface="Arial"/>
                <a:ea typeface="Arial"/>
                <a:cs typeface="Arial"/>
              </a:defRPr>
            </a:lvl8pPr>
            <a:lvl9pPr algn="l">
              <a:defRPr sz="1800" b="1">
                <a:solidFill>
                  <a:srgbClr val="CC6842"/>
                </a:solidFill>
                <a:latin typeface="Arial"/>
                <a:ea typeface="Arial"/>
                <a:cs typeface="Arial"/>
              </a:defRPr>
            </a:lvl9pPr>
          </a:lstStyle>
          <a:p xmlns:a="http://schemas.openxmlformats.org/drawingml/2006/main">
            <a:pPr algn="l">
              <a:defRPr sz="1800" b="1">
                <a:solidFill>
                  <a:srgbClr val="CC6842"/>
                </a:solidFill>
                <a:latin typeface="Arial"/>
                <a:ea typeface="Arial"/>
                <a:cs typeface="Arial"/>
              </a:defRPr>
            </a:pPr>
            <a:r>
              <a:rPr sz="1800" b="1">
                <a:solidFill>
                  <a:srgbClr val="CC6842"/>
                </a:solidFill>
                <a:latin typeface="Arial"/>
                <a:ea typeface="Arial"/>
                <a:cs typeface="Arial"/>
              </a:rPr>
              <a:t>Questions</a:t>
            </a:r>
          </a:p>
        </p:txBody>
      </p:sp>
    </p:spTree>
    <p:extLst>
      <p:ext uri="{BB962C8B-B14F-4D97-AF65-F5344CB8AC3E}">
        <p14:creationId xmlns:p14="http://schemas.microsoft.com/office/powerpoint/2010/main" val="743049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2026-10-28T09:36:26.5060000Z</dcterms:created>
  <dcterms:modified xsi:type="dcterms:W3CDTF">2026-10-28T09:36:26.5060000Z</dcterms:modified>
</coreProperties>
</file>